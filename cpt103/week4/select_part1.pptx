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256" r:id="rId2"/>
    <p:sldId id="260" r:id="rId3"/>
    <p:sldId id="313" r:id="rId4"/>
    <p:sldId id="261" r:id="rId5"/>
    <p:sldId id="322" r:id="rId6"/>
    <p:sldId id="263" r:id="rId7"/>
    <p:sldId id="327" r:id="rId8"/>
    <p:sldId id="324" r:id="rId9"/>
    <p:sldId id="264" r:id="rId10"/>
    <p:sldId id="265" r:id="rId11"/>
    <p:sldId id="326" r:id="rId12"/>
    <p:sldId id="267" r:id="rId13"/>
    <p:sldId id="314" r:id="rId14"/>
    <p:sldId id="316" r:id="rId15"/>
    <p:sldId id="317" r:id="rId16"/>
    <p:sldId id="318" r:id="rId17"/>
    <p:sldId id="319" r:id="rId18"/>
    <p:sldId id="320" r:id="rId19"/>
    <p:sldId id="321" r:id="rId20"/>
    <p:sldId id="325" r:id="rId21"/>
    <p:sldId id="334" r:id="rId22"/>
    <p:sldId id="328" r:id="rId23"/>
    <p:sldId id="268" r:id="rId24"/>
    <p:sldId id="333" r:id="rId25"/>
    <p:sldId id="331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2" r:id="rId39"/>
    <p:sldId id="283" r:id="rId40"/>
    <p:sldId id="284" r:id="rId41"/>
    <p:sldId id="285" r:id="rId42"/>
    <p:sldId id="286" r:id="rId43"/>
    <p:sldId id="287" r:id="rId44"/>
    <p:sldId id="329" r:id="rId45"/>
    <p:sldId id="288" r:id="rId46"/>
    <p:sldId id="330" r:id="rId47"/>
    <p:sldId id="332" r:id="rId48"/>
    <p:sldId id="290" r:id="rId49"/>
    <p:sldId id="291" r:id="rId50"/>
    <p:sldId id="292" r:id="rId51"/>
    <p:sldId id="293" r:id="rId52"/>
    <p:sldId id="294" r:id="rId53"/>
    <p:sldId id="296" r:id="rId54"/>
    <p:sldId id="297" r:id="rId55"/>
    <p:sldId id="300" r:id="rId56"/>
    <p:sldId id="301" r:id="rId57"/>
    <p:sldId id="303" r:id="rId58"/>
    <p:sldId id="304" r:id="rId59"/>
  </p:sldIdLst>
  <p:sldSz cx="9144000" cy="6858000" type="screen4x3"/>
  <p:notesSz cx="10233025" cy="71024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52DA6FE-9BE0-4F92-8976-C03022C695AA}">
          <p14:sldIdLst>
            <p14:sldId id="256"/>
            <p14:sldId id="260"/>
            <p14:sldId id="313"/>
          </p14:sldIdLst>
        </p14:section>
        <p14:section name="filtering rows and columns" id="{5EB0B681-A0B8-45F3-9AF4-5B8064767010}">
          <p14:sldIdLst>
            <p14:sldId id="261"/>
            <p14:sldId id="322"/>
            <p14:sldId id="263"/>
            <p14:sldId id="327"/>
            <p14:sldId id="324"/>
            <p14:sldId id="264"/>
            <p14:sldId id="265"/>
            <p14:sldId id="326"/>
            <p14:sldId id="267"/>
            <p14:sldId id="314"/>
            <p14:sldId id="316"/>
            <p14:sldId id="317"/>
            <p14:sldId id="318"/>
            <p14:sldId id="319"/>
            <p14:sldId id="320"/>
            <p14:sldId id="321"/>
            <p14:sldId id="325"/>
            <p14:sldId id="334"/>
          </p14:sldIdLst>
        </p14:section>
        <p14:section name="Cartisian Product" id="{06A03345-CCA1-4CE1-8416-C140E0F40CF1}">
          <p14:sldIdLst>
            <p14:sldId id="328"/>
            <p14:sldId id="268"/>
            <p14:sldId id="333"/>
            <p14:sldId id="331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Subqueries" id="{76B10C59-EB8C-CC4D-B93A-649FE0E068C4}">
          <p14:sldIdLst>
            <p14:sldId id="329"/>
            <p14:sldId id="288"/>
            <p14:sldId id="330"/>
            <p14:sldId id="332"/>
            <p14:sldId id="290"/>
            <p14:sldId id="291"/>
            <p14:sldId id="292"/>
            <p14:sldId id="293"/>
            <p14:sldId id="294"/>
            <p14:sldId id="296"/>
            <p14:sldId id="297"/>
            <p14:sldId id="300"/>
            <p14:sldId id="301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anjian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87123" autoAdjust="0"/>
  </p:normalViewPr>
  <p:slideViewPr>
    <p:cSldViewPr snapToGrid="0">
      <p:cViewPr varScale="1">
        <p:scale>
          <a:sx n="100" d="100"/>
          <a:sy n="100" d="100"/>
        </p:scale>
        <p:origin x="195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4434921" cy="355895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5821" y="3"/>
            <a:ext cx="4434921" cy="355895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r">
              <a:defRPr sz="1200"/>
            </a:lvl1pPr>
          </a:lstStyle>
          <a:p>
            <a:fld id="{BD7CC444-6ED2-4949-B548-9586BDCF4C9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6746581"/>
            <a:ext cx="4434921" cy="355895"/>
          </a:xfrm>
          <a:prstGeom prst="rect">
            <a:avLst/>
          </a:prstGeom>
        </p:spPr>
        <p:txBody>
          <a:bodyPr vert="horz" lIns="91429" tIns="45715" rIns="91429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5821" y="6746581"/>
            <a:ext cx="4434921" cy="355895"/>
          </a:xfrm>
          <a:prstGeom prst="rect">
            <a:avLst/>
          </a:prstGeom>
        </p:spPr>
        <p:txBody>
          <a:bodyPr vert="horz" lIns="91429" tIns="45715" rIns="91429" bIns="45715" rtlCol="0" anchor="b"/>
          <a:lstStyle>
            <a:lvl1pPr algn="r">
              <a:defRPr sz="1200"/>
            </a:lvl1pPr>
          </a:lstStyle>
          <a:p>
            <a:fld id="{EC5A55D1-32BE-430B-9850-AB7858DA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32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434311" cy="356357"/>
          </a:xfrm>
          <a:prstGeom prst="rect">
            <a:avLst/>
          </a:prstGeom>
        </p:spPr>
        <p:txBody>
          <a:bodyPr vert="horz" lIns="99046" tIns="49522" rIns="99046" bIns="49522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6348" y="1"/>
            <a:ext cx="4434311" cy="356357"/>
          </a:xfrm>
          <a:prstGeom prst="rect">
            <a:avLst/>
          </a:prstGeom>
        </p:spPr>
        <p:txBody>
          <a:bodyPr vert="horz" lIns="99046" tIns="49522" rIns="99046" bIns="49522" rtlCol="0"/>
          <a:lstStyle>
            <a:lvl1pPr algn="r">
              <a:defRPr sz="1300"/>
            </a:lvl1pPr>
          </a:lstStyle>
          <a:p>
            <a:fld id="{8FD2CD33-3AB7-4BBC-9B21-89662B35BA11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6" tIns="49522" rIns="99046" bIns="49522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3303" y="3418066"/>
            <a:ext cx="8186420" cy="2796600"/>
          </a:xfrm>
          <a:prstGeom prst="rect">
            <a:avLst/>
          </a:prstGeom>
        </p:spPr>
        <p:txBody>
          <a:bodyPr vert="horz" lIns="99046" tIns="49522" rIns="99046" bIns="49522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6746121"/>
            <a:ext cx="4434311" cy="356356"/>
          </a:xfrm>
          <a:prstGeom prst="rect">
            <a:avLst/>
          </a:prstGeom>
        </p:spPr>
        <p:txBody>
          <a:bodyPr vert="horz" lIns="99046" tIns="49522" rIns="99046" bIns="49522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6348" y="6746121"/>
            <a:ext cx="4434311" cy="356356"/>
          </a:xfrm>
          <a:prstGeom prst="rect">
            <a:avLst/>
          </a:prstGeom>
        </p:spPr>
        <p:txBody>
          <a:bodyPr vert="horz" lIns="99046" tIns="49522" rIns="99046" bIns="49522" rtlCol="0" anchor="b"/>
          <a:lstStyle>
            <a:lvl1pPr algn="r">
              <a:defRPr sz="1300"/>
            </a:lvl1pPr>
          </a:lstStyle>
          <a:p>
            <a:fld id="{254491D5-423E-4AE1-B476-37CE3C66BAC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491D5-423E-4AE1-B476-37CE3C66BAC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473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57073-A8BA-402F-AC99-C6974725005F}" type="slidenum">
              <a:rPr lang="en-GB" smtClean="0"/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SELECT </a:t>
            </a:r>
            <a:r>
              <a:rPr lang="en-US" altLang="zh-CN" dirty="0" err="1" smtClean="0"/>
              <a:t>student_id</a:t>
            </a:r>
            <a:r>
              <a:rPr lang="en-US" altLang="zh-CN" dirty="0" smtClean="0"/>
              <a:t> FROM students WHERE module = 'IAI'</a:t>
            </a:r>
          </a:p>
          <a:p>
            <a:r>
              <a:rPr lang="en-US" altLang="zh-CN" dirty="0" smtClean="0"/>
              <a:t>UNION</a:t>
            </a:r>
          </a:p>
          <a:p>
            <a:r>
              <a:rPr lang="en-US" altLang="zh-CN" dirty="0" smtClean="0"/>
              <a:t>SELECT </a:t>
            </a:r>
            <a:r>
              <a:rPr lang="en-US" altLang="zh-CN" dirty="0" err="1" smtClean="0"/>
              <a:t>student_id</a:t>
            </a:r>
            <a:r>
              <a:rPr lang="en-US" altLang="zh-CN" dirty="0" smtClean="0"/>
              <a:t> FROM students WHERE module = 'PR2';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491D5-423E-4AE1-B476-37CE3C66BAC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004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491D5-423E-4AE1-B476-37CE3C66BAC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585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 smtClean="0"/>
              <a:t>Check:</a:t>
            </a:r>
            <a:r>
              <a:rPr lang="en-US" altLang="zh-CN" baseline="0" dirty="0" smtClean="0"/>
              <a:t> </a:t>
            </a:r>
            <a:r>
              <a:rPr lang="en-US" altLang="zh-CN" sz="1200" b="1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US" altLang="zh-CN" sz="1200" dirty="0" err="1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Track_title</a:t>
            </a:r>
            <a:r>
              <a:rPr lang="en-US" altLang="zh-CN" sz="1200" b="1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FROM </a:t>
            </a:r>
            <a:r>
              <a:rPr lang="en-US" altLang="zh-CN" sz="1200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Track</a:t>
            </a:r>
            <a:r>
              <a:rPr lang="en-US" altLang="zh-CN" sz="1200" b="1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WHERE</a:t>
            </a:r>
          </a:p>
          <a:p>
            <a:pPr lvl="0"/>
            <a:r>
              <a:rPr lang="en-US" altLang="zh-CN" sz="1200" b="1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</a:t>
            </a:r>
            <a:r>
              <a:rPr lang="en-US" altLang="zh-CN" sz="1200" dirty="0" err="1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Track_title</a:t>
            </a:r>
            <a:r>
              <a:rPr lang="en-US" altLang="zh-CN" sz="1200" b="1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LIKE </a:t>
            </a:r>
            <a:r>
              <a:rPr lang="en-US" altLang="zh-CN" sz="1200" dirty="0" smtClean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zh-CN" sz="1200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%boy%</a:t>
            </a:r>
            <a:r>
              <a:rPr lang="en-US" altLang="zh-CN" sz="1200" dirty="0" smtClean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zh-CN" sz="1200" b="1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lvl="0"/>
            <a:r>
              <a:rPr lang="en-US" altLang="zh-CN" sz="1200" b="1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OR </a:t>
            </a:r>
            <a:r>
              <a:rPr lang="en-US" altLang="zh-CN" sz="1200" dirty="0" smtClean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zh-CN" sz="1200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%girl%</a:t>
            </a:r>
            <a:r>
              <a:rPr lang="en-US" altLang="zh-CN" sz="1200" dirty="0" smtClean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zh-CN" sz="1200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491D5-423E-4AE1-B476-37CE3C66BAC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818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0 (false)</a:t>
            </a:r>
          </a:p>
          <a:p>
            <a:pPr marL="228600" indent="-228600">
              <a:buAutoNum type="arabicPeriod"/>
            </a:pPr>
            <a:r>
              <a:rPr lang="en-US" dirty="0"/>
              <a:t>0 (false)</a:t>
            </a:r>
          </a:p>
          <a:p>
            <a:pPr marL="228600" indent="-228600">
              <a:buAutoNum type="arabicPeriod"/>
            </a:pPr>
            <a:r>
              <a:rPr lang="en-US" dirty="0"/>
              <a:t>1 (true</a:t>
            </a:r>
            <a:r>
              <a:rPr lang="en-US" dirty="0" smtClean="0"/>
              <a:t>) </a:t>
            </a:r>
            <a:r>
              <a:rPr lang="en-US" altLang="zh-CN" dirty="0" smtClean="0"/>
              <a:t>non-zero numbers (like 12) are considered True, so this part evaluates to True.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0 (false)</a:t>
            </a:r>
          </a:p>
          <a:p>
            <a:pPr marL="228600" indent="-228600">
              <a:buAutoNum type="arabicPeriod"/>
            </a:pPr>
            <a:r>
              <a:rPr lang="en-US" dirty="0"/>
              <a:t>19 (true)</a:t>
            </a:r>
          </a:p>
          <a:p>
            <a:pPr marL="228600" indent="-228600">
              <a:buAutoNum type="arabicPeriod"/>
            </a:pPr>
            <a:r>
              <a:rPr lang="en-US" dirty="0"/>
              <a:t>2 (true)</a:t>
            </a:r>
          </a:p>
          <a:p>
            <a:pPr marL="228600" indent="-228600">
              <a:buAutoNum type="arabicPeriod"/>
            </a:pPr>
            <a:r>
              <a:rPr lang="en-US" dirty="0"/>
              <a:t>2 (true)</a:t>
            </a:r>
          </a:p>
          <a:p>
            <a:pPr marL="228600" indent="-228600">
              <a:buAutoNum type="arabicPeriod"/>
            </a:pPr>
            <a:r>
              <a:rPr lang="en-US" dirty="0"/>
              <a:t>1 (true)</a:t>
            </a:r>
          </a:p>
          <a:p>
            <a:pPr marL="228600" indent="-228600">
              <a:buAutoNum type="arabicPeriod"/>
            </a:pPr>
            <a:r>
              <a:rPr lang="en-US" dirty="0"/>
              <a:t>0 (false)</a:t>
            </a:r>
          </a:p>
          <a:p>
            <a:pPr marL="228600" indent="-228600">
              <a:buAutoNum type="arabicPeriod"/>
            </a:pPr>
            <a:r>
              <a:rPr lang="en-US" dirty="0"/>
              <a:t>1 (true)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491D5-423E-4AE1-B476-37CE3C66BAC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162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In SQL, the Cartesian product is achieved using a CROSS JOIN. When you perform a CROSS JOIN between two tables, it returns the Cartesian product of the two, which means it pairs every row from the first table with every row from the second table; You can also achieve the same result by simply selecting from multiple tables without an explicit join condition: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491D5-423E-4AE1-B476-37CE3C66BAC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109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491D5-423E-4AE1-B476-37CE3C66BAC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234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Question: </a:t>
            </a:r>
          </a:p>
          <a:p>
            <a:r>
              <a:rPr lang="en-GB" dirty="0"/>
              <a:t>Since the where clause is the second step, can you use </a:t>
            </a:r>
            <a:r>
              <a:rPr lang="en-GB" dirty="0" err="1"/>
              <a:t>empID</a:t>
            </a:r>
            <a:r>
              <a:rPr lang="en-GB" dirty="0"/>
              <a:t> in the where clause?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57073-A8BA-402F-AC99-C6974725005F}" type="slidenum">
              <a:rPr lang="en-GB" smtClean="0"/>
              <a:t>37</a:t>
            </a:fld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491D5-423E-4AE1-B476-37CE3C66BAC6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270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the subquery for each employee returns a </a:t>
            </a:r>
            <a:r>
              <a:rPr lang="en-US" altLang="zh-CN" dirty="0" err="1" smtClean="0"/>
              <a:t>boolean</a:t>
            </a:r>
            <a:r>
              <a:rPr lang="en-US" altLang="zh-CN" dirty="0" smtClean="0"/>
              <a:t> result (True or False), indicating whether that employee manages at least one other employee. The final result only includes employees who are managers.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491D5-423E-4AE1-B476-37CE3C66BAC6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09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L3: </a:t>
            </a:r>
            <a:r>
              <a:rPr lang="en-US" altLang="en-GB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E559F-B509-417A-952F-FE801FDFF67A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2250" y="113571"/>
            <a:ext cx="3619500" cy="733425"/>
          </a:xfrm>
          <a:prstGeom prst="rect">
            <a:avLst/>
          </a:prstGeom>
        </p:spPr>
      </p:pic>
      <p:pic>
        <p:nvPicPr>
          <p:cNvPr id="8" name="图片 6">
            <a:extLst>
              <a:ext uri="{FF2B5EF4-FFF2-40B4-BE49-F238E27FC236}">
                <a16:creationId xmlns:a16="http://schemas.microsoft.com/office/drawing/2014/main" id="{9AA297F9-0E37-BEF2-836C-D4DB65E831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4853" y="6396113"/>
            <a:ext cx="1409457" cy="28560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0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61872"/>
            <a:ext cx="7886700" cy="491509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4853" y="6396113"/>
            <a:ext cx="1409457" cy="28560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4853" y="6396113"/>
            <a:ext cx="1409457" cy="28560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0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264514"/>
            <a:ext cx="3886200" cy="4912449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4514"/>
            <a:ext cx="3886200" cy="4912449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4853" y="6396113"/>
            <a:ext cx="1409457" cy="28560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720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51814"/>
            <a:ext cx="3868340" cy="69698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988562"/>
            <a:ext cx="3868340" cy="42011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6767" y="1251814"/>
            <a:ext cx="3887391" cy="69698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988562"/>
            <a:ext cx="3887391" cy="42011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4853" y="6396113"/>
            <a:ext cx="1409457" cy="28560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0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4853" y="6396113"/>
            <a:ext cx="1409457" cy="28560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4853" y="6396113"/>
            <a:ext cx="1409457" cy="28560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4853" y="6396113"/>
            <a:ext cx="1409457" cy="28560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4853" y="6396113"/>
            <a:ext cx="1409457" cy="28560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20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124889"/>
            <a:ext cx="7886700" cy="50520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4853" y="6396113"/>
            <a:ext cx="1409457" cy="28560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4853" y="6396113"/>
            <a:ext cx="1409457" cy="28560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L3: SQL Select (Part1)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006E8-1235-4E0F-9686-F62A88C7645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19A25E9-BC3E-55C2-E14E-BC4AF3F453B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814853" y="6396113"/>
            <a:ext cx="1409457" cy="28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mysql.com/doc/refman/8.0/en/expressions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GB" dirty="0"/>
              <a:t>SQL Select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GB" dirty="0" smtClean="0"/>
          </a:p>
          <a:p>
            <a:r>
              <a:rPr lang="en-US" altLang="en-GB" dirty="0" smtClean="0"/>
              <a:t>Y</a:t>
            </a:r>
            <a:r>
              <a:rPr lang="en-US" altLang="zh-CN" dirty="0" smtClean="0"/>
              <a:t>u Liu </a:t>
            </a:r>
            <a:r>
              <a:rPr lang="en-US" altLang="en-GB" dirty="0" smtClean="0"/>
              <a:t>(Yu.Liu02@xjtlu.edu.cn</a:t>
            </a:r>
            <a:r>
              <a:rPr lang="en-US" altLang="en-GB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E559F-B509-417A-952F-FE801FDFF67A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SELECT: Overview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dirty="0"/>
              <a:t>The select statement is designed to allow database clients to look up data from tables.</a:t>
            </a:r>
          </a:p>
          <a:p>
            <a:pPr lvl="3">
              <a:spcBef>
                <a:spcPts val="0"/>
              </a:spcBef>
            </a:pPr>
            <a:endParaRPr lang="en-US" dirty="0"/>
          </a:p>
          <a:p>
            <a:pPr lvl="0">
              <a:spcBef>
                <a:spcPts val="0"/>
              </a:spcBef>
            </a:pPr>
            <a:r>
              <a:rPr lang="en-US" dirty="0"/>
              <a:t>Many </a:t>
            </a:r>
            <a:r>
              <a:rPr lang="en-US" dirty="0" err="1"/>
              <a:t>behaviours</a:t>
            </a:r>
            <a:r>
              <a:rPr lang="en-US" dirty="0"/>
              <a:t> of SELECT can be described using arrays and loops in C/Java.</a:t>
            </a:r>
          </a:p>
          <a:p>
            <a:pPr lvl="1"/>
            <a:r>
              <a:rPr lang="en-US" dirty="0"/>
              <a:t>Database is simply a more sophisticated program</a:t>
            </a:r>
          </a:p>
          <a:p>
            <a:pPr lvl="0"/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558290" y="3648075"/>
            <a:ext cx="6027420" cy="230695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sp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[DISTINCT | ALL]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column-list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FROM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table-names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0" lvl="0" indent="45720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[WHERE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condition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] </a:t>
            </a:r>
          </a:p>
          <a:p>
            <a:pPr marL="0" lvl="0" indent="45720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[ORDER BY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column-list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] </a:t>
            </a:r>
          </a:p>
          <a:p>
            <a:pPr marL="0" lvl="0" indent="45720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[GROUP BY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column-list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] </a:t>
            </a:r>
          </a:p>
          <a:p>
            <a:pPr marL="0" lvl="0" indent="45720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[HAVING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condition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]</a:t>
            </a:r>
            <a:endParaRPr lang="en-US" altLang="en-US" sz="24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7" name="Left Brace 6"/>
          <p:cNvSpPr/>
          <p:nvPr/>
        </p:nvSpPr>
        <p:spPr>
          <a:xfrm>
            <a:off x="1349035" y="3812146"/>
            <a:ext cx="244699" cy="85000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73738" y="4052483"/>
            <a:ext cx="127169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This lecture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r>
              <a:rPr lang="en-US" altLang="zh-CN" dirty="0"/>
              <a:t>Filtering rows and columns.</a:t>
            </a:r>
          </a:p>
          <a:p>
            <a:pPr lvl="1"/>
            <a:r>
              <a:rPr lang="en-US" altLang="zh-CN" dirty="0"/>
              <a:t>The where clause</a:t>
            </a:r>
          </a:p>
          <a:p>
            <a:pPr lvl="2"/>
            <a:endParaRPr lang="en-US" altLang="zh-CN" dirty="0"/>
          </a:p>
          <a:p>
            <a:pPr lvl="0"/>
            <a:r>
              <a:rPr lang="en-US" altLang="zh-CN" dirty="0" smtClean="0"/>
              <a:t>Cartesian </a:t>
            </a:r>
            <a:r>
              <a:rPr lang="en-US" altLang="zh-CN" dirty="0"/>
              <a:t>product</a:t>
            </a:r>
          </a:p>
          <a:p>
            <a:pPr lvl="1"/>
            <a:r>
              <a:rPr lang="en-US" altLang="zh-CN" dirty="0"/>
              <a:t>Alias</a:t>
            </a:r>
            <a:endParaRPr lang="en-US" altLang="zh-CN" sz="1665" dirty="0"/>
          </a:p>
          <a:p>
            <a:pPr lvl="1"/>
            <a:r>
              <a:rPr lang="en-US" altLang="zh-CN" sz="2000" dirty="0"/>
              <a:t>Self-join</a:t>
            </a:r>
          </a:p>
          <a:p>
            <a:pPr lvl="2"/>
            <a:endParaRPr lang="en-US" altLang="zh-CN" sz="1600" dirty="0"/>
          </a:p>
          <a:p>
            <a:pPr lvl="0"/>
            <a:r>
              <a:rPr lang="en-US" altLang="zh-CN" sz="2400" dirty="0"/>
              <a:t>Subqueries</a:t>
            </a:r>
            <a:endParaRPr lang="en-US" altLang="zh-CN" dirty="0"/>
          </a:p>
          <a:p>
            <a:pPr lvl="1"/>
            <a:r>
              <a:rPr lang="en-US" altLang="zh-CN" dirty="0"/>
              <a:t>Handling set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SEL-1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Google Shape;86;p16" descr="Screen Shot 2016-02-23 at 17.51.26.png"/>
          <p:cNvPicPr preferRelativeResize="0"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132" y="1234165"/>
            <a:ext cx="6044576" cy="43513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42" y="3747753"/>
            <a:ext cx="3290951" cy="2527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SELECT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In its most basic form, SELECT is able to fetch the columns and rows of a table.</a:t>
            </a:r>
          </a:p>
          <a:p>
            <a:r>
              <a:rPr lang="en-US" altLang="zh-CN" dirty="0"/>
              <a:t>To filter columns of a table:</a:t>
            </a:r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r>
              <a:rPr lang="en-US" altLang="zh-CN" dirty="0"/>
              <a:t>Example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SEL-1</a:t>
            </a:r>
            <a:r>
              <a:rPr lang="en-US" altLang="zh-CN" dirty="0"/>
              <a:t>: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88720" y="2449445"/>
            <a:ext cx="6766560" cy="4603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spAutoFit/>
          </a:bodyPr>
          <a:lstStyle/>
          <a:p>
            <a:pPr marL="0" indent="0">
              <a:buNone/>
            </a:pP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col1[,col2…]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table-name;</a:t>
            </a:r>
            <a:endParaRPr lang="en-GB" altLang="en-US" sz="2400" dirty="0">
              <a:latin typeface="Courier New" panose="02070309020205020404" pitchFamily="49" charset="0"/>
              <a:cs typeface="Courier New" panose="02070309020205020404" pitchFamily="49" charset="0"/>
              <a:sym typeface="+mn-ea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428" y="3683358"/>
            <a:ext cx="2202896" cy="2527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Right Arrow 10"/>
          <p:cNvSpPr/>
          <p:nvPr/>
        </p:nvSpPr>
        <p:spPr>
          <a:xfrm>
            <a:off x="3811538" y="4658447"/>
            <a:ext cx="2098542" cy="3610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2558561" y="5281922"/>
            <a:ext cx="4097215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id,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from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grade;</a:t>
            </a:r>
            <a:endParaRPr lang="en-US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DISTINCT and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49" y="1264514"/>
            <a:ext cx="4638809" cy="4912449"/>
          </a:xfrm>
        </p:spPr>
        <p:txBody>
          <a:bodyPr>
            <a:normAutofit/>
          </a:bodyPr>
          <a:lstStyle/>
          <a:p>
            <a:r>
              <a:rPr lang="en-US" sz="2400" dirty="0"/>
              <a:t>By default, select keeps duplicate tuples.</a:t>
            </a:r>
          </a:p>
          <a:p>
            <a:pPr lvl="3"/>
            <a:endParaRPr lang="en-US" dirty="0"/>
          </a:p>
          <a:p>
            <a:r>
              <a:rPr lang="en-US" dirty="0"/>
              <a:t>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DISTINCT</a:t>
            </a:r>
            <a:r>
              <a:rPr lang="en-US" dirty="0"/>
              <a:t> after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/>
              <a:t> keyword removes duplicates .</a:t>
            </a:r>
          </a:p>
          <a:p>
            <a:pPr lvl="3"/>
            <a:endParaRPr lang="en-US" dirty="0"/>
          </a:p>
          <a:p>
            <a:r>
              <a:rPr lang="en-US" dirty="0"/>
              <a:t>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n-US" dirty="0"/>
              <a:t> retains duplicates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n-US" dirty="0"/>
              <a:t> is used as a default if neither is supplied </a:t>
            </a:r>
          </a:p>
          <a:p>
            <a:pPr lvl="3"/>
            <a:endParaRPr lang="en-US" dirty="0"/>
          </a:p>
          <a:p>
            <a:r>
              <a:rPr lang="en-US" sz="2400" dirty="0"/>
              <a:t>These will work over multiple </a:t>
            </a:r>
            <a:r>
              <a:rPr lang="en-US" sz="2400" dirty="0" smtClean="0"/>
              <a:t>columns</a:t>
            </a:r>
            <a:r>
              <a:rPr lang="en-US" dirty="0"/>
              <a:t>.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6</a:t>
            </a:fld>
            <a:endParaRPr lang="zh-CN" altLang="en-US" dirty="0"/>
          </a:p>
        </p:txBody>
      </p:sp>
      <p:pic>
        <p:nvPicPr>
          <p:cNvPr id="8" name="Google Shape;93;p17"/>
          <p:cNvPicPr preferRelativeResize="0"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67458" y="1507826"/>
            <a:ext cx="3482215" cy="44258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Expressions in SELECT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put simple expressions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dirty="0"/>
              <a:t> statements.</a:t>
            </a:r>
          </a:p>
          <a:p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GB" dirty="0"/>
              <a:t> keyword is explained later. It simply gives a column a new name.</a:t>
            </a:r>
          </a:p>
          <a:p>
            <a:pPr lvl="1"/>
            <a:r>
              <a:rPr lang="en-GB" dirty="0"/>
              <a:t>Code is in example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SEL-1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1010186" y="3029754"/>
            <a:ext cx="4572000" cy="83099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a, b,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from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dup_test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579" y="4286420"/>
            <a:ext cx="3213100" cy="1638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Down Arrow 7"/>
          <p:cNvSpPr/>
          <p:nvPr/>
        </p:nvSpPr>
        <p:spPr>
          <a:xfrm rot="18582192">
            <a:off x="3368825" y="3834924"/>
            <a:ext cx="489397" cy="1185466"/>
          </a:xfrm>
          <a:prstGeom prst="downArrow">
            <a:avLst>
              <a:gd name="adj1" fmla="val 56284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Where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 filter rows of a table: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en-US" altLang="en-GB" dirty="0">
                <a:sym typeface="+mn-ea"/>
              </a:rPr>
              <a:t>Asterisk </a:t>
            </a:r>
            <a:r>
              <a:rPr lang="en-GB" dirty="0">
                <a:sym typeface="+mn-ea"/>
              </a:rPr>
              <a:t>(*) means</a:t>
            </a:r>
            <a:r>
              <a:rPr lang="en-US" altLang="en-GB" dirty="0">
                <a:sym typeface="+mn-ea"/>
              </a:rPr>
              <a:t> getting</a:t>
            </a:r>
            <a:r>
              <a:rPr lang="en-GB" dirty="0">
                <a:sym typeface="+mn-ea"/>
              </a:rPr>
              <a:t> all columns of </a:t>
            </a:r>
            <a:r>
              <a:rPr lang="en-US" altLang="en-GB" dirty="0">
                <a:sym typeface="+mn-ea"/>
              </a:rPr>
              <a:t>that </a:t>
            </a:r>
            <a:r>
              <a:rPr lang="en-GB" dirty="0">
                <a:sym typeface="+mn-ea"/>
              </a:rPr>
              <a:t>table.</a:t>
            </a:r>
            <a:endParaRPr lang="en-GB" dirty="0"/>
          </a:p>
          <a:p>
            <a:r>
              <a:rPr lang="en-US" altLang="zh-CN" dirty="0"/>
              <a:t>Example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SEL-1</a:t>
            </a:r>
            <a:r>
              <a:rPr lang="en-US" altLang="zh-CN" dirty="0"/>
              <a:t>: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6" name="文本框 6"/>
          <p:cNvSpPr txBox="1"/>
          <p:nvPr/>
        </p:nvSpPr>
        <p:spPr>
          <a:xfrm>
            <a:off x="2235200" y="1825992"/>
            <a:ext cx="4673600" cy="82994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*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table-name</a:t>
            </a:r>
          </a:p>
          <a:p>
            <a:pPr marL="0" indent="0">
              <a:buNone/>
            </a:pPr>
            <a:r>
              <a:rPr lang="en-US" altLang="en-GB" sz="2400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  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WHERE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predicate;</a:t>
            </a:r>
            <a:endParaRPr lang="en-GB" altLang="en-US" sz="2400" dirty="0">
              <a:latin typeface="Courier New" panose="02070309020205020404" pitchFamily="49" charset="0"/>
              <a:cs typeface="Courier New" panose="02070309020205020404" pitchFamily="49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3857694"/>
            <a:ext cx="3733800" cy="13208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3714823" y="5428505"/>
            <a:ext cx="3857044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grade</a:t>
            </a:r>
            <a:endParaRPr lang="en-US" sz="2400" dirty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mark &lt; 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14" y="3689235"/>
            <a:ext cx="3086173" cy="232519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Right Arrow 9"/>
          <p:cNvSpPr/>
          <p:nvPr/>
        </p:nvSpPr>
        <p:spPr>
          <a:xfrm>
            <a:off x="3928056" y="4202064"/>
            <a:ext cx="1030310" cy="485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WHERE Clause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/>
              <a:t> clause restricts rows that are returned </a:t>
            </a:r>
          </a:p>
          <a:p>
            <a:pPr lvl="1"/>
            <a:r>
              <a:rPr lang="en-US" dirty="0"/>
              <a:t>It takes the form of a Predicate.</a:t>
            </a:r>
          </a:p>
          <a:p>
            <a:pPr lvl="1"/>
            <a:r>
              <a:rPr lang="en-US" b="1" dirty="0">
                <a:latin typeface="Calibri" panose="020F0502020204030204" charset="0"/>
                <a:sym typeface="+mn-ea"/>
              </a:rPr>
              <a:t>Predicate</a:t>
            </a:r>
            <a:r>
              <a:rPr lang="en-US" dirty="0">
                <a:latin typeface="Calibri" panose="020F0502020204030204" charset="0"/>
                <a:sym typeface="+mn-ea"/>
              </a:rPr>
              <a:t>: can be understood as an expression that either </a:t>
            </a:r>
            <a:r>
              <a:rPr lang="en-US" dirty="0">
                <a:solidFill>
                  <a:srgbClr val="FF0000"/>
                </a:solidFill>
                <a:latin typeface="Calibri" panose="020F0502020204030204" charset="0"/>
                <a:sym typeface="+mn-ea"/>
              </a:rPr>
              <a:t>returns a true or false (for numbers, non-zero or zero)</a:t>
            </a:r>
            <a:r>
              <a:rPr lang="en-US" dirty="0">
                <a:latin typeface="Calibri" panose="020F0502020204030204" charset="0"/>
                <a:sym typeface="+mn-ea"/>
              </a:rPr>
              <a:t>. </a:t>
            </a:r>
            <a:endParaRPr lang="en-US" altLang="zh-CN" dirty="0"/>
          </a:p>
          <a:p>
            <a:r>
              <a:rPr lang="en-US" dirty="0"/>
              <a:t>Only rows that satisfy the condition will appear in the final result.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9</a:t>
            </a:fld>
            <a:endParaRPr lang="zh-CN" altLang="en-US"/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157467"/>
              </p:ext>
            </p:extLst>
          </p:nvPr>
        </p:nvGraphicFramePr>
        <p:xfrm>
          <a:off x="628650" y="3340577"/>
          <a:ext cx="78867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9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7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1600" dirty="0"/>
                        <a:t>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/>
                        <a:t>Mark &lt;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The value of column `mark` is less than 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/>
                        <a:t>First =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'John'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The value of column `First` equals to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'John'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/>
                        <a:t>First = Last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`First` equals to `Last`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/>
                        <a:t>First IS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`First` column has no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/>
                        <a:t>First !=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'John'     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First &lt;&gt; </a:t>
                      </a:r>
                      <a:r>
                        <a:rPr 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'John'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The value of column `First` NOT equals to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'John'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8686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/>
                        <a:t>(First = 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'John'</a:t>
                      </a:r>
                      <a:r>
                        <a:rPr lang="en-US" sz="1600" dirty="0"/>
                        <a:t>) AND (Last =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1600" dirty="0"/>
                        <a:t>Smith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1600" dirty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600" dirty="0"/>
                        <a:t>`First` equals to </a:t>
                      </a:r>
                      <a:r>
                        <a:rPr lang="en-US" sz="1600" dirty="0"/>
                        <a:t>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'John'</a:t>
                      </a:r>
                      <a:r>
                        <a:rPr lang="en-GB" sz="1600" dirty="0"/>
                        <a:t> and `Last` equals to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1600" dirty="0"/>
                        <a:t>Smith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/>
                        <a:t>(Mark &lt; 40) OR (Mark &gt; 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Mark is lower than 40 or higher than 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WHERE: Evaluation Process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evaluation process of select:</a:t>
            </a:r>
          </a:p>
          <a:p>
            <a:pPr lvl="1"/>
            <a:r>
              <a:rPr lang="en-GB" dirty="0"/>
              <a:t>Get the table (the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dirty="0"/>
              <a:t> part)</a:t>
            </a:r>
          </a:p>
          <a:p>
            <a:pPr lvl="1"/>
            <a:r>
              <a:rPr lang="en-GB" dirty="0"/>
              <a:t>For each tuple, assess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dirty="0"/>
              <a:t> clause.</a:t>
            </a:r>
          </a:p>
          <a:p>
            <a:pPr lvl="2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True </a:t>
            </a:r>
            <a:r>
              <a:rPr lang="en-GB" dirty="0"/>
              <a:t>(or non-zero values) -&gt; accepted</a:t>
            </a:r>
          </a:p>
          <a:p>
            <a:pPr lvl="2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False </a:t>
            </a:r>
            <a:r>
              <a:rPr lang="en-GB" dirty="0"/>
              <a:t>(or zero)-&gt; filtered</a:t>
            </a:r>
          </a:p>
          <a:p>
            <a:pPr lvl="1"/>
            <a:r>
              <a:rPr lang="en-GB" dirty="0"/>
              <a:t>Get columns (the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dirty="0"/>
              <a:t> part)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Google Shape;107;p19"/>
          <p:cNvSpPr txBox="1"/>
          <p:nvPr/>
        </p:nvSpPr>
        <p:spPr>
          <a:xfrm>
            <a:off x="3548839" y="4732757"/>
            <a:ext cx="3573178" cy="132080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2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DISTINCT </a:t>
            </a:r>
            <a:r>
              <a:rPr lang="en-US" sz="22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ID</a:t>
            </a:r>
            <a:r>
              <a:rPr lang="en-US" sz="22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0" indent="45720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2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  <a:r>
              <a:rPr lang="en-US" sz="22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Grade</a:t>
            </a:r>
            <a:r>
              <a:rPr lang="en-US" sz="22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0" indent="45720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2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  <a:r>
              <a:rPr lang="en-US" sz="22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Mark &gt;= 60</a:t>
            </a:r>
            <a:r>
              <a:rPr lang="en-US" sz="22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8" y="3429000"/>
            <a:ext cx="3086173" cy="23251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656" y="3654022"/>
            <a:ext cx="1346200" cy="1320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Right Arrow 11"/>
          <p:cNvSpPr/>
          <p:nvPr/>
        </p:nvSpPr>
        <p:spPr>
          <a:xfrm>
            <a:off x="3915177" y="4146997"/>
            <a:ext cx="2756079" cy="3348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an SQL query to find a list of the ID numbers and Marks for students who have passed (scored 50% or more) in IAI.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6" name="Google Shape;117;p20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74" y="3206401"/>
            <a:ext cx="2397424" cy="29216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Google Shape;118;p2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20310" y="3206401"/>
            <a:ext cx="1993569" cy="9944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Arrow: Right 7"/>
          <p:cNvSpPr/>
          <p:nvPr/>
        </p:nvSpPr>
        <p:spPr>
          <a:xfrm>
            <a:off x="4008603" y="3772157"/>
            <a:ext cx="773171" cy="2764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176750" y="3333673"/>
            <a:ext cx="340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?</a:t>
            </a:r>
            <a:endParaRPr lang="en-GB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6" name="Google Shape;117;p20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02" y="1968173"/>
            <a:ext cx="2397424" cy="29216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Google Shape;118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256753" y="1470955"/>
            <a:ext cx="1993569" cy="9944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Arrow: Right 7"/>
          <p:cNvSpPr/>
          <p:nvPr/>
        </p:nvSpPr>
        <p:spPr>
          <a:xfrm rot="20816382">
            <a:off x="3548628" y="2325337"/>
            <a:ext cx="2397423" cy="2801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471251" y="651836"/>
            <a:ext cx="6116820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ID, Mark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FROM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Grade</a:t>
            </a:r>
            <a:endParaRPr lang="en-US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WHERE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(Code = </a:t>
            </a:r>
            <a:r>
              <a:rPr lang="en-US" dirty="0">
                <a:solidFill>
                  <a:schemeClr val="dk1"/>
                </a:solidFill>
              </a:rPr>
              <a:t>'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IAI</a:t>
            </a:r>
            <a:r>
              <a:rPr lang="en-US" dirty="0">
                <a:solidFill>
                  <a:schemeClr val="dk1"/>
                </a:solidFill>
              </a:rPr>
              <a:t>'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 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AND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(Mark &gt;= 50);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Commonly used for searching product catalogues etc. </a:t>
            </a:r>
          </a:p>
          <a:p>
            <a:pPr lvl="1"/>
            <a:r>
              <a:rPr lang="en-US" dirty="0"/>
              <a:t>Need to search by keywords </a:t>
            </a:r>
          </a:p>
          <a:p>
            <a:pPr lvl="1"/>
            <a:r>
              <a:rPr lang="en-US" dirty="0"/>
              <a:t>Might need to use partial keywords</a:t>
            </a:r>
            <a:endParaRPr lang="en-GB" dirty="0"/>
          </a:p>
          <a:p>
            <a:r>
              <a:rPr lang="en-US" dirty="0"/>
              <a:t>For example: given a database of books, searching for “crypt” might return 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Cryptonomicon</a:t>
            </a:r>
            <a:r>
              <a:rPr lang="en-US" dirty="0"/>
              <a:t>” by Neil Stephenson </a:t>
            </a:r>
          </a:p>
          <a:p>
            <a:pPr lvl="1"/>
            <a:r>
              <a:rPr lang="en-US" dirty="0"/>
              <a:t>“Applied Cryptography” by Bruce </a:t>
            </a:r>
            <a:r>
              <a:rPr lang="en-US" dirty="0" err="1"/>
              <a:t>Schneier</a:t>
            </a:r>
            <a:endParaRPr lang="en-GB" dirty="0"/>
          </a:p>
          <a:p>
            <a:pPr lvl="0"/>
            <a:r>
              <a:rPr lang="en-GB" dirty="0"/>
              <a:t>We can use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GB" dirty="0"/>
              <a:t> keyword to perform string comparisons in queries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GB" dirty="0"/>
              <a:t> is not the same as ‘=’ because it allows wildcard characters </a:t>
            </a:r>
            <a:r>
              <a:rPr lang="en-GB" dirty="0" smtClean="0"/>
              <a:t>like %, _</a:t>
            </a:r>
            <a:endParaRPr lang="en-GB" dirty="0"/>
          </a:p>
          <a:p>
            <a:pPr lvl="1"/>
            <a:r>
              <a:rPr lang="en-GB" dirty="0"/>
              <a:t>It is NOT normally case sensitive</a:t>
            </a:r>
          </a:p>
          <a:p>
            <a:endParaRPr lang="en-GB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1200954" y="5416304"/>
            <a:ext cx="6742091" cy="83099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* FROM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books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>
              <a:spcBef>
                <a:spcPts val="0"/>
              </a:spcBef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WHERE </a:t>
            </a:r>
            <a:r>
              <a:rPr lang="en-US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bookName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LIKE </a:t>
            </a:r>
            <a:r>
              <a:rPr lang="en-US" sz="2400" dirty="0">
                <a:solidFill>
                  <a:schemeClr val="dk1"/>
                </a:solidFill>
              </a:rPr>
              <a:t>'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%crypt%</a:t>
            </a:r>
            <a:r>
              <a:rPr lang="en-US" sz="2400" dirty="0">
                <a:solidFill>
                  <a:schemeClr val="dk1"/>
                </a:solidFill>
              </a:rPr>
              <a:t>'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‘%’ character can represent any number of characters, including none</a:t>
            </a:r>
          </a:p>
          <a:p>
            <a:pPr lvl="1"/>
            <a:r>
              <a:rPr lang="en-US" dirty="0"/>
              <a:t>The following example will return “Cryptography Engineering” and “</a:t>
            </a:r>
            <a:r>
              <a:rPr lang="en-US" dirty="0" err="1"/>
              <a:t>Cryptonomicon</a:t>
            </a:r>
            <a:r>
              <a:rPr lang="en-US" dirty="0"/>
              <a:t>” but not “Applied Cryptography”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The ‘_’ character represents exactly one character</a:t>
            </a:r>
          </a:p>
          <a:p>
            <a:pPr lvl="1"/>
            <a:r>
              <a:rPr lang="en-US" dirty="0"/>
              <a:t>The following example will return “Clouds” but not “Cloud” or “cloud computing”</a:t>
            </a:r>
          </a:p>
          <a:p>
            <a:pPr lvl="3"/>
            <a:endParaRPr lang="en-US" dirty="0"/>
          </a:p>
          <a:p>
            <a:endParaRPr lang="en-US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2580109" y="2793573"/>
            <a:ext cx="3983783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bookName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'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crypt%</a:t>
            </a:r>
            <a:r>
              <a:rPr lang="en-US" sz="2400" dirty="0">
                <a:solidFill>
                  <a:schemeClr val="dk1"/>
                </a:solidFill>
              </a:rPr>
              <a:t>'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80109" y="4783822"/>
            <a:ext cx="3983783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bookName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'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cloud_</a:t>
            </a:r>
            <a:r>
              <a:rPr lang="en-US" sz="2400" dirty="0">
                <a:solidFill>
                  <a:schemeClr val="dk1"/>
                </a:solidFill>
              </a:rPr>
              <a:t>'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you might need to search for a set of words </a:t>
            </a:r>
          </a:p>
          <a:p>
            <a:pPr lvl="1"/>
            <a:r>
              <a:rPr lang="en-US" dirty="0"/>
              <a:t>To find entries with all words you can link conditions with AND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To find entries with any words use OR</a:t>
            </a:r>
          </a:p>
          <a:p>
            <a:endParaRPr lang="en-GB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803320" y="2281518"/>
            <a:ext cx="7258856" cy="1015663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SELECT * FROM 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books</a:t>
            </a:r>
            <a:r>
              <a:rPr lang="en-US" sz="2000" b="1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WHERE </a:t>
            </a:r>
          </a:p>
          <a:p>
            <a:pPr lvl="0"/>
            <a:r>
              <a:rPr lang="en-US" sz="2000" b="1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bookName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LIKE 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%crypt%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</a:p>
          <a:p>
            <a:pPr lvl="0"/>
            <a:r>
              <a:rPr lang="en-US" sz="2000" b="1" dirty="0">
                <a:solidFill>
                  <a:schemeClr val="dk1"/>
                </a:solidFill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  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AND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bookName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LIKE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%cloud%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320" y="4580465"/>
            <a:ext cx="7258856" cy="1015663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SELECT * FROM 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books</a:t>
            </a:r>
            <a:r>
              <a:rPr lang="en-US" sz="2000" b="1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WHERE </a:t>
            </a:r>
          </a:p>
          <a:p>
            <a:pPr lvl="0"/>
            <a:r>
              <a:rPr lang="en-US" sz="2000" b="1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bookName</a:t>
            </a:r>
            <a:r>
              <a:rPr lang="en-US" sz="2000" b="1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LIKE 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%crypt%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</a:p>
          <a:p>
            <a:pPr lvl="0"/>
            <a:r>
              <a:rPr lang="en-US" sz="2000" b="1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  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OR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bookName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LIKE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%cloud%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 pitchFamily="49" charset="0"/>
                <a:ea typeface="Courier New" panose="02070309020205020404"/>
                <a:cs typeface="Courier New" panose="02070309020205020404" pitchFamily="49" charset="0"/>
                <a:sym typeface="Courier New" panose="02070309020205020404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GB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three tables below.</a:t>
            </a:r>
          </a:p>
          <a:p>
            <a:r>
              <a:rPr lang="en-US" dirty="0"/>
              <a:t>Write a query to find any track title containing either the string ‘boy’ or ‘girl’.</a:t>
            </a:r>
          </a:p>
        </p:txBody>
      </p:sp>
      <p:pic>
        <p:nvPicPr>
          <p:cNvPr id="9" name="Google Shape;509;p7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23925" y="2879762"/>
            <a:ext cx="7296150" cy="273367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sym typeface="Courier New" panose="02070309020205020404"/>
              </a:rPr>
              <a:t>Step 1: decide the table you need.</a:t>
            </a:r>
          </a:p>
          <a:p>
            <a:pPr lvl="2">
              <a:spcBef>
                <a:spcPts val="0"/>
              </a:spcBef>
            </a:pPr>
            <a:endParaRPr lang="en-US" dirty="0">
              <a:sym typeface="Courier New" panose="02070309020205020404"/>
            </a:endParaRPr>
          </a:p>
          <a:p>
            <a:pPr lvl="2">
              <a:spcBef>
                <a:spcPts val="0"/>
              </a:spcBef>
            </a:pPr>
            <a:endParaRPr lang="en-US" dirty="0">
              <a:sym typeface="Courier New" panose="02070309020205020404"/>
            </a:endParaRPr>
          </a:p>
          <a:p>
            <a:pPr lvl="1">
              <a:spcBef>
                <a:spcPts val="0"/>
              </a:spcBef>
            </a:pPr>
            <a:endParaRPr lang="en-US" dirty="0">
              <a:sym typeface="Courier New" panose="02070309020205020404"/>
            </a:endParaRPr>
          </a:p>
          <a:p>
            <a:pPr>
              <a:spcBef>
                <a:spcPts val="0"/>
              </a:spcBef>
            </a:pPr>
            <a:r>
              <a:rPr lang="en-US" dirty="0">
                <a:sym typeface="Courier New" panose="02070309020205020404"/>
              </a:rPr>
              <a:t>Step 2: decide the rows you want.</a:t>
            </a:r>
          </a:p>
          <a:p>
            <a:pPr>
              <a:spcBef>
                <a:spcPts val="0"/>
              </a:spcBef>
            </a:pPr>
            <a:endParaRPr lang="en-US" dirty="0">
              <a:sym typeface="Courier New" panose="02070309020205020404"/>
            </a:endParaRPr>
          </a:p>
          <a:p>
            <a:pPr>
              <a:spcBef>
                <a:spcPts val="0"/>
              </a:spcBef>
            </a:pPr>
            <a:endParaRPr lang="en-US" dirty="0">
              <a:sym typeface="Courier New" panose="02070309020205020404"/>
            </a:endParaRPr>
          </a:p>
          <a:p>
            <a:pPr lvl="2">
              <a:spcBef>
                <a:spcPts val="0"/>
              </a:spcBef>
            </a:pPr>
            <a:endParaRPr lang="en-US" dirty="0">
              <a:sym typeface="Courier New" panose="02070309020205020404"/>
            </a:endParaRPr>
          </a:p>
          <a:p>
            <a:pPr>
              <a:spcBef>
                <a:spcPts val="0"/>
              </a:spcBef>
            </a:pPr>
            <a:endParaRPr lang="en-US" dirty="0">
              <a:sym typeface="Courier New" panose="02070309020205020404"/>
            </a:endParaRPr>
          </a:p>
          <a:p>
            <a:pPr lvl="2">
              <a:spcBef>
                <a:spcPts val="0"/>
              </a:spcBef>
            </a:pPr>
            <a:endParaRPr lang="en-US" dirty="0">
              <a:sym typeface="Courier New" panose="02070309020205020404"/>
            </a:endParaRPr>
          </a:p>
          <a:p>
            <a:pPr>
              <a:spcBef>
                <a:spcPts val="0"/>
              </a:spcBef>
            </a:pPr>
            <a:r>
              <a:rPr lang="en-US" dirty="0">
                <a:sym typeface="Courier New" panose="02070309020205020404"/>
              </a:rPr>
              <a:t>Step 3: decide the columns you need.</a:t>
            </a:r>
          </a:p>
          <a:p>
            <a:endParaRPr lang="en-GB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1657349" y="4592849"/>
            <a:ext cx="5683609" cy="1015663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US" sz="20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Track_title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FROM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Track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WHERE</a:t>
            </a:r>
          </a:p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</a:t>
            </a:r>
            <a:r>
              <a:rPr lang="en-US" sz="20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Track_title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LIKE 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%boy%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OR </a:t>
            </a:r>
            <a:r>
              <a:rPr lang="en-US" sz="20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Track_title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LIKE 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%girl%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7349" y="1741868"/>
            <a:ext cx="3932081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* FROM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Track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</a:p>
        </p:txBody>
      </p:sp>
      <p:sp>
        <p:nvSpPr>
          <p:cNvPr id="8" name="Rectangle 7"/>
          <p:cNvSpPr/>
          <p:nvPr/>
        </p:nvSpPr>
        <p:spPr>
          <a:xfrm>
            <a:off x="1657349" y="2836031"/>
            <a:ext cx="5297243" cy="1015663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* FROM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Track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WHERE</a:t>
            </a:r>
          </a:p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</a:t>
            </a:r>
            <a:r>
              <a:rPr lang="en-US" sz="20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Track_title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LIKE 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%boy%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OR </a:t>
            </a:r>
            <a:r>
              <a:rPr lang="en-US" sz="20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Track_title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LIKE 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%girl%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Dealing with Date and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comparison of date and time can be done just like numbers.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 you can also search for dates like a string: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Check the </a:t>
            </a:r>
            <a:r>
              <a:rPr lang="en-US"/>
              <a:t>example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SEL-1</a:t>
            </a:r>
            <a:endParaRPr lang="en-US" dirty="0"/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829882" y="2155966"/>
            <a:ext cx="6266377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table-name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WHERE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date-of-event &lt; 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2012-01-01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82" y="4018500"/>
            <a:ext cx="6639864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table-name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WHERE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date-of-event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'2014-11-%</a:t>
            </a:r>
            <a:r>
              <a:rPr lang="en-US" sz="20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Statements in SELECT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All statements that return Boolean values can also be placed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/>
              <a:t> section:</a:t>
            </a:r>
          </a:p>
          <a:p>
            <a:pPr lvl="1"/>
            <a:r>
              <a:rPr lang="en-US" dirty="0"/>
              <a:t>SELECT postcode LIKE ‘</a:t>
            </a:r>
            <a:r>
              <a:rPr lang="en-US" dirty="0" err="1"/>
              <a:t>gb</a:t>
            </a:r>
            <a:r>
              <a:rPr lang="en-US" dirty="0"/>
              <a:t>%’ FROM places;</a:t>
            </a:r>
          </a:p>
          <a:p>
            <a:pPr lvl="1"/>
            <a:r>
              <a:rPr lang="en-US" dirty="0"/>
              <a:t>SELECT id BETWEEN 1 AND 5 FROM staff;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r>
              <a:rPr lang="en-US" dirty="0"/>
              <a:t>What are the results of these? Design some tables and find them out </a:t>
            </a:r>
            <a:r>
              <a:rPr lang="en-US" dirty="0">
                <a:sym typeface="Wingdings" panose="05000000000000000000" pitchFamily="2" charset="2"/>
              </a:rPr>
              <a:t>.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19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about the WHERE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In the WHERE expression, you can use any of the functions and operators that MySQL supports.</a:t>
            </a:r>
          </a:p>
          <a:p>
            <a:pPr lvl="1"/>
            <a:r>
              <a:rPr lang="en-US" dirty="0"/>
              <a:t>except for aggregate (group) functions. </a:t>
            </a:r>
          </a:p>
          <a:p>
            <a:pPr lvl="1"/>
            <a:r>
              <a:rPr lang="en-US" dirty="0"/>
              <a:t>Aggregate functions will be introduced later.</a:t>
            </a:r>
          </a:p>
          <a:p>
            <a:endParaRPr lang="en-US" dirty="0"/>
          </a:p>
          <a:p>
            <a:r>
              <a:rPr lang="en-GB" dirty="0"/>
              <a:t>The full list of supported operations can be found at:</a:t>
            </a:r>
          </a:p>
          <a:p>
            <a:pPr lvl="1"/>
            <a:r>
              <a:rPr lang="en-GB" dirty="0">
                <a:hlinkClick r:id="rId2"/>
              </a:rPr>
              <a:t>https://dev.mysql.com/doc/refman/8.0/en/expressions.html</a:t>
            </a:r>
            <a:endParaRPr lang="en-GB" dirty="0"/>
          </a:p>
          <a:p>
            <a:endParaRPr lang="en-GB" dirty="0"/>
          </a:p>
          <a:p>
            <a:r>
              <a:rPr lang="en-GB" dirty="0"/>
              <a:t>Do your own experiments to find out how they works.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20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15827-29F3-40B1-BC22-97373A8E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Question: Logical </a:t>
            </a:r>
            <a:r>
              <a:rPr lang="en-US" dirty="0" err="1" smtClean="0"/>
              <a:t>Operatons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B1578-6495-42ED-B3F9-2BC9A0AC0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results of the following expressions and their corresponding Boolean value?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1 + 12 &gt; </a:t>
            </a:r>
            <a:r>
              <a:rPr lang="en-US" dirty="0" smtClean="0"/>
              <a:t>30 </a:t>
            </a:r>
            <a:endParaRPr lang="en-US" dirty="0"/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(True AND False) OR False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(False OR 12) AND True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(NOT True) AND (NOT False)</a:t>
            </a: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7 + 12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True + 1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False + 2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39 &lt;&gt; False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27 AND False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0 OR TRUE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B144E-070F-42EB-9FEA-4F642E0C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DBBC7-A50B-4226-8705-BAAA64CC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7E144A-8605-42B6-9CC6-82BFB4CD1D3C}"/>
              </a:ext>
            </a:extLst>
          </p:cNvPr>
          <p:cNvSpPr txBox="1"/>
          <p:nvPr/>
        </p:nvSpPr>
        <p:spPr>
          <a:xfrm>
            <a:off x="3877670" y="4283631"/>
            <a:ext cx="46376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When true is evaluated as a number, it will be 1</a:t>
            </a:r>
          </a:p>
        </p:txBody>
      </p:sp>
    </p:spTree>
    <p:extLst>
      <p:ext uri="{BB962C8B-B14F-4D97-AF65-F5344CB8AC3E}">
        <p14:creationId xmlns:p14="http://schemas.microsoft.com/office/powerpoint/2010/main" val="395976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and Cartesian Product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Combining multiple tables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22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and Cartesian Product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Cartesian product of two tables can be obtained by using:</a:t>
            </a:r>
          </a:p>
          <a:p>
            <a:pPr marL="0" indent="0">
              <a:buNone/>
            </a:pPr>
            <a:r>
              <a:rPr lang="en-GB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SELECT </a:t>
            </a:r>
            <a:r>
              <a:rPr lang="en-GB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*</a:t>
            </a:r>
            <a:r>
              <a:rPr lang="en-GB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FROM </a:t>
            </a:r>
            <a:r>
              <a:rPr lang="en-GB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</a:t>
            </a:r>
            <a:r>
              <a:rPr lang="en-GB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 Grade; </a:t>
            </a:r>
          </a:p>
          <a:p>
            <a:pPr marL="0" indent="0">
              <a:buNone/>
            </a:pPr>
            <a:r>
              <a:rPr lang="en-GB" altLang="zh-CN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zh-CN" b="1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GB" altLang="zh-CN" b="1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GB" altLang="zh-CN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*</a:t>
            </a:r>
            <a:r>
              <a:rPr lang="en-GB" altLang="zh-CN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FROM </a:t>
            </a:r>
            <a:r>
              <a:rPr lang="en-GB" altLang="zh-CN" dirty="0" smtClean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 CROSS JOIN </a:t>
            </a:r>
            <a:r>
              <a:rPr lang="en-GB" altLang="zh-CN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Grade; </a:t>
            </a:r>
            <a:endParaRPr lang="en-GB" dirty="0" smtClean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>
              <a:buNone/>
            </a:pPr>
            <a:endParaRPr lang="en-GB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23</a:t>
            </a:fld>
            <a:endParaRPr lang="zh-CN" altLang="en-US" dirty="0"/>
          </a:p>
        </p:txBody>
      </p:sp>
      <p:pic>
        <p:nvPicPr>
          <p:cNvPr id="6" name="Google Shape;174;p28">
            <a:extLst>
              <a:ext uri="{FF2B5EF4-FFF2-40B4-BE49-F238E27FC236}">
                <a16:creationId xmlns:a16="http://schemas.microsoft.com/office/drawing/2014/main" id="{C49752C6-57F5-43E2-D7F7-BE2EA74BDBB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42" y="2550016"/>
            <a:ext cx="2993523" cy="3220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81;p29">
            <a:extLst>
              <a:ext uri="{FF2B5EF4-FFF2-40B4-BE49-F238E27FC236}">
                <a16:creationId xmlns:a16="http://schemas.microsoft.com/office/drawing/2014/main" id="{3E466064-0F2A-E88F-E70A-3B50676491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/>
          <a:srcRect b="2696"/>
          <a:stretch/>
        </p:blipFill>
        <p:spPr>
          <a:xfrm>
            <a:off x="4123334" y="2742710"/>
            <a:ext cx="4021181" cy="302761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D4272D04-9ABC-F9D5-459B-0F5D95BA735D}"/>
              </a:ext>
            </a:extLst>
          </p:cNvPr>
          <p:cNvSpPr/>
          <p:nvPr/>
        </p:nvSpPr>
        <p:spPr>
          <a:xfrm>
            <a:off x="3038103" y="3790891"/>
            <a:ext cx="1002323" cy="3692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F85387-0553-6D73-EDC4-E6A13BF6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4F7D98-25DC-3D41-1F4A-0DD6A7C8D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24</a:t>
            </a:fld>
            <a:endParaRPr lang="zh-CN" altLang="en-US" dirty="0"/>
          </a:p>
        </p:txBody>
      </p:sp>
      <p:pic>
        <p:nvPicPr>
          <p:cNvPr id="8" name="Google Shape;181;p29">
            <a:extLst>
              <a:ext uri="{FF2B5EF4-FFF2-40B4-BE49-F238E27FC236}">
                <a16:creationId xmlns:a16="http://schemas.microsoft.com/office/drawing/2014/main" id="{372C82BC-7065-4B32-775B-B8406552E8D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"/>
          <a:srcRect b="2235"/>
          <a:stretch/>
        </p:blipFill>
        <p:spPr>
          <a:xfrm>
            <a:off x="1977882" y="2246550"/>
            <a:ext cx="4940300" cy="3737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5D23318-C310-6F8F-A948-72A1E6025F7B}"/>
              </a:ext>
            </a:extLst>
          </p:cNvPr>
          <p:cNvSpPr txBox="1"/>
          <p:nvPr/>
        </p:nvSpPr>
        <p:spPr>
          <a:xfrm>
            <a:off x="3143057" y="623215"/>
            <a:ext cx="2970624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GB" altLang="zh-CN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*</a:t>
            </a:r>
            <a:r>
              <a:rPr lang="en-GB" altLang="zh-CN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FROM </a:t>
            </a:r>
            <a:r>
              <a:rPr lang="en-GB" altLang="zh-CN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Student, Grade;</a:t>
            </a:r>
            <a:endParaRPr lang="zh-CN" altLang="en-US" sz="2400" dirty="0"/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CDA93EEA-032A-6C5B-D3D5-253AE7FC7AB1}"/>
              </a:ext>
            </a:extLst>
          </p:cNvPr>
          <p:cNvSpPr txBox="1"/>
          <p:nvPr/>
        </p:nvSpPr>
        <p:spPr>
          <a:xfrm>
            <a:off x="197196" y="2476779"/>
            <a:ext cx="1839350" cy="4138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sz="1400" b="1" dirty="0"/>
              <a:t>student[</a:t>
            </a:r>
            <a:r>
              <a:rPr lang="en-US" sz="1400" b="1" dirty="0">
                <a:solidFill>
                  <a:srgbClr val="FF0000"/>
                </a:solidFill>
              </a:rPr>
              <a:t>0</a:t>
            </a:r>
            <a:r>
              <a:rPr lang="en-US" sz="1400" b="1" dirty="0"/>
              <a:t>]   + grade[</a:t>
            </a:r>
            <a:r>
              <a:rPr lang="en-US" sz="1400" b="1" dirty="0">
                <a:solidFill>
                  <a:srgbClr val="00B0F0"/>
                </a:solidFill>
              </a:rPr>
              <a:t>0</a:t>
            </a:r>
            <a:r>
              <a:rPr lang="en-US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sz="1400" b="1" dirty="0"/>
              <a:t>student[</a:t>
            </a:r>
            <a:r>
              <a:rPr lang="en-US" sz="1400" b="1" dirty="0">
                <a:solidFill>
                  <a:srgbClr val="FF0000"/>
                </a:solidFill>
              </a:rPr>
              <a:t>0</a:t>
            </a:r>
            <a:r>
              <a:rPr lang="en-US" sz="1400" b="1" dirty="0"/>
              <a:t>]   + grade[</a:t>
            </a:r>
            <a:r>
              <a:rPr lang="en-US" sz="1400" b="1" dirty="0">
                <a:solidFill>
                  <a:srgbClr val="00B0F0"/>
                </a:solidFill>
              </a:rPr>
              <a:t>1</a:t>
            </a:r>
            <a:r>
              <a:rPr lang="en-US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student[</a:t>
            </a:r>
            <a:r>
              <a:rPr lang="en-US" altLang="zh-CN" sz="1400" b="1" dirty="0">
                <a:solidFill>
                  <a:srgbClr val="FF0000"/>
                </a:solidFill>
              </a:rPr>
              <a:t>0</a:t>
            </a:r>
            <a:r>
              <a:rPr lang="en-US" altLang="zh-CN" sz="1400" b="1" dirty="0"/>
              <a:t>]   + grade[</a:t>
            </a:r>
            <a:r>
              <a:rPr lang="en-US" altLang="zh-CN" sz="1400" b="1" dirty="0">
                <a:solidFill>
                  <a:srgbClr val="00B0F0"/>
                </a:solidFill>
              </a:rPr>
              <a:t>2</a:t>
            </a:r>
            <a:r>
              <a:rPr lang="en-US" altLang="zh-CN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student[</a:t>
            </a:r>
            <a:r>
              <a:rPr lang="en-US" altLang="zh-CN" sz="1400" b="1" dirty="0">
                <a:solidFill>
                  <a:srgbClr val="FF0000"/>
                </a:solidFill>
              </a:rPr>
              <a:t>0</a:t>
            </a:r>
            <a:r>
              <a:rPr lang="en-US" altLang="zh-CN" sz="1400" b="1" dirty="0"/>
              <a:t>]   + grade[</a:t>
            </a:r>
            <a:r>
              <a:rPr lang="en-US" altLang="zh-CN" sz="1400" b="1" dirty="0">
                <a:solidFill>
                  <a:srgbClr val="00B0F0"/>
                </a:solidFill>
              </a:rPr>
              <a:t>3</a:t>
            </a:r>
            <a:r>
              <a:rPr lang="en-US" altLang="zh-CN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student[</a:t>
            </a:r>
            <a:r>
              <a:rPr lang="en-US" altLang="zh-CN" sz="1400" b="1" dirty="0">
                <a:solidFill>
                  <a:srgbClr val="FF0000"/>
                </a:solidFill>
              </a:rPr>
              <a:t>0</a:t>
            </a:r>
            <a:r>
              <a:rPr lang="en-US" altLang="zh-CN" sz="1400" b="1" dirty="0"/>
              <a:t>]   + grade[</a:t>
            </a:r>
            <a:r>
              <a:rPr lang="en-US" altLang="zh-CN" sz="1400" b="1" dirty="0">
                <a:solidFill>
                  <a:srgbClr val="00B0F0"/>
                </a:solidFill>
              </a:rPr>
              <a:t>4</a:t>
            </a:r>
            <a:r>
              <a:rPr lang="en-US" altLang="zh-CN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student[</a:t>
            </a:r>
            <a:r>
              <a:rPr lang="en-US" altLang="zh-CN" sz="1400" b="1" dirty="0">
                <a:solidFill>
                  <a:srgbClr val="FF0000"/>
                </a:solidFill>
              </a:rPr>
              <a:t>0</a:t>
            </a:r>
            <a:r>
              <a:rPr lang="en-US" altLang="zh-CN" sz="1400" b="1" dirty="0"/>
              <a:t>]   + grade[</a:t>
            </a:r>
            <a:r>
              <a:rPr lang="en-US" altLang="zh-CN" sz="1400" b="1" dirty="0">
                <a:solidFill>
                  <a:srgbClr val="00B0F0"/>
                </a:solidFill>
              </a:rPr>
              <a:t>5</a:t>
            </a:r>
            <a:r>
              <a:rPr lang="en-US" altLang="zh-CN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student[</a:t>
            </a:r>
            <a:r>
              <a:rPr lang="en-US" altLang="zh-CN" sz="1400" b="1" dirty="0">
                <a:solidFill>
                  <a:srgbClr val="FF0000"/>
                </a:solidFill>
              </a:rPr>
              <a:t>0</a:t>
            </a:r>
            <a:r>
              <a:rPr lang="en-US" altLang="zh-CN" sz="1400" b="1" dirty="0"/>
              <a:t>]   + grade[</a:t>
            </a:r>
            <a:r>
              <a:rPr lang="en-US" altLang="zh-CN" sz="1400" b="1" dirty="0">
                <a:solidFill>
                  <a:srgbClr val="00B0F0"/>
                </a:solidFill>
              </a:rPr>
              <a:t>6</a:t>
            </a:r>
            <a:r>
              <a:rPr lang="en-US" altLang="zh-CN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student[</a:t>
            </a:r>
            <a:r>
              <a:rPr lang="en-US" altLang="zh-CN" sz="1400" b="1" dirty="0">
                <a:solidFill>
                  <a:srgbClr val="FF0000"/>
                </a:solidFill>
              </a:rPr>
              <a:t>0</a:t>
            </a:r>
            <a:r>
              <a:rPr lang="en-US" altLang="zh-CN" sz="1400" b="1" dirty="0"/>
              <a:t>]   + grade[</a:t>
            </a:r>
            <a:r>
              <a:rPr lang="en-US" altLang="zh-CN" sz="1400" b="1" dirty="0">
                <a:solidFill>
                  <a:srgbClr val="00B0F0"/>
                </a:solidFill>
              </a:rPr>
              <a:t>7</a:t>
            </a:r>
            <a:r>
              <a:rPr lang="en-US" altLang="zh-CN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student[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r>
              <a:rPr lang="en-US" altLang="zh-CN" sz="1400" b="1" dirty="0"/>
              <a:t>]   + grade[</a:t>
            </a:r>
            <a:r>
              <a:rPr lang="en-US" altLang="zh-CN" sz="1400" b="1" dirty="0">
                <a:solidFill>
                  <a:srgbClr val="00B0F0"/>
                </a:solidFill>
              </a:rPr>
              <a:t>0</a:t>
            </a:r>
            <a:r>
              <a:rPr lang="en-US" altLang="zh-CN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student[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r>
              <a:rPr lang="en-US" altLang="zh-CN" sz="1400" b="1" dirty="0"/>
              <a:t>]   + grade[</a:t>
            </a:r>
            <a:r>
              <a:rPr lang="en-US" altLang="zh-CN" sz="1400" b="1" dirty="0">
                <a:solidFill>
                  <a:srgbClr val="00B0F0"/>
                </a:solidFill>
              </a:rPr>
              <a:t>1</a:t>
            </a:r>
            <a:r>
              <a:rPr lang="en-US" altLang="zh-CN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student[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r>
              <a:rPr lang="en-US" altLang="zh-CN" sz="1400" b="1" dirty="0"/>
              <a:t>]   + grade[</a:t>
            </a:r>
            <a:r>
              <a:rPr lang="en-US" altLang="zh-CN" sz="1400" b="1" dirty="0">
                <a:solidFill>
                  <a:srgbClr val="00B0F0"/>
                </a:solidFill>
              </a:rPr>
              <a:t>2</a:t>
            </a:r>
            <a:r>
              <a:rPr lang="en-US" altLang="zh-CN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student[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r>
              <a:rPr lang="en-US" altLang="zh-CN" sz="1400" b="1" dirty="0"/>
              <a:t>]   + grade[</a:t>
            </a:r>
            <a:r>
              <a:rPr lang="en-US" altLang="zh-CN" sz="1400" b="1" dirty="0">
                <a:solidFill>
                  <a:srgbClr val="00B0F0"/>
                </a:solidFill>
              </a:rPr>
              <a:t>3</a:t>
            </a:r>
            <a:r>
              <a:rPr lang="en-US" altLang="zh-CN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student[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r>
              <a:rPr lang="en-US" altLang="zh-CN" sz="1400" b="1" dirty="0"/>
              <a:t>]   + grade[</a:t>
            </a:r>
            <a:r>
              <a:rPr lang="en-US" altLang="zh-CN" sz="1400" b="1" dirty="0">
                <a:solidFill>
                  <a:srgbClr val="00B0F0"/>
                </a:solidFill>
              </a:rPr>
              <a:t>4</a:t>
            </a:r>
            <a:r>
              <a:rPr lang="en-US" altLang="zh-CN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…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6A4A108-BBC6-3D34-CE6B-0C205A6A5D9C}"/>
              </a:ext>
            </a:extLst>
          </p:cNvPr>
          <p:cNvCxnSpPr/>
          <p:nvPr/>
        </p:nvCxnSpPr>
        <p:spPr>
          <a:xfrm>
            <a:off x="225332" y="4844282"/>
            <a:ext cx="6649378" cy="0"/>
          </a:xfrm>
          <a:prstGeom prst="line">
            <a:avLst/>
          </a:prstGeom>
          <a:ln w="254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36CD0AC-97DB-2621-E209-0BB4B010AC79}"/>
              </a:ext>
            </a:extLst>
          </p:cNvPr>
          <p:cNvGrpSpPr/>
          <p:nvPr/>
        </p:nvGrpSpPr>
        <p:grpSpPr>
          <a:xfrm>
            <a:off x="983329" y="129925"/>
            <a:ext cx="1989104" cy="1865747"/>
            <a:chOff x="2458928" y="147075"/>
            <a:chExt cx="1989104" cy="1865747"/>
          </a:xfrm>
        </p:grpSpPr>
        <p:pic>
          <p:nvPicPr>
            <p:cNvPr id="6" name="Google Shape;86;p16" descr="Screen Shot 2016-02-23 at 17.51.26.png">
              <a:extLst>
                <a:ext uri="{FF2B5EF4-FFF2-40B4-BE49-F238E27FC236}">
                  <a16:creationId xmlns:a16="http://schemas.microsoft.com/office/drawing/2014/main" id="{B6249755-AB06-8EA5-B68C-54ED64C314E9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2458928" y="147075"/>
              <a:ext cx="1989104" cy="1865747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CA271A7-416D-C1CD-BE73-61087130E306}"/>
                </a:ext>
              </a:extLst>
            </p:cNvPr>
            <p:cNvSpPr/>
            <p:nvPr/>
          </p:nvSpPr>
          <p:spPr>
            <a:xfrm>
              <a:off x="2458928" y="337625"/>
              <a:ext cx="1989104" cy="34465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9A98C037-F35F-0BB0-329F-8147379C6C60}"/>
              </a:ext>
            </a:extLst>
          </p:cNvPr>
          <p:cNvSpPr/>
          <p:nvPr/>
        </p:nvSpPr>
        <p:spPr>
          <a:xfrm>
            <a:off x="1977881" y="2246821"/>
            <a:ext cx="2330353" cy="3446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B67F3E8-8CF7-6FE1-3381-DFB35B88073A}"/>
              </a:ext>
            </a:extLst>
          </p:cNvPr>
          <p:cNvGrpSpPr/>
          <p:nvPr/>
        </p:nvGrpSpPr>
        <p:grpSpPr>
          <a:xfrm>
            <a:off x="6874710" y="137482"/>
            <a:ext cx="2166426" cy="2636718"/>
            <a:chOff x="126606" y="147075"/>
            <a:chExt cx="2166426" cy="2636718"/>
          </a:xfrm>
        </p:grpSpPr>
        <p:pic>
          <p:nvPicPr>
            <p:cNvPr id="7" name="Google Shape;86;p16" descr="Screen Shot 2016-02-23 at 17.51.26.png">
              <a:extLst>
                <a:ext uri="{FF2B5EF4-FFF2-40B4-BE49-F238E27FC236}">
                  <a16:creationId xmlns:a16="http://schemas.microsoft.com/office/drawing/2014/main" id="{41BAF941-7176-D27E-D84A-0D4BE8A62E73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126607" y="147075"/>
              <a:ext cx="2166425" cy="263671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A3056F0-F511-6D9A-D7FB-D804099061A8}"/>
                </a:ext>
              </a:extLst>
            </p:cNvPr>
            <p:cNvSpPr/>
            <p:nvPr/>
          </p:nvSpPr>
          <p:spPr>
            <a:xfrm>
              <a:off x="126606" y="337625"/>
              <a:ext cx="2166425" cy="344658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A638856B-E06C-8B5A-C91F-914B016C26F1}"/>
              </a:ext>
            </a:extLst>
          </p:cNvPr>
          <p:cNvSpPr/>
          <p:nvPr/>
        </p:nvSpPr>
        <p:spPr>
          <a:xfrm>
            <a:off x="4368294" y="2246821"/>
            <a:ext cx="2330353" cy="34465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E87D76B-B835-4329-26C4-F177566C51FA}"/>
              </a:ext>
            </a:extLst>
          </p:cNvPr>
          <p:cNvCxnSpPr/>
          <p:nvPr/>
        </p:nvCxnSpPr>
        <p:spPr>
          <a:xfrm>
            <a:off x="3052689" y="1688123"/>
            <a:ext cx="1255545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D52E27C-0547-19B4-0DFD-86DC839A4922}"/>
              </a:ext>
            </a:extLst>
          </p:cNvPr>
          <p:cNvCxnSpPr>
            <a:cxnSpLocks/>
          </p:cNvCxnSpPr>
          <p:nvPr/>
        </p:nvCxnSpPr>
        <p:spPr>
          <a:xfrm>
            <a:off x="4368294" y="1688123"/>
            <a:ext cx="2426401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079E0F4E-455D-59AA-BF9A-79F15CCFF7C8}"/>
              </a:ext>
            </a:extLst>
          </p:cNvPr>
          <p:cNvCxnSpPr>
            <a:cxnSpLocks/>
          </p:cNvCxnSpPr>
          <p:nvPr/>
        </p:nvCxnSpPr>
        <p:spPr>
          <a:xfrm>
            <a:off x="4335277" y="1688123"/>
            <a:ext cx="0" cy="567952"/>
          </a:xfrm>
          <a:prstGeom prst="straightConnector1">
            <a:avLst/>
          </a:prstGeom>
          <a:ln w="730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4">
            <a:extLst>
              <a:ext uri="{FF2B5EF4-FFF2-40B4-BE49-F238E27FC236}">
                <a16:creationId xmlns:a16="http://schemas.microsoft.com/office/drawing/2014/main" id="{425A24A4-D408-4FF4-A726-9EFC75B78ED1}"/>
              </a:ext>
            </a:extLst>
          </p:cNvPr>
          <p:cNvSpPr txBox="1"/>
          <p:nvPr/>
        </p:nvSpPr>
        <p:spPr>
          <a:xfrm>
            <a:off x="31617" y="490188"/>
            <a:ext cx="963277" cy="1521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sz="1400" b="1" dirty="0"/>
              <a:t>student[</a:t>
            </a:r>
            <a:r>
              <a:rPr lang="en-US" sz="1400" b="1" dirty="0">
                <a:solidFill>
                  <a:srgbClr val="FF0000"/>
                </a:solidFill>
              </a:rPr>
              <a:t>0</a:t>
            </a:r>
            <a:r>
              <a:rPr lang="en-US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sz="1400" b="1" dirty="0"/>
              <a:t>student[</a:t>
            </a:r>
            <a:r>
              <a:rPr lang="en-US" sz="1400" b="1" dirty="0">
                <a:solidFill>
                  <a:srgbClr val="FF0000"/>
                </a:solidFill>
              </a:rPr>
              <a:t>1</a:t>
            </a:r>
            <a:r>
              <a:rPr lang="en-US" sz="1400" b="1" dirty="0"/>
              <a:t>]</a:t>
            </a:r>
            <a:endParaRPr lang="en-US" altLang="zh-CN" sz="1400" b="1" dirty="0"/>
          </a:p>
          <a:p>
            <a:pPr>
              <a:lnSpc>
                <a:spcPct val="135000"/>
              </a:lnSpc>
            </a:pPr>
            <a:r>
              <a:rPr lang="en-US" sz="1400" b="1" dirty="0"/>
              <a:t>student[</a:t>
            </a:r>
            <a:r>
              <a:rPr lang="en-US" sz="1400" b="1" dirty="0">
                <a:solidFill>
                  <a:srgbClr val="FF0000"/>
                </a:solidFill>
              </a:rPr>
              <a:t>2</a:t>
            </a:r>
            <a:r>
              <a:rPr lang="en-US" sz="1400" b="1" dirty="0"/>
              <a:t>]</a:t>
            </a:r>
            <a:endParaRPr lang="en-US" altLang="zh-CN" sz="1400" b="1" dirty="0"/>
          </a:p>
          <a:p>
            <a:pPr>
              <a:lnSpc>
                <a:spcPct val="135000"/>
              </a:lnSpc>
            </a:pPr>
            <a:r>
              <a:rPr lang="en-US" sz="1400" b="1" dirty="0"/>
              <a:t>student[</a:t>
            </a:r>
            <a:r>
              <a:rPr lang="en-US" sz="1400" b="1" dirty="0">
                <a:solidFill>
                  <a:srgbClr val="FF0000"/>
                </a:solidFill>
              </a:rPr>
              <a:t>3</a:t>
            </a:r>
            <a:r>
              <a:rPr lang="en-US" sz="1400" b="1" dirty="0"/>
              <a:t>]</a:t>
            </a:r>
            <a:endParaRPr lang="en-US" altLang="zh-CN" sz="1400" b="1" dirty="0"/>
          </a:p>
          <a:p>
            <a:pPr>
              <a:lnSpc>
                <a:spcPct val="135000"/>
              </a:lnSpc>
            </a:pPr>
            <a:r>
              <a:rPr lang="en-US" sz="1400" b="1" dirty="0"/>
              <a:t>student[</a:t>
            </a:r>
            <a:r>
              <a:rPr lang="en-US" sz="1400" b="1" dirty="0">
                <a:solidFill>
                  <a:srgbClr val="FF0000"/>
                </a:solidFill>
              </a:rPr>
              <a:t>4</a:t>
            </a:r>
            <a:r>
              <a:rPr lang="en-US" sz="1400" b="1" dirty="0"/>
              <a:t>]</a:t>
            </a:r>
            <a:endParaRPr lang="en-US" altLang="zh-CN" sz="1400" b="1" dirty="0"/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178DFD71-5D5B-450A-8C08-F501AAB97BBF}"/>
              </a:ext>
            </a:extLst>
          </p:cNvPr>
          <p:cNvSpPr txBox="1"/>
          <p:nvPr/>
        </p:nvSpPr>
        <p:spPr>
          <a:xfrm>
            <a:off x="6113682" y="572273"/>
            <a:ext cx="810671" cy="939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sz="1400" b="1" dirty="0"/>
              <a:t>grade[</a:t>
            </a:r>
            <a:r>
              <a:rPr lang="en-US" sz="1400" b="1" dirty="0">
                <a:solidFill>
                  <a:srgbClr val="00B0F0"/>
                </a:solidFill>
              </a:rPr>
              <a:t>1</a:t>
            </a:r>
            <a:r>
              <a:rPr lang="en-US" sz="1400" b="1" dirty="0"/>
              <a:t>]</a:t>
            </a:r>
          </a:p>
          <a:p>
            <a:pPr>
              <a:lnSpc>
                <a:spcPct val="135000"/>
              </a:lnSpc>
            </a:pPr>
            <a:r>
              <a:rPr lang="en-US" sz="1400" b="1" dirty="0"/>
              <a:t>grade[</a:t>
            </a:r>
            <a:r>
              <a:rPr lang="en-US" sz="1400" b="1" dirty="0">
                <a:solidFill>
                  <a:srgbClr val="00B0F0"/>
                </a:solidFill>
              </a:rPr>
              <a:t>1</a:t>
            </a:r>
            <a:r>
              <a:rPr lang="en-US" sz="1400" b="1" dirty="0"/>
              <a:t>]</a:t>
            </a:r>
            <a:endParaRPr lang="en-US" altLang="zh-CN" sz="1400" b="1" dirty="0"/>
          </a:p>
          <a:p>
            <a:pPr>
              <a:lnSpc>
                <a:spcPct val="135000"/>
              </a:lnSpc>
            </a:pPr>
            <a:r>
              <a:rPr lang="en-US" altLang="zh-CN" sz="1400" b="1" dirty="0"/>
              <a:t>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7057637" y="5521569"/>
            <a:ext cx="1840178" cy="508363"/>
          </a:xfrm>
          <a:prstGeom prst="rect">
            <a:avLst/>
          </a:prstGeom>
          <a:solidFill>
            <a:srgbClr val="FFC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smtClean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57637" y="5614433"/>
            <a:ext cx="1796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smtClean="0"/>
              <a:t>40 rows in total !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4993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and Cartesian Product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tables have columns with the same name, ambiguity will result.</a:t>
            </a:r>
          </a:p>
          <a:p>
            <a:r>
              <a:rPr lang="en-US" dirty="0"/>
              <a:t>This can be resolved by referencing columns with the table name:</a:t>
            </a:r>
            <a:endParaRPr lang="en-GB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>
              <a:buNone/>
            </a:pPr>
            <a:r>
              <a:rPr lang="en-GB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</a:t>
            </a:r>
            <a:r>
              <a:rPr lang="en-GB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TableName.ColumnName</a:t>
            </a:r>
            <a:endParaRPr lang="en-US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r>
              <a:rPr lang="en-US" dirty="0">
                <a:sym typeface="Courier New" panose="02070309020205020404"/>
              </a:rPr>
              <a:t>For example:</a:t>
            </a:r>
          </a:p>
          <a:p>
            <a:endParaRPr lang="en-US" dirty="0">
              <a:sym typeface="Courier New" panose="02070309020205020404"/>
            </a:endParaRPr>
          </a:p>
          <a:p>
            <a:endParaRPr lang="en-US" dirty="0">
              <a:sym typeface="Courier New" panose="02070309020205020404"/>
            </a:endParaRPr>
          </a:p>
          <a:p>
            <a:r>
              <a:rPr lang="en-US" dirty="0">
                <a:sym typeface="Courier New" panose="02070309020205020404"/>
              </a:rPr>
              <a:t>The statement below is </a:t>
            </a:r>
            <a:r>
              <a:rPr lang="en-US" dirty="0">
                <a:solidFill>
                  <a:srgbClr val="FF0000"/>
                </a:solidFill>
                <a:sym typeface="Courier New" panose="02070309020205020404"/>
              </a:rPr>
              <a:t>wrong (ambiguous):</a:t>
            </a:r>
          </a:p>
          <a:p>
            <a:pPr lvl="1"/>
            <a:endParaRPr lang="en-GB" dirty="0">
              <a:sym typeface="Courier New" panose="02070309020205020404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25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4EAA29-5524-F3D0-5055-F76EBCA463F8}"/>
              </a:ext>
            </a:extLst>
          </p:cNvPr>
          <p:cNvSpPr txBox="1"/>
          <p:nvPr/>
        </p:nvSpPr>
        <p:spPr>
          <a:xfrm>
            <a:off x="1033932" y="3600930"/>
            <a:ext cx="70761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US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Student.ID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Student, Grade 	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  <a:r>
              <a:rPr lang="en-US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Student.ID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</a:t>
            </a:r>
            <a:r>
              <a:rPr lang="en-US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Grade.ID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E2DDA-AC8E-575D-F395-D6D523962F06}"/>
              </a:ext>
            </a:extLst>
          </p:cNvPr>
          <p:cNvSpPr txBox="1"/>
          <p:nvPr/>
        </p:nvSpPr>
        <p:spPr>
          <a:xfrm>
            <a:off x="1033932" y="5020162"/>
            <a:ext cx="70761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ID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Student, Grade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  <a:r>
              <a:rPr lang="en-US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Student.ID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</a:t>
            </a:r>
            <a:r>
              <a:rPr lang="en-US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Grade.ID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8774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Cartesian Product: Practical 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49" y="1264514"/>
            <a:ext cx="4130919" cy="491244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ym typeface="Courier New" panose="02070309020205020404"/>
              </a:rPr>
              <a:t>In this example, we want to find the names and marks of students.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dirty="0">
              <a:sym typeface="Courier New" panose="02070309020205020404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</a:p>
          <a:p>
            <a:pPr marL="0" lvl="0" indent="45720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First, Last, Mark</a:t>
            </a:r>
          </a:p>
          <a:p>
            <a:pPr marL="0" lvl="0" indent="45720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Student, Grade</a:t>
            </a:r>
            <a:endParaRPr lang="en-US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45720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(Student.ID = Grade.ID)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AND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(Mark &gt;= 40);</a:t>
            </a:r>
          </a:p>
          <a:p>
            <a:endParaRPr lang="en-GB" sz="240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26</a:t>
            </a:fld>
            <a:endParaRPr lang="zh-CN" altLang="en-US" dirty="0"/>
          </a:p>
        </p:txBody>
      </p:sp>
      <p:pic>
        <p:nvPicPr>
          <p:cNvPr id="8" name="Google Shape;174;p28">
            <a:extLst>
              <a:ext uri="{FF2B5EF4-FFF2-40B4-BE49-F238E27FC236}">
                <a16:creationId xmlns:a16="http://schemas.microsoft.com/office/drawing/2014/main" id="{D249BB66-6C28-25A5-0A9C-B347ABF6D75C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95850" y="1917700"/>
            <a:ext cx="3352800" cy="3606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0;p29"/>
          <p:cNvSpPr txBox="1"/>
          <p:nvPr/>
        </p:nvSpPr>
        <p:spPr>
          <a:xfrm>
            <a:off x="164421" y="610232"/>
            <a:ext cx="8815156" cy="705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... FROM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Student, Grade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WHERE ...</a:t>
            </a:r>
          </a:p>
        </p:txBody>
      </p:sp>
      <p:pic>
        <p:nvPicPr>
          <p:cNvPr id="7" name="Google Shape;181;p29"/>
          <p:cNvPicPr preferRelativeResize="0"/>
          <p:nvPr/>
        </p:nvPicPr>
        <p:blipFill rotWithShape="1">
          <a:blip r:embed="rId2"/>
          <a:srcRect b="1718"/>
          <a:stretch>
            <a:fillRect/>
          </a:stretch>
        </p:blipFill>
        <p:spPr>
          <a:xfrm>
            <a:off x="1949650" y="1603503"/>
            <a:ext cx="5244699" cy="40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27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7;p30"/>
          <p:cNvSpPr txBox="1"/>
          <p:nvPr/>
        </p:nvSpPr>
        <p:spPr>
          <a:xfrm>
            <a:off x="114300" y="424543"/>
            <a:ext cx="9029700" cy="12417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... FROM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Student, Grade 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(Student.ID = Grade.ID)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AND ...</a:t>
            </a:r>
          </a:p>
        </p:txBody>
      </p:sp>
      <p:pic>
        <p:nvPicPr>
          <p:cNvPr id="5" name="Google Shape;188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82212" y="1666296"/>
            <a:ext cx="7093876" cy="377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4;p31"/>
          <p:cNvSpPr txBox="1"/>
          <p:nvPr/>
        </p:nvSpPr>
        <p:spPr>
          <a:xfrm>
            <a:off x="876300" y="277586"/>
            <a:ext cx="7391400" cy="19757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... FROM </a:t>
            </a:r>
            <a:r>
              <a:rPr lang="en-US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Student,Grade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(Student.ID = Grade.ID)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AND </a:t>
            </a:r>
            <a:r>
              <a:rPr lang="en-US" dirty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(Mark &gt;= 40)</a:t>
            </a:r>
          </a:p>
        </p:txBody>
      </p:sp>
      <p:pic>
        <p:nvPicPr>
          <p:cNvPr id="3" name="Google Shape;195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76300" y="2253343"/>
            <a:ext cx="739140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1;p32"/>
          <p:cNvSpPr txBox="1"/>
          <p:nvPr/>
        </p:nvSpPr>
        <p:spPr>
          <a:xfrm>
            <a:off x="268350" y="465364"/>
            <a:ext cx="8607300" cy="1862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US" dirty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First, Last, Mark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FROM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Student, Grade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WHERE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(Student.ID = Grade.ID)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AND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(Mark &gt;= 40)</a:t>
            </a:r>
          </a:p>
        </p:txBody>
      </p:sp>
      <p:pic>
        <p:nvPicPr>
          <p:cNvPr id="3" name="Google Shape;202;p3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647950" y="2327989"/>
            <a:ext cx="3848100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from Multiple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clause is a key feature when selecting from multiple tables.</a:t>
            </a:r>
          </a:p>
          <a:p>
            <a:r>
              <a:rPr lang="en-GB" dirty="0"/>
              <a:t>Unrelated combinations can be filtered out.</a:t>
            </a:r>
          </a:p>
          <a:p>
            <a:r>
              <a:rPr lang="en-GB" dirty="0"/>
              <a:t>Another query example with 3 tables:</a:t>
            </a:r>
          </a:p>
          <a:p>
            <a:endParaRPr lang="en-GB" dirty="0"/>
          </a:p>
          <a:p>
            <a:endParaRPr lang="en-GB" dirty="0"/>
          </a:p>
          <a:p>
            <a:pPr marL="0" lvl="0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* FROM </a:t>
            </a:r>
          </a:p>
          <a:p>
            <a:pPr marL="0" lvl="0" indent="457200">
              <a:spcBef>
                <a:spcPts val="0"/>
              </a:spcBef>
              <a:buNone/>
            </a:pP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Student, Grade, Course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</a:p>
          <a:p>
            <a:pPr marL="0" lvl="0" indent="457200">
              <a:spcBef>
                <a:spcPts val="0"/>
              </a:spcBef>
              <a:buNone/>
            </a:pP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Student.ID = Grade.ID 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AND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457200" lvl="0" indent="0">
              <a:spcBef>
                <a:spcPts val="0"/>
              </a:spcBef>
              <a:buNone/>
            </a:pPr>
            <a:r>
              <a:rPr lang="en-US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Course.Code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</a:t>
            </a:r>
            <a:r>
              <a:rPr lang="en-US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Grade.Code</a:t>
            </a:r>
            <a:endParaRPr lang="en-US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31</a:t>
            </a:fld>
            <a:endParaRPr lang="zh-CN" altLang="en-US" dirty="0"/>
          </a:p>
        </p:txBody>
      </p:sp>
      <p:pic>
        <p:nvPicPr>
          <p:cNvPr id="6" name="Google Shape;86;p16" descr="Screen Shot 2016-02-23 at 17.51.26.png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991225" y="3028950"/>
            <a:ext cx="2759582" cy="22803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5;p3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777101"/>
            <a:ext cx="9143999" cy="50440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32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1;p3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89425" y="448750"/>
            <a:ext cx="7365150" cy="56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 Yourself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SQL statements to do the following: </a:t>
            </a:r>
          </a:p>
          <a:p>
            <a:r>
              <a:rPr lang="en-US" sz="2400" dirty="0"/>
              <a:t>Produce a list of all student names and all their enrolments (module codes) </a:t>
            </a:r>
          </a:p>
          <a:p>
            <a:endParaRPr lang="en-US" sz="2400" dirty="0"/>
          </a:p>
          <a:p>
            <a:r>
              <a:rPr lang="en-US" sz="2400" dirty="0"/>
              <a:t>Find a list of module titles being taken by the student named “Harrison” </a:t>
            </a:r>
          </a:p>
          <a:p>
            <a:endParaRPr lang="en-US" sz="2400" dirty="0"/>
          </a:p>
          <a:p>
            <a:r>
              <a:rPr lang="en-US" sz="2400" dirty="0"/>
              <a:t>Find a list of module codes and titles for all modules currently being taken by first year students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80" y="5164585"/>
            <a:ext cx="3352800" cy="5238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384" y="5164585"/>
            <a:ext cx="3133725" cy="5143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350" y="5155060"/>
            <a:ext cx="1257300" cy="5238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34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28650"/>
            <a:ext cx="7886700" cy="5396593"/>
          </a:xfrm>
        </p:spPr>
        <p:txBody>
          <a:bodyPr>
            <a:normAutofit/>
          </a:bodyPr>
          <a:lstStyle/>
          <a:p>
            <a:pPr marL="114300" lvl="0" indent="0">
              <a:spcBef>
                <a:spcPts val="0"/>
              </a:spcBef>
              <a:buSzPts val="1800"/>
              <a:buNone/>
            </a:pP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sName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mCode</a:t>
            </a:r>
            <a:endParaRPr lang="en-GB" sz="24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14300" lvl="0" indent="0">
              <a:spcBef>
                <a:spcPts val="0"/>
              </a:spcBef>
              <a:buSzPts val="1800"/>
              <a:buNone/>
            </a:pP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FROM 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Student, Enrolment</a:t>
            </a: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114300" lvl="0" indent="0">
              <a:spcBef>
                <a:spcPts val="0"/>
              </a:spcBef>
              <a:buSzPts val="1800"/>
              <a:buNone/>
            </a:pP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WHERE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Student.sID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Enrolment.sID</a:t>
            </a: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</a:p>
          <a:p>
            <a:pPr marL="114300" lvl="0" indent="0">
              <a:spcBef>
                <a:spcPts val="0"/>
              </a:spcBef>
              <a:buSzPts val="1800"/>
              <a:buNone/>
            </a:pPr>
            <a:endParaRPr lang="en-GB" sz="24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14300" lvl="0" indent="0">
              <a:spcBef>
                <a:spcPts val="0"/>
              </a:spcBef>
              <a:buSzPts val="1800"/>
              <a:buNone/>
            </a:pP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mTitle</a:t>
            </a:r>
            <a:endParaRPr lang="en-GB" sz="24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14300" lvl="0" indent="0">
              <a:spcBef>
                <a:spcPts val="0"/>
              </a:spcBef>
              <a:buSzPts val="1800"/>
              <a:buNone/>
            </a:pP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FROM 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Module, Student, Enrolment</a:t>
            </a: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WHERE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Module.mCode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Enrolment.mCode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endParaRPr lang="en-GB" sz="24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14300" lvl="0" indent="0">
              <a:spcBef>
                <a:spcPts val="0"/>
              </a:spcBef>
              <a:buSzPts val="1800"/>
              <a:buNone/>
            </a:pP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AND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Student.sID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Enrolment.sID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endParaRPr lang="en-GB" sz="24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14300" lvl="0" indent="0">
              <a:spcBef>
                <a:spcPts val="0"/>
              </a:spcBef>
              <a:buSzPts val="1800"/>
              <a:buNone/>
            </a:pP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AND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Student.sName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‘Harrison’;</a:t>
            </a:r>
          </a:p>
          <a:p>
            <a:pPr marL="114300" lvl="0" indent="0">
              <a:spcBef>
                <a:spcPts val="0"/>
              </a:spcBef>
              <a:buSzPts val="1800"/>
              <a:buNone/>
            </a:pPr>
            <a:endParaRPr lang="en-GB" sz="24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14300" lvl="0" indent="0">
              <a:spcBef>
                <a:spcPts val="0"/>
              </a:spcBef>
              <a:buSzPts val="1800"/>
              <a:buNone/>
            </a:pP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Module.mCode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mTitle</a:t>
            </a: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114300" lvl="0" indent="0">
              <a:spcBef>
                <a:spcPts val="0"/>
              </a:spcBef>
              <a:buSzPts val="1800"/>
              <a:buNone/>
            </a:pP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FROM 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Enrolment, Module, Student</a:t>
            </a:r>
            <a:endParaRPr lang="en-GB" sz="24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14300" lvl="0" indent="0">
              <a:spcBef>
                <a:spcPts val="0"/>
              </a:spcBef>
              <a:buSzPts val="1800"/>
              <a:buNone/>
            </a:pP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Module.mCode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Enrolment.mCode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114300" lvl="0" indent="0">
              <a:spcBef>
                <a:spcPts val="0"/>
              </a:spcBef>
              <a:buSzPts val="1800"/>
              <a:buNone/>
            </a:pP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AND 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Student.sID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Enrolment.sID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</a:p>
          <a:p>
            <a:pPr marL="114300" lvl="0" indent="0">
              <a:spcBef>
                <a:spcPts val="0"/>
              </a:spcBef>
              <a:buSzPts val="1800"/>
              <a:buNone/>
            </a:pPr>
            <a:r>
              <a:rPr lang="en-GB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AND </a:t>
            </a:r>
            <a:r>
              <a:rPr lang="en-GB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sYear</a:t>
            </a:r>
            <a:r>
              <a:rPr lang="en-GB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1;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35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Aliases rename columns or tables</a:t>
            </a:r>
          </a:p>
          <a:p>
            <a:pPr lvl="1"/>
            <a:r>
              <a:rPr lang="en-US" dirty="0"/>
              <a:t>Can make names more meaningful </a:t>
            </a:r>
          </a:p>
          <a:p>
            <a:pPr lvl="1"/>
            <a:r>
              <a:rPr lang="en-US" dirty="0"/>
              <a:t>Can shorten names, making them easier to use </a:t>
            </a:r>
          </a:p>
          <a:p>
            <a:pPr lvl="1"/>
            <a:r>
              <a:rPr lang="en-US" dirty="0"/>
              <a:t>Can resolve ambiguous names</a:t>
            </a:r>
          </a:p>
          <a:p>
            <a:pPr lvl="1"/>
            <a:endParaRPr lang="en-US" dirty="0"/>
          </a:p>
          <a:p>
            <a:r>
              <a:rPr lang="en-US" dirty="0"/>
              <a:t>Column alias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Table alias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36</a:t>
            </a:fld>
            <a:endParaRPr lang="zh-CN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1336180" y="3618580"/>
            <a:ext cx="6471635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[AS]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new-col-name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899907" y="4955565"/>
            <a:ext cx="7344179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[AS]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new-table-name</a:t>
            </a:r>
            <a:endParaRPr lang="en-GB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BC67D7-F435-7BAB-B320-FADA7B519222}"/>
              </a:ext>
            </a:extLst>
          </p:cNvPr>
          <p:cNvSpPr txBox="1"/>
          <p:nvPr/>
        </p:nvSpPr>
        <p:spPr>
          <a:xfrm>
            <a:off x="3607724" y="4373897"/>
            <a:ext cx="27063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AS keyword is </a:t>
            </a:r>
            <a:r>
              <a:rPr lang="en-US" dirty="0">
                <a:solidFill>
                  <a:srgbClr val="FF0000"/>
                </a:solidFill>
              </a:rPr>
              <a:t>optional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6E23A30-B8A3-258C-9909-7CABFD97D1FD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4855779" y="3998484"/>
            <a:ext cx="105104" cy="3754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7058178-AF14-51BA-3B05-9A604D26B369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4960883" y="4743229"/>
            <a:ext cx="0" cy="2936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Alias Example</a:t>
            </a:r>
          </a:p>
        </p:txBody>
      </p:sp>
      <p:sp>
        <p:nvSpPr>
          <p:cNvPr id="4" name="Google Shape;258;p41"/>
          <p:cNvSpPr txBox="1"/>
          <p:nvPr/>
        </p:nvSpPr>
        <p:spPr>
          <a:xfrm>
            <a:off x="3756803" y="310790"/>
            <a:ext cx="4309200" cy="310025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E.ID 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AS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empID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 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E.Name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 </a:t>
            </a:r>
            <a:r>
              <a:rPr lang="en-US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W.Department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Employee E, 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WorksIn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W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E.ID = W.ID;</a:t>
            </a:r>
          </a:p>
        </p:txBody>
      </p:sp>
      <p:pic>
        <p:nvPicPr>
          <p:cNvPr id="5" name="Google Shape;259;p4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41000" y="1429327"/>
            <a:ext cx="2190750" cy="3238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Google Shape;260;p41"/>
          <p:cNvSpPr txBox="1"/>
          <p:nvPr/>
        </p:nvSpPr>
        <p:spPr>
          <a:xfrm>
            <a:off x="628650" y="4916180"/>
            <a:ext cx="708338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Note: You cannot use a column alias in a WHERE clause:</a:t>
            </a:r>
            <a:endParaRPr sz="24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37</a:t>
            </a:fld>
            <a:endParaRPr lang="zh-CN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1126901" y="5571980"/>
            <a:ext cx="5054958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...WHERE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E.ID 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AS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000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empID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W.ID;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4434" y="5769735"/>
            <a:ext cx="89851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Wrong!</a:t>
            </a:r>
          </a:p>
        </p:txBody>
      </p:sp>
      <p:pic>
        <p:nvPicPr>
          <p:cNvPr id="10" name="Google Shape;267;p4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268447" y="3495896"/>
            <a:ext cx="3267075" cy="152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Right Arrow 10"/>
          <p:cNvSpPr/>
          <p:nvPr/>
        </p:nvSpPr>
        <p:spPr>
          <a:xfrm>
            <a:off x="3271234" y="3902299"/>
            <a:ext cx="1790163" cy="355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Aliases and ‘Self-Joins’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sym typeface="Courier New" panose="02070309020205020404"/>
              </a:rPr>
              <a:t>Aliases can be used to copy a table, so that it can be combined with itself.</a:t>
            </a:r>
          </a:p>
          <a:p>
            <a:pPr>
              <a:spcBef>
                <a:spcPts val="0"/>
              </a:spcBef>
            </a:pPr>
            <a:r>
              <a:rPr lang="en-US" dirty="0">
                <a:sym typeface="Courier New" panose="02070309020205020404"/>
              </a:rPr>
              <a:t>The example below finds the names of all employees who work in the same department as Andy.</a:t>
            </a:r>
          </a:p>
        </p:txBody>
      </p:sp>
      <p:pic>
        <p:nvPicPr>
          <p:cNvPr id="4" name="Google Shape;274;p4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350601" y="3190875"/>
            <a:ext cx="2476500" cy="23050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38</a:t>
            </a:fld>
            <a:endParaRPr lang="zh-CN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1013322" y="3004572"/>
            <a:ext cx="3952607" cy="267765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A.Name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Employee A, 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Employee B </a:t>
            </a: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A.Dept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B.Dept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B.Name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'Andy';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Aliases and ‘Self-Joins’</a:t>
            </a:r>
          </a:p>
        </p:txBody>
      </p:sp>
      <p:sp>
        <p:nvSpPr>
          <p:cNvPr id="4" name="Google Shape;280;p44"/>
          <p:cNvSpPr txBox="1"/>
          <p:nvPr/>
        </p:nvSpPr>
        <p:spPr>
          <a:xfrm>
            <a:off x="1218802" y="1883567"/>
            <a:ext cx="1907973" cy="47528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</a:pPr>
            <a:r>
              <a:rPr lang="en-GB" dirty="0"/>
              <a:t>Employee A</a:t>
            </a:r>
          </a:p>
        </p:txBody>
      </p:sp>
      <p:pic>
        <p:nvPicPr>
          <p:cNvPr id="6" name="Google Shape;282;p4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218802" y="2677653"/>
            <a:ext cx="2431149" cy="235304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Google Shape;283;p4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494050" y="2677653"/>
            <a:ext cx="2431148" cy="235304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39</a:t>
            </a:fld>
            <a:endParaRPr lang="zh-CN" altLang="en-US" dirty="0"/>
          </a:p>
        </p:txBody>
      </p:sp>
      <p:sp>
        <p:nvSpPr>
          <p:cNvPr id="9" name="Google Shape;280;p44"/>
          <p:cNvSpPr txBox="1"/>
          <p:nvPr/>
        </p:nvSpPr>
        <p:spPr>
          <a:xfrm>
            <a:off x="5494050" y="1883567"/>
            <a:ext cx="1907973" cy="47528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</a:pPr>
            <a:r>
              <a:rPr lang="en-GB" dirty="0"/>
              <a:t>Employee 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Aliases and ‘Self-Joins’</a:t>
            </a:r>
          </a:p>
        </p:txBody>
      </p:sp>
      <p:sp>
        <p:nvSpPr>
          <p:cNvPr id="8" name="Google Shape;289;p45"/>
          <p:cNvSpPr txBox="1"/>
          <p:nvPr/>
        </p:nvSpPr>
        <p:spPr>
          <a:xfrm>
            <a:off x="628650" y="1325666"/>
            <a:ext cx="7886700" cy="47788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...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Employee A, Employee B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...</a:t>
            </a:r>
          </a:p>
        </p:txBody>
      </p:sp>
      <p:pic>
        <p:nvPicPr>
          <p:cNvPr id="9" name="Google Shape;290;p45"/>
          <p:cNvPicPr preferRelativeResize="0"/>
          <p:nvPr/>
        </p:nvPicPr>
        <p:blipFill rotWithShape="1">
          <a:blip r:embed="rId2"/>
          <a:srcRect b="4275"/>
          <a:stretch>
            <a:fillRect/>
          </a:stretch>
        </p:blipFill>
        <p:spPr>
          <a:xfrm>
            <a:off x="2120870" y="2004646"/>
            <a:ext cx="4559362" cy="37806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40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Aliases and ‘Self-Joins’</a:t>
            </a:r>
          </a:p>
        </p:txBody>
      </p:sp>
      <p:pic>
        <p:nvPicPr>
          <p:cNvPr id="9" name="Google Shape;297;p4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233430" y="2407232"/>
            <a:ext cx="4536464" cy="3705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41</a:t>
            </a:fld>
            <a:endParaRPr lang="zh-CN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844062" y="1332342"/>
            <a:ext cx="7315200" cy="83099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...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Employee A, Employee B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A.Dept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B.Dept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...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Aliases and ‘Self-Joins’</a:t>
            </a:r>
          </a:p>
        </p:txBody>
      </p:sp>
      <p:pic>
        <p:nvPicPr>
          <p:cNvPr id="6" name="Google Shape;304;p4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876268" y="3506824"/>
            <a:ext cx="5391463" cy="178227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69298" y="1843186"/>
            <a:ext cx="7227277" cy="120032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...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Employee A, Employee B</a:t>
            </a: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WHERE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A.Dept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B.Dept</a:t>
            </a:r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B.Name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'Andy';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Aliases and ‘Self-Joins’</a:t>
            </a:r>
          </a:p>
        </p:txBody>
      </p:sp>
      <p:pic>
        <p:nvPicPr>
          <p:cNvPr id="4" name="Google Shape;311;p4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364848" y="3970006"/>
            <a:ext cx="1302275" cy="196012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628650" y="4497387"/>
            <a:ext cx="47126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Names of all employees who work in the same department as Andy.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5030" y="1564908"/>
            <a:ext cx="6013939" cy="156966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A.Name</a:t>
            </a:r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FROM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 A, Employee B </a:t>
            </a: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WHERE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A.Dept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B.Dept</a:t>
            </a:r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AND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B.Name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'Andy';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69877" y="4765431"/>
            <a:ext cx="1002323" cy="3692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Subqueries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Handling sets returned by subqueries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44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Subqueries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SELECT statement can be nested inside another query to form a subquery </a:t>
            </a:r>
          </a:p>
          <a:p>
            <a:r>
              <a:rPr lang="en-US" dirty="0"/>
              <a:t>The results of the subquery are passed back to the containing query</a:t>
            </a:r>
          </a:p>
          <a:p>
            <a:r>
              <a:rPr lang="en-US" dirty="0"/>
              <a:t>For example, retrieve a list of names of people who are in Andy’s department: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45</a:t>
            </a:fld>
            <a:endParaRPr lang="zh-CN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890336" y="3912167"/>
            <a:ext cx="7363327" cy="156966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Name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Employee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WHERE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Dept =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(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Dept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Employee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WHERE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Name = 'Andy') </a:t>
            </a:r>
            <a:endParaRPr lang="en-GB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first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/>
              <a:t> part is evaluated.</a:t>
            </a:r>
          </a:p>
          <a:p>
            <a:r>
              <a:rPr lang="en-US" dirty="0"/>
              <a:t>For each row of Employee, we check whether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Dept</a:t>
            </a:r>
            <a:r>
              <a:rPr lang="en-US" dirty="0"/>
              <a:t> equals to the result of: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Then the columns will be filtered with the SELECT expressions.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pic>
        <p:nvPicPr>
          <p:cNvPr id="7" name="Google Shape;274;p4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300951" y="3611748"/>
            <a:ext cx="2476500" cy="23050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46</a:t>
            </a:fld>
            <a:endParaRPr lang="zh-CN" altLang="en-US" dirty="0"/>
          </a:p>
        </p:txBody>
      </p:sp>
      <p:sp>
        <p:nvSpPr>
          <p:cNvPr id="12" name="Rectangle 11"/>
          <p:cNvSpPr/>
          <p:nvPr/>
        </p:nvSpPr>
        <p:spPr>
          <a:xfrm>
            <a:off x="897024" y="3917405"/>
            <a:ext cx="5014161" cy="193899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Name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Employee </a:t>
            </a: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Dept = 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(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Dept 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Employee 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Name = 'Andy')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4249" y="2448454"/>
            <a:ext cx="7283668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Dept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Employee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Name = 'Andy')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11BB40D-D02F-BDB2-8D30-FC69B3AB8DE3}"/>
              </a:ext>
            </a:extLst>
          </p:cNvPr>
          <p:cNvSpPr/>
          <p:nvPr/>
        </p:nvSpPr>
        <p:spPr>
          <a:xfrm>
            <a:off x="4035973" y="3649032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CD6997A-031B-8390-1EDE-BFEFCAD04706}"/>
              </a:ext>
            </a:extLst>
          </p:cNvPr>
          <p:cNvSpPr/>
          <p:nvPr/>
        </p:nvSpPr>
        <p:spPr>
          <a:xfrm>
            <a:off x="5879870" y="4891095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EF6E32BE-F6AC-E899-84AC-4A20CE0EAFD4}"/>
              </a:ext>
            </a:extLst>
          </p:cNvPr>
          <p:cNvSpPr/>
          <p:nvPr/>
        </p:nvSpPr>
        <p:spPr>
          <a:xfrm>
            <a:off x="5496910" y="4445876"/>
            <a:ext cx="360000" cy="1240221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450A2E8-D690-925C-4437-7B21837105B5}"/>
              </a:ext>
            </a:extLst>
          </p:cNvPr>
          <p:cNvSpPr/>
          <p:nvPr/>
        </p:nvSpPr>
        <p:spPr>
          <a:xfrm>
            <a:off x="2515172" y="3647711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05633C4-4FEF-7D4D-5740-CE75E1749774}"/>
              </a:ext>
            </a:extLst>
          </p:cNvPr>
          <p:cNvSpPr/>
          <p:nvPr/>
        </p:nvSpPr>
        <p:spPr>
          <a:xfrm>
            <a:off x="4296083" y="5080088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2.1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E88A8F6-AFE5-81AB-255B-ECD2CF5CDD39}"/>
              </a:ext>
            </a:extLst>
          </p:cNvPr>
          <p:cNvSpPr/>
          <p:nvPr/>
        </p:nvSpPr>
        <p:spPr>
          <a:xfrm>
            <a:off x="3706835" y="5748915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2.2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AA3E2C8-CF2B-AECF-2E8B-EBE804FEFE9D}"/>
              </a:ext>
            </a:extLst>
          </p:cNvPr>
          <p:cNvSpPr/>
          <p:nvPr/>
        </p:nvSpPr>
        <p:spPr>
          <a:xfrm>
            <a:off x="3936083" y="4710678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2.3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7644DAD-B48F-1851-539E-06A1AE68484B}"/>
              </a:ext>
            </a:extLst>
          </p:cNvPr>
          <p:cNvSpPr/>
          <p:nvPr/>
        </p:nvSpPr>
        <p:spPr>
          <a:xfrm>
            <a:off x="3251355" y="4322059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2.4</a:t>
            </a:r>
          </a:p>
        </p:txBody>
      </p:sp>
    </p:spTree>
    <p:extLst>
      <p:ext uri="{BB962C8B-B14F-4D97-AF65-F5344CB8AC3E}">
        <p14:creationId xmlns:p14="http://schemas.microsoft.com/office/powerpoint/2010/main" val="2627768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110F-AF46-08D4-CA88-7D1238E3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Subqueries and Aliases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BABFB-00C5-3E7D-619A-07DEDDF09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use a subquery between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dirty="0"/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dirty="0"/>
              <a:t>.</a:t>
            </a:r>
          </a:p>
          <a:p>
            <a:r>
              <a:rPr lang="en-GB" dirty="0"/>
              <a:t>But the result must be renamed: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</a:p>
          <a:p>
            <a:pPr marL="0" indent="0">
              <a:buNone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name, email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teachers)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t.email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NULL;</a:t>
            </a:r>
          </a:p>
          <a:p>
            <a:endParaRPr lang="en-GB" dirty="0"/>
          </a:p>
          <a:p>
            <a:r>
              <a:rPr lang="en-GB" dirty="0"/>
              <a:t>This is </a:t>
            </a:r>
            <a:r>
              <a:rPr lang="en-GB"/>
              <a:t>because that the </a:t>
            </a:r>
            <a:r>
              <a:rPr lang="en-GB" dirty="0"/>
              <a:t>result of a subquery does not have a table name.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3B363-071B-8426-E74D-6144A2E9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B93DA-9723-4EC6-A258-D9F5FE832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43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Often a subquery will return a set of values rather than a single value </a:t>
            </a:r>
          </a:p>
          <a:p>
            <a:r>
              <a:rPr lang="en-US" dirty="0"/>
              <a:t>We cannot directly compare a single value to a set. Doing so will result in an error</a:t>
            </a:r>
          </a:p>
          <a:p>
            <a:r>
              <a:rPr lang="en-US" dirty="0"/>
              <a:t>Options for handling sets 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 : checks to see if a value is in a set 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dirty="0"/>
              <a:t> : checks to see if a set is empty 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ALL/ANY</a:t>
            </a:r>
            <a:r>
              <a:rPr lang="en-US" dirty="0"/>
              <a:t> : checks to see if a relationship holds for every/one member of a set 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dirty="0"/>
              <a:t> : can be used with any of the above 4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48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sets: </a:t>
            </a:r>
            <a:r>
              <a:rPr lang="en-GB" dirty="0"/>
              <a:t>IN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GB" dirty="0"/>
              <a:t> we can see if a given value is in a set of values 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GB" dirty="0"/>
              <a:t>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GB" dirty="0"/>
              <a:t> checks to see if a given value is not in the set 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The set can be given explicitly or can be produced in a subquery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1239251" y="3227585"/>
            <a:ext cx="5053264" cy="83099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columns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tables 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col </a:t>
            </a:r>
            <a:r>
              <a:rPr lang="en-GB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set;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9251" y="1829230"/>
            <a:ext cx="5053265" cy="83099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columns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tables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col </a:t>
            </a:r>
            <a:r>
              <a:rPr lang="en-GB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set;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9250" y="5020162"/>
            <a:ext cx="6328613" cy="83099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id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student 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id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('S103', 'S104')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348;p5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817198" y="220822"/>
            <a:ext cx="3267075" cy="2286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Google Shape;349;p5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817198" y="4162691"/>
            <a:ext cx="3324225" cy="2057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Google Shape;347;p53"/>
          <p:cNvSpPr txBox="1"/>
          <p:nvPr/>
        </p:nvSpPr>
        <p:spPr>
          <a:xfrm>
            <a:off x="49946" y="2630497"/>
            <a:ext cx="9044108" cy="798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* FROM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Employee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WHERE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Department</a:t>
            </a: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IN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Marketing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'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Sales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</a:p>
        </p:txBody>
      </p:sp>
      <p:sp>
        <p:nvSpPr>
          <p:cNvPr id="9" name="Arrow: Down 8"/>
          <p:cNvSpPr/>
          <p:nvPr/>
        </p:nvSpPr>
        <p:spPr>
          <a:xfrm>
            <a:off x="4276164" y="3556031"/>
            <a:ext cx="299677" cy="4568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7;p53"/>
          <p:cNvSpPr txBox="1"/>
          <p:nvPr/>
        </p:nvSpPr>
        <p:spPr>
          <a:xfrm>
            <a:off x="1531360" y="2506822"/>
            <a:ext cx="5838750" cy="1259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* FROM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Employee</a:t>
            </a:r>
            <a:endParaRPr lang="en-US" sz="24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Department =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Marketing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OR 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Department =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Sales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</a:p>
        </p:txBody>
      </p:sp>
      <p:sp>
        <p:nvSpPr>
          <p:cNvPr id="9" name="Arrow: Down 8"/>
          <p:cNvSpPr/>
          <p:nvPr/>
        </p:nvSpPr>
        <p:spPr>
          <a:xfrm>
            <a:off x="4276164" y="3765967"/>
            <a:ext cx="299677" cy="3672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Google Shape;358;p5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63888" y="4202371"/>
            <a:ext cx="3324225" cy="2057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8" name="Google Shape;348;p5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817198" y="220822"/>
            <a:ext cx="3267075" cy="2286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sets: </a:t>
            </a:r>
            <a:r>
              <a:rPr lang="en-GB" dirty="0"/>
              <a:t>NOT IN</a:t>
            </a:r>
          </a:p>
        </p:txBody>
      </p:sp>
      <p:pic>
        <p:nvPicPr>
          <p:cNvPr id="4" name="Google Shape;366;p55"/>
          <p:cNvPicPr preferRelativeResize="0"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887" y="1263375"/>
            <a:ext cx="3267075" cy="22860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52</a:t>
            </a:fld>
            <a:endParaRPr lang="zh-CN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4100113" y="1621545"/>
            <a:ext cx="4572000" cy="156966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Employee </a:t>
            </a: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Name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(</a:t>
            </a:r>
            <a:r>
              <a:rPr lang="en-GB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Manager </a:t>
            </a:r>
          </a:p>
          <a:p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719240" y="3099609"/>
            <a:ext cx="685800" cy="89953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oogle Shape;374;p5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51033" y="4085794"/>
            <a:ext cx="1323975" cy="204787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/>
          <p:cNvSpPr/>
          <p:nvPr/>
        </p:nvSpPr>
        <p:spPr>
          <a:xfrm>
            <a:off x="4773529" y="4624171"/>
            <a:ext cx="3368842" cy="92333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Employee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Name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NOT IN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Chris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Jane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529" y="4202806"/>
            <a:ext cx="2670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The query is equivalent to: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sets: </a:t>
            </a:r>
            <a:r>
              <a:rPr lang="en-GB" dirty="0"/>
              <a:t>EXISTS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GB" dirty="0"/>
              <a:t> we can see whether there is at least one element in a given set.</a:t>
            </a:r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NOT EXISTS</a:t>
            </a:r>
            <a:r>
              <a:rPr lang="en-GB" dirty="0"/>
              <a:t> is true if the set is empty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set is always given by a subquery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902365" y="4132848"/>
            <a:ext cx="4126831" cy="120032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columns </a:t>
            </a: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tables </a:t>
            </a: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 NOT EXISTS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set;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2366" y="2088734"/>
            <a:ext cx="4126831" cy="120032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columns </a:t>
            </a: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tables </a:t>
            </a: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 EXISTS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set;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sets: </a:t>
            </a:r>
            <a:r>
              <a:rPr lang="en-GB" dirty="0"/>
              <a:t>EXISTS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Retrieve all the info for those employees who are also managers: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5" name="Google Shape;407;p6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309812" y="1946241"/>
            <a:ext cx="3267075" cy="2286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Down Arrow 6"/>
          <p:cNvSpPr/>
          <p:nvPr/>
        </p:nvSpPr>
        <p:spPr>
          <a:xfrm>
            <a:off x="6457950" y="4232241"/>
            <a:ext cx="240632" cy="9384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oogle Shape;436;p6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27959" y="5192253"/>
            <a:ext cx="3219450" cy="1038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8"/>
          <p:cNvSpPr/>
          <p:nvPr/>
        </p:nvSpPr>
        <p:spPr>
          <a:xfrm>
            <a:off x="562610" y="3128645"/>
            <a:ext cx="6136005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* FROM</a:t>
            </a:r>
          </a:p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Employee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AS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E1</a:t>
            </a:r>
          </a:p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WHERE EXISTS</a:t>
            </a:r>
          </a:p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(SELECT * FROM</a:t>
            </a:r>
          </a:p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Employee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AS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E2</a:t>
            </a:r>
          </a:p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WHERE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E1.Name = E2.Manager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sets: </a:t>
            </a:r>
            <a:r>
              <a:rPr lang="en-GB" dirty="0"/>
              <a:t>ANY and ALL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0" lvl="0" indent="-355600">
              <a:lnSpc>
                <a:spcPct val="115000"/>
              </a:lnSpc>
              <a:spcBef>
                <a:spcPts val="0"/>
              </a:spcBef>
              <a:buSzPts val="2000"/>
              <a:buChar char="●"/>
            </a:pPr>
            <a:r>
              <a:rPr lang="en-US" dirty="0"/>
              <a:t>ANY and ALL compare a single value to a set of values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dirty="0"/>
              <a:t> </a:t>
            </a:r>
          </a:p>
          <a:p>
            <a:pPr marL="457200" lvl="0" indent="-355600">
              <a:lnSpc>
                <a:spcPct val="115000"/>
              </a:lnSpc>
              <a:spcBef>
                <a:spcPts val="0"/>
              </a:spcBef>
              <a:buSzPts val="2000"/>
              <a:buChar char="●"/>
            </a:pPr>
            <a:r>
              <a:rPr lang="en-US" dirty="0"/>
              <a:t>They are used with comparison operators like = , &gt;, &lt;, &lt;&gt;, &gt;=, &lt;=</a:t>
            </a:r>
          </a:p>
          <a:p>
            <a:pPr marL="101600" lvl="0" indent="0">
              <a:lnSpc>
                <a:spcPct val="115000"/>
              </a:lnSpc>
              <a:spcBef>
                <a:spcPts val="0"/>
              </a:spcBef>
              <a:buSzPts val="2000"/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lvl="0" indent="-355600">
              <a:lnSpc>
                <a:spcPct val="100000"/>
              </a:lnSpc>
              <a:spcBef>
                <a:spcPts val="0"/>
              </a:spcBef>
              <a:buSzPts val="2000"/>
              <a:buChar char="●"/>
            </a:pPr>
            <a:r>
              <a:rPr lang="en-US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val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ANY (set)</a:t>
            </a:r>
            <a:r>
              <a:rPr lang="en-US" dirty="0"/>
              <a:t> </a:t>
            </a:r>
          </a:p>
          <a:p>
            <a:pPr marL="914400" lvl="0" indent="-355600">
              <a:lnSpc>
                <a:spcPct val="100000"/>
              </a:lnSpc>
              <a:spcBef>
                <a:spcPts val="0"/>
              </a:spcBef>
              <a:buSzPts val="2000"/>
              <a:buChar char="●"/>
            </a:pPr>
            <a:r>
              <a:rPr lang="en-US" dirty="0"/>
              <a:t>is true if there is at least one member of the set equal to value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457200" lvl="0" indent="-355600">
              <a:lnSpc>
                <a:spcPct val="100000"/>
              </a:lnSpc>
              <a:spcBef>
                <a:spcPts val="0"/>
              </a:spcBef>
              <a:buSzPts val="2000"/>
              <a:buChar char="●"/>
            </a:pPr>
            <a:r>
              <a:rPr lang="en-US" dirty="0" err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val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ALL (set)</a:t>
            </a:r>
          </a:p>
          <a:p>
            <a:pPr marL="914400" lvl="0" indent="-355600">
              <a:lnSpc>
                <a:spcPct val="100000"/>
              </a:lnSpc>
              <a:spcBef>
                <a:spcPts val="0"/>
              </a:spcBef>
              <a:buSzPts val="2000"/>
              <a:buChar char="●"/>
            </a:pPr>
            <a:r>
              <a:rPr lang="en-US" dirty="0"/>
              <a:t>is true if all members of the set are equal to the value</a:t>
            </a:r>
            <a:endParaRPr lang="en-US" sz="3200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sets: </a:t>
            </a:r>
            <a:r>
              <a:rPr lang="en-GB" dirty="0"/>
              <a:t>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name(s) of the employee(s) who earn the highest salary</a:t>
            </a:r>
            <a:endParaRPr lang="en-GB" dirty="0"/>
          </a:p>
          <a:p>
            <a:r>
              <a:rPr lang="en-GB" dirty="0"/>
              <a:t>Employee:</a:t>
            </a:r>
          </a:p>
        </p:txBody>
      </p:sp>
      <p:pic>
        <p:nvPicPr>
          <p:cNvPr id="5" name="Google Shape;451;p6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442411" y="3897730"/>
            <a:ext cx="1533525" cy="1733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56</a:t>
            </a:fld>
            <a:endParaRPr lang="zh-CN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2834126" y="2301137"/>
            <a:ext cx="347574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Name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lvl="0" indent="45720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Employee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lvl="0" indent="45720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Salary &gt;= </a:t>
            </a:r>
          </a:p>
          <a:p>
            <a:pPr lvl="0" indent="45720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ALL (</a:t>
            </a:r>
          </a:p>
          <a:p>
            <a:pPr lvl="0" indent="457200"/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	SELECT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Salary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457200" lv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  <a:r>
              <a:rPr lang="en-US" sz="2000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Employee</a:t>
            </a:r>
            <a:r>
              <a:rPr lang="en-US" sz="2000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</a:p>
        </p:txBody>
      </p:sp>
      <p:pic>
        <p:nvPicPr>
          <p:cNvPr id="8" name="Google Shape;459;p6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072187" y="4288255"/>
            <a:ext cx="771525" cy="723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ight Arrow 8"/>
          <p:cNvSpPr/>
          <p:nvPr/>
        </p:nvSpPr>
        <p:spPr>
          <a:xfrm>
            <a:off x="3561347" y="4535905"/>
            <a:ext cx="185424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sets: </a:t>
            </a:r>
            <a:r>
              <a:rPr lang="en-GB" dirty="0"/>
              <a:t>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name(s) of the employee(s) who earn more than someone else</a:t>
            </a:r>
          </a:p>
          <a:p>
            <a:endParaRPr lang="en-GB" dirty="0"/>
          </a:p>
        </p:txBody>
      </p:sp>
      <p:pic>
        <p:nvPicPr>
          <p:cNvPr id="5" name="Google Shape;467;p6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805237" y="3134519"/>
            <a:ext cx="1533525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57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Handling sets: A</a:t>
            </a:r>
            <a:r>
              <a:rPr lang="en-US" altLang="zh-CN" dirty="0"/>
              <a:t>NY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8577" y="1886997"/>
            <a:ext cx="4229178" cy="3862881"/>
          </a:xfrm>
        </p:spPr>
        <p:txBody>
          <a:bodyPr>
            <a:normAutofit/>
          </a:bodyPr>
          <a:lstStyle/>
          <a:p>
            <a:r>
              <a:rPr lang="en-US" dirty="0"/>
              <a:t>Find the name(s) of the employee(s) who earn more than someone else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Name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0" lv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Employee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0" lv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Salary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457200" lv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ANY ( </a:t>
            </a:r>
          </a:p>
          <a:p>
            <a:pPr marL="457200" lv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Salary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</a:p>
          <a:p>
            <a:pPr marL="457200" lv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  <a:r>
              <a:rPr lang="en-US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Employee</a:t>
            </a:r>
            <a:r>
              <a:rPr lang="en-US" b="1" dirty="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</a:p>
        </p:txBody>
      </p:sp>
      <p:pic>
        <p:nvPicPr>
          <p:cNvPr id="6" name="Google Shape;474;p6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64944" y="1886997"/>
            <a:ext cx="1533525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75;p6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024590" y="4203233"/>
            <a:ext cx="771525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SQL Select (Part1)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06E8-1235-4E0F-9686-F62A88C7645C}" type="slidenum">
              <a:rPr lang="zh-CN" altLang="en-US" smtClean="0"/>
              <a:t>58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 dirty="0" smtClean="0">
            <a:solidFill>
              <a:srgbClr val="FF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3011</TotalTime>
  <Words>3081</Words>
  <Application>Microsoft Office PowerPoint</Application>
  <PresentationFormat>On-screen Show (4:3)</PresentationFormat>
  <Paragraphs>629</Paragraphs>
  <Slides>58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7" baseType="lpstr">
      <vt:lpstr>等线</vt:lpstr>
      <vt:lpstr>黑体</vt:lpstr>
      <vt:lpstr>宋体</vt:lpstr>
      <vt:lpstr>Arial</vt:lpstr>
      <vt:lpstr>Calibri</vt:lpstr>
      <vt:lpstr>Cambria</vt:lpstr>
      <vt:lpstr>Courier New</vt:lpstr>
      <vt:lpstr>Wingdings</vt:lpstr>
      <vt:lpstr>Office 主题​​</vt:lpstr>
      <vt:lpstr>SQL Select</vt:lpstr>
      <vt:lpstr>SELECT: Overview</vt:lpstr>
      <vt:lpstr>Contents</vt:lpstr>
      <vt:lpstr>Examples SEL-1</vt:lpstr>
      <vt:lpstr>SELECT</vt:lpstr>
      <vt:lpstr>DISTINCT and ALL</vt:lpstr>
      <vt:lpstr>Expressions in SELECT</vt:lpstr>
      <vt:lpstr>Where</vt:lpstr>
      <vt:lpstr>The WHERE Clause</vt:lpstr>
      <vt:lpstr>WHERE: Evaluation Process</vt:lpstr>
      <vt:lpstr>Question</vt:lpstr>
      <vt:lpstr>PowerPoint Presentation</vt:lpstr>
      <vt:lpstr>Word Search</vt:lpstr>
      <vt:lpstr>LIKE</vt:lpstr>
      <vt:lpstr>LIKE</vt:lpstr>
      <vt:lpstr>Example</vt:lpstr>
      <vt:lpstr>Solution</vt:lpstr>
      <vt:lpstr>Dealing with Date and Time</vt:lpstr>
      <vt:lpstr>Logical Statements in SELECT</vt:lpstr>
      <vt:lpstr>More about the WHERE Clause</vt:lpstr>
      <vt:lpstr>Question: Logical Operatons</vt:lpstr>
      <vt:lpstr>Select and Cartesian Product</vt:lpstr>
      <vt:lpstr>SELECT and Cartesian Product</vt:lpstr>
      <vt:lpstr>PowerPoint Presentation</vt:lpstr>
      <vt:lpstr>SELECT and Cartesian Product</vt:lpstr>
      <vt:lpstr>Cartesian Product: Practical Example</vt:lpstr>
      <vt:lpstr>PowerPoint Presentation</vt:lpstr>
      <vt:lpstr>PowerPoint Presentation</vt:lpstr>
      <vt:lpstr>PowerPoint Presentation</vt:lpstr>
      <vt:lpstr>PowerPoint Presentation</vt:lpstr>
      <vt:lpstr>SELECT from Multiple Tables</vt:lpstr>
      <vt:lpstr>PowerPoint Presentation</vt:lpstr>
      <vt:lpstr>PowerPoint Presentation</vt:lpstr>
      <vt:lpstr>Try It Yourself</vt:lpstr>
      <vt:lpstr>PowerPoint Presentation</vt:lpstr>
      <vt:lpstr>Aliases</vt:lpstr>
      <vt:lpstr>Alias Example</vt:lpstr>
      <vt:lpstr>Aliases and ‘Self-Joins’</vt:lpstr>
      <vt:lpstr>Aliases and ‘Self-Joins’</vt:lpstr>
      <vt:lpstr>Aliases and ‘Self-Joins’</vt:lpstr>
      <vt:lpstr>Aliases and ‘Self-Joins’</vt:lpstr>
      <vt:lpstr>Aliases and ‘Self-Joins’</vt:lpstr>
      <vt:lpstr>Aliases and ‘Self-Joins’</vt:lpstr>
      <vt:lpstr>Subqueries</vt:lpstr>
      <vt:lpstr>Subqueries</vt:lpstr>
      <vt:lpstr>Subqueries</vt:lpstr>
      <vt:lpstr>Subqueries and Aliases</vt:lpstr>
      <vt:lpstr>Subqueries</vt:lpstr>
      <vt:lpstr>Handling sets: IN</vt:lpstr>
      <vt:lpstr>PowerPoint Presentation</vt:lpstr>
      <vt:lpstr>PowerPoint Presentation</vt:lpstr>
      <vt:lpstr>Handling sets: NOT IN</vt:lpstr>
      <vt:lpstr>Handling sets: EXISTS</vt:lpstr>
      <vt:lpstr>Handling sets: EXISTS</vt:lpstr>
      <vt:lpstr>Handling sets: ANY and ALL</vt:lpstr>
      <vt:lpstr>Handling sets: ALL</vt:lpstr>
      <vt:lpstr>Handling sets: ANY</vt:lpstr>
      <vt:lpstr>Handling sets: ANY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Jianjun_teaching_template</dc:title>
  <dc:creator>jianjian</dc:creator>
  <cp:lastModifiedBy>Yu Liu</cp:lastModifiedBy>
  <cp:revision>463</cp:revision>
  <cp:lastPrinted>2023-10-17T03:10:38Z</cp:lastPrinted>
  <dcterms:created xsi:type="dcterms:W3CDTF">2021-03-23T11:57:00Z</dcterms:created>
  <dcterms:modified xsi:type="dcterms:W3CDTF">2024-10-21T09:03:02Z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2052-11.1.0.10446</vt:lpwstr>
  </property>
  <property fmtid="{D5CDD505-2E9C-101B-9397-08002B2CF9AE}" pid="3" name="ICV">
    <vt:lpwstr>B773E53A7D2248D3929E7718ED7CCA6A</vt:lpwstr>
  </property>
</Properties>
</file>