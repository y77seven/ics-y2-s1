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emf" ContentType="image/x-emf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63" r:id="rId3"/>
    <p:sldId id="264" r:id="rId4"/>
    <p:sldId id="260" r:id="rId5"/>
    <p:sldId id="259" r:id="rId6"/>
    <p:sldId id="261" r:id="rId7"/>
    <p:sldId id="262" r:id="rId8"/>
    <p:sldId id="257" r:id="rId9"/>
    <p:sldId id="25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CC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2" autoAdjust="0"/>
    <p:restoredTop sz="94660"/>
  </p:normalViewPr>
  <p:slideViewPr>
    <p:cSldViewPr snapToGrid="0">
      <p:cViewPr varScale="1">
        <p:scale>
          <a:sx n="77" d="100"/>
          <a:sy n="77" d="100"/>
        </p:scale>
        <p:origin x="51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customXml" Target="../customXml/item3.xml"/><Relationship Id="rId16" Type="http://schemas.openxmlformats.org/officeDocument/2006/relationships/customXml" Target="../customXml/item2.xml"/><Relationship Id="rId15" Type="http://schemas.openxmlformats.org/officeDocument/2006/relationships/customXml" Target="../customXml/item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B44515-AB57-46D7-9376-F2FE5A9B2789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571E92-F6F3-43D5-9401-A83B97298AA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7EA8C-4442-2B43-BEFB-AB7F822E7733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665163"/>
            <a:ext cx="9144000" cy="2154848"/>
          </a:xfrm>
        </p:spPr>
        <p:txBody>
          <a:bodyPr anchor="b"/>
          <a:lstStyle>
            <a:lvl1pPr algn="l">
              <a:defRPr sz="6000" b="1">
                <a:solidFill>
                  <a:srgbClr val="002060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2996708"/>
            <a:ext cx="9144000" cy="692760"/>
          </a:xfrm>
        </p:spPr>
        <p:txBody>
          <a:bodyPr>
            <a:normAutofit/>
          </a:bodyPr>
          <a:lstStyle>
            <a:lvl1pPr marL="0" indent="0" algn="l">
              <a:buNone/>
              <a:defRPr sz="3600">
                <a:solidFill>
                  <a:srgbClr val="00206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824725"/>
            <a:ext cx="4222886" cy="8967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9466684" y="6273100"/>
            <a:ext cx="2177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85B5F92-075B-4129-B685-2F4B8F62A5A3}" type="datetime4">
              <a:rPr lang="en-GB" smtClean="0">
                <a:solidFill>
                  <a:schemeClr val="bg2">
                    <a:lumMod val="50000"/>
                  </a:schemeClr>
                </a:solidFill>
              </a:rPr>
            </a:fld>
            <a:endParaRPr lang="en-GB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838200" y="3978275"/>
            <a:ext cx="3768725" cy="1211263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 b="1">
                <a:solidFill>
                  <a:srgbClr val="002060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7ADF1-D216-453C-B0DA-3B5BB2FDD83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alphaModFix amt="7000"/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</a:blip>
          <a:stretch>
            <a:fillRect/>
          </a:stretch>
        </p:blipFill>
        <p:spPr>
          <a:xfrm>
            <a:off x="10355395" y="0"/>
            <a:ext cx="1821117" cy="6858000"/>
          </a:xfrm>
          <a:prstGeom prst="rect">
            <a:avLst/>
          </a:prstGeom>
        </p:spPr>
      </p:pic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1D0367-918D-436A-A165-E28226D59459}" type="slidenum">
              <a:rPr lang="en-US" smtClean="0"/>
            </a:fld>
            <a:endParaRPr lang="en-US"/>
          </a:p>
        </p:txBody>
      </p:sp>
      <p:pic>
        <p:nvPicPr>
          <p:cNvPr id="9" name="Picture 8" descr="Shield-navy(rgb for online)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9252" y="6095745"/>
            <a:ext cx="413401" cy="52120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7ADF1-D216-453C-B0DA-3B5BB2FDD83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alphaModFix amt="7000"/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</a:blip>
          <a:stretch>
            <a:fillRect/>
          </a:stretch>
        </p:blipFill>
        <p:spPr>
          <a:xfrm>
            <a:off x="10355395" y="0"/>
            <a:ext cx="1821117" cy="6858000"/>
          </a:xfrm>
          <a:prstGeom prst="rect">
            <a:avLst/>
          </a:prstGeom>
        </p:spPr>
      </p:pic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1D0367-918D-436A-A165-E28226D59459}" type="slidenum">
              <a:rPr lang="en-US" smtClean="0"/>
            </a:fld>
            <a:endParaRPr lang="en-US"/>
          </a:p>
        </p:txBody>
      </p:sp>
      <p:pic>
        <p:nvPicPr>
          <p:cNvPr id="8" name="Picture 7" descr="Shield-navy(rgb for online)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9252" y="6095745"/>
            <a:ext cx="413401" cy="52120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 b="1">
                <a:solidFill>
                  <a:srgbClr val="002060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7ADF1-D216-453C-B0DA-3B5BB2FDD83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alphaModFix amt="7000"/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</a:blip>
          <a:stretch>
            <a:fillRect/>
          </a:stretch>
        </p:blipFill>
        <p:spPr>
          <a:xfrm>
            <a:off x="10355395" y="0"/>
            <a:ext cx="1821117" cy="6858000"/>
          </a:xfrm>
          <a:prstGeom prst="rect">
            <a:avLst/>
          </a:prstGeom>
        </p:spPr>
      </p:pic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1D0367-918D-436A-A165-E28226D59459}" type="slidenum">
              <a:rPr lang="en-US" smtClean="0"/>
            </a:fld>
            <a:endParaRPr lang="en-US"/>
          </a:p>
        </p:txBody>
      </p:sp>
      <p:pic>
        <p:nvPicPr>
          <p:cNvPr id="9" name="Picture 8" descr="Shield-navy(rgb for online)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9252" y="6095745"/>
            <a:ext cx="413401" cy="52120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002060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7ADF1-D216-453C-B0DA-3B5BB2FDD83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alphaModFix amt="7000"/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</a:blip>
          <a:stretch>
            <a:fillRect/>
          </a:stretch>
        </p:blipFill>
        <p:spPr>
          <a:xfrm>
            <a:off x="10355395" y="0"/>
            <a:ext cx="1821117" cy="6858000"/>
          </a:xfrm>
          <a:prstGeom prst="rect">
            <a:avLst/>
          </a:prstGeom>
        </p:spPr>
      </p:pic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1D0367-918D-436A-A165-E28226D59459}" type="slidenum">
              <a:rPr lang="en-US" smtClean="0"/>
            </a:fld>
            <a:endParaRPr lang="en-US"/>
          </a:p>
        </p:txBody>
      </p:sp>
      <p:pic>
        <p:nvPicPr>
          <p:cNvPr id="11" name="Picture 10" descr="Shield-navy(rgb for online)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9252" y="6095745"/>
            <a:ext cx="413401" cy="52120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 b="1">
                <a:solidFill>
                  <a:srgbClr val="002060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7ADF1-D216-453C-B0DA-3B5BB2FDD83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alphaModFix amt="7000"/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</a:blip>
          <a:stretch>
            <a:fillRect/>
          </a:stretch>
        </p:blipFill>
        <p:spPr>
          <a:xfrm>
            <a:off x="10355395" y="0"/>
            <a:ext cx="1821117" cy="6858000"/>
          </a:xfrm>
          <a:prstGeom prst="rect">
            <a:avLst/>
          </a:prstGeom>
        </p:spPr>
      </p:pic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1D0367-918D-436A-A165-E28226D59459}" type="slidenum">
              <a:rPr lang="en-US" smtClean="0"/>
            </a:fld>
            <a:endParaRPr lang="en-US"/>
          </a:p>
        </p:txBody>
      </p:sp>
      <p:pic>
        <p:nvPicPr>
          <p:cNvPr id="7" name="Picture 6" descr="Shield-navy(rgb for online)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9252" y="6095745"/>
            <a:ext cx="413401" cy="52120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7ADF1-D216-453C-B0DA-3B5BB2FDD83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alphaModFix amt="7000"/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</a:blip>
          <a:stretch>
            <a:fillRect/>
          </a:stretch>
        </p:blipFill>
        <p:spPr>
          <a:xfrm>
            <a:off x="10355395" y="0"/>
            <a:ext cx="1821117" cy="6858000"/>
          </a:xfrm>
          <a:prstGeom prst="rect">
            <a:avLst/>
          </a:prstGeom>
        </p:spPr>
      </p:pic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1D0367-918D-436A-A165-E28226D59459}" type="slidenum">
              <a:rPr lang="en-US" smtClean="0"/>
            </a:fld>
            <a:endParaRPr lang="en-US"/>
          </a:p>
        </p:txBody>
      </p:sp>
      <p:pic>
        <p:nvPicPr>
          <p:cNvPr id="6" name="Picture 5" descr="Shield-navy(rgb for online)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9252" y="6095745"/>
            <a:ext cx="413401" cy="52120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7ADF1-D216-453C-B0DA-3B5BB2FDD83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alphaModFix amt="7000"/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</a:blip>
          <a:stretch>
            <a:fillRect/>
          </a:stretch>
        </p:blipFill>
        <p:spPr>
          <a:xfrm>
            <a:off x="10355395" y="0"/>
            <a:ext cx="1821117" cy="6858000"/>
          </a:xfrm>
          <a:prstGeom prst="rect">
            <a:avLst/>
          </a:prstGeom>
        </p:spPr>
      </p:pic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1D0367-918D-436A-A165-E28226D59459}" type="slidenum">
              <a:rPr lang="en-US" smtClean="0"/>
            </a:fld>
            <a:endParaRPr lang="en-US"/>
          </a:p>
        </p:txBody>
      </p:sp>
      <p:pic>
        <p:nvPicPr>
          <p:cNvPr id="9" name="Picture 8" descr="Shield-navy(rgb for online)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9252" y="6095745"/>
            <a:ext cx="413401" cy="52120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7ADF1-D216-453C-B0DA-3B5BB2FDD83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alphaModFix amt="7000"/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</a:blip>
          <a:stretch>
            <a:fillRect/>
          </a:stretch>
        </p:blipFill>
        <p:spPr>
          <a:xfrm>
            <a:off x="10355395" y="0"/>
            <a:ext cx="1821117" cy="6858000"/>
          </a:xfrm>
          <a:prstGeom prst="rect">
            <a:avLst/>
          </a:prstGeom>
        </p:spPr>
      </p:pic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1D0367-918D-436A-A165-E28226D59459}" type="slidenum">
              <a:rPr lang="en-US" smtClean="0"/>
            </a:fld>
            <a:endParaRPr lang="en-US"/>
          </a:p>
        </p:txBody>
      </p:sp>
      <p:pic>
        <p:nvPicPr>
          <p:cNvPr id="9" name="Picture 8" descr="Shield-navy(rgb for online)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9252" y="6095745"/>
            <a:ext cx="413401" cy="52120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 b="1">
                <a:solidFill>
                  <a:srgbClr val="002060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7ADF1-D216-453C-B0DA-3B5BB2FDD83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alphaModFix amt="7000"/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</a:blip>
          <a:stretch>
            <a:fillRect/>
          </a:stretch>
        </p:blipFill>
        <p:spPr>
          <a:xfrm>
            <a:off x="10355395" y="0"/>
            <a:ext cx="1821117" cy="6858000"/>
          </a:xfrm>
          <a:prstGeom prst="rect">
            <a:avLst/>
          </a:prstGeom>
        </p:spPr>
      </p:pic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1D0367-918D-436A-A165-E28226D59459}" type="slidenum">
              <a:rPr lang="en-US" smtClean="0"/>
            </a:fld>
            <a:endParaRPr lang="en-US"/>
          </a:p>
        </p:txBody>
      </p:sp>
      <p:pic>
        <p:nvPicPr>
          <p:cNvPr id="8" name="Picture 7" descr="Shield-navy(rgb for online)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9252" y="6095745"/>
            <a:ext cx="413401" cy="52120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>
            <a:normAutofit/>
          </a:bodyPr>
          <a:lstStyle>
            <a:lvl1pPr>
              <a:defRPr sz="28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7ADF1-D216-453C-B0DA-3B5BB2FDD83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alphaModFix amt="7000"/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</a:blip>
          <a:stretch>
            <a:fillRect/>
          </a:stretch>
        </p:blipFill>
        <p:spPr>
          <a:xfrm>
            <a:off x="10355395" y="0"/>
            <a:ext cx="1821117" cy="6858000"/>
          </a:xfrm>
          <a:prstGeom prst="rect">
            <a:avLst/>
          </a:prstGeom>
        </p:spPr>
      </p:pic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1D0367-918D-436A-A165-E28226D59459}" type="slidenum">
              <a:rPr lang="en-US" smtClean="0"/>
            </a:fld>
            <a:endParaRPr lang="en-US"/>
          </a:p>
        </p:txBody>
      </p:sp>
      <p:pic>
        <p:nvPicPr>
          <p:cNvPr id="8" name="Picture 7" descr="Shield-navy(rgb for online)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9252" y="6095745"/>
            <a:ext cx="413401" cy="52120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7ADF1-D216-453C-B0DA-3B5BB2FDD83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D0367-918D-436A-A165-E28226D5945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F7ADF1-D216-453C-B0DA-3B5BB2FDD83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1D0367-918D-436A-A165-E28226D59459}" type="slidenum">
              <a:rPr lang="en-US" smtClean="0"/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 rot="10800000">
            <a:off x="-50800" y="6672412"/>
            <a:ext cx="12242799" cy="283957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rgbClr val="002060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emf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Group G97-MuseumMate</a:t>
            </a: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838200" y="2899410"/>
            <a:ext cx="7169785" cy="2290445"/>
          </a:xfrm>
        </p:spPr>
        <p:txBody>
          <a:bodyPr/>
          <a:lstStyle/>
          <a:p>
            <a:r>
              <a:rPr lang="en-US" dirty="0"/>
              <a:t>Team members:</a:t>
            </a:r>
            <a:endParaRPr lang="en-US" dirty="0"/>
          </a:p>
          <a:p>
            <a:r>
              <a:rPr lang="en-US" dirty="0"/>
              <a:t>Xibei Chen </a:t>
            </a:r>
            <a:endParaRPr lang="en-US" dirty="0"/>
          </a:p>
          <a:p>
            <a:r>
              <a:rPr lang="en-US" dirty="0"/>
              <a:t>Lian Feng </a:t>
            </a:r>
            <a:endParaRPr lang="en-US" dirty="0"/>
          </a:p>
          <a:p>
            <a:r>
              <a:rPr lang="en-US" dirty="0"/>
              <a:t>Jingqi Hong </a:t>
            </a:r>
            <a:endParaRPr lang="en-US" dirty="0"/>
          </a:p>
          <a:p>
            <a:r>
              <a:rPr lang="en-US" dirty="0"/>
              <a:t>Wenping Tu</a:t>
            </a:r>
            <a:endParaRPr lang="en-US" dirty="0"/>
          </a:p>
          <a:p>
            <a:r>
              <a:rPr lang="en-US" dirty="0"/>
              <a:t>Churi Yang</a:t>
            </a:r>
            <a:endParaRPr lang="en-US" dirty="0"/>
          </a:p>
          <a:p>
            <a:endParaRPr lang="en-US" dirty="0"/>
          </a:p>
        </p:txBody>
      </p:sp>
      <p:pic>
        <p:nvPicPr>
          <p:cNvPr id="2" name="图片 1" descr="微信图片_202502272210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41330" y="109855"/>
            <a:ext cx="1354455" cy="1386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CN"/>
              <a:t>Project Overview</a:t>
            </a:r>
            <a:endParaRPr lang="en-US" alt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85875"/>
            <a:ext cx="10515600" cy="1757680"/>
          </a:xfrm>
        </p:spPr>
        <p:txBody>
          <a:bodyPr/>
          <a:lstStyle/>
          <a:p>
            <a:pPr marL="0" indent="0">
              <a:buNone/>
            </a:pPr>
            <a:r>
              <a:rPr lang="en-US" altLang="zh-CN"/>
              <a:t>MuseumMate is an AI-driven intelligent museum navigation system designed to address two core pain points in traditional museum visits—crowd congestion and homogenized experiences—through personalized route planning and contextual storytelling.</a:t>
            </a:r>
            <a:endParaRPr lang="en-US" altLang="zh-CN"/>
          </a:p>
        </p:txBody>
      </p:sp>
      <p:pic>
        <p:nvPicPr>
          <p:cNvPr id="4" name="图片 3" descr="微信图片_202502272210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0715" y="5637530"/>
            <a:ext cx="999490" cy="102362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38200" y="316801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等线 Light" panose="02010600030101010101" pitchFamily="2" charset="-122"/>
                <a:cs typeface="+mn-cs"/>
              </a:rPr>
              <a:t>Core Philosophy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37565" y="3842385"/>
            <a:ext cx="1051623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Adopting a "people-centric" approach, the system leverages AI technology to deliver dynamic navigation and immersive interactions, enhancing the accessibility and inclusivity of cultural resources.</a:t>
            </a:r>
            <a:endParaRPr kumimoji="0" lang="en-US" altLang="zh-CN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16767" y="330440"/>
            <a:ext cx="5579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2.Problem &amp; Solution</a:t>
            </a:r>
            <a:endParaRPr lang="zh-CN" altLang="en-US" sz="32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953279" y="1053107"/>
            <a:ext cx="484258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Problem 1: Inefficient Visitor Flow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/>
              <a:t>Overcrowding at popular exhibits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/>
              <a:t>Underutilization of less-visited artifacts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/>
              <a:t>Poor visitor experience &amp; resource waste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953279" y="3457550"/>
            <a:ext cx="463420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Problem 2: Lack of Personalization</a:t>
            </a:r>
            <a:endParaRPr lang="en-US" altLang="zh-CN" sz="2400" b="1" dirty="0"/>
          </a:p>
          <a:p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/>
              <a:t>Standardized audio guides fail to adapt</a:t>
            </a:r>
            <a:endParaRPr lang="en-US" altLang="zh-CN" dirty="0"/>
          </a:p>
          <a:p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/>
              <a:t>No consideration for time, interest, or accessibility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5" name="文本框 4"/>
          <p:cNvSpPr txBox="1"/>
          <p:nvPr/>
        </p:nvSpPr>
        <p:spPr>
          <a:xfrm>
            <a:off x="7512701" y="1383390"/>
            <a:ext cx="431851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Our AI Solution: </a:t>
            </a:r>
            <a:r>
              <a:rPr lang="en-US" altLang="zh-CN" sz="2400" b="1" dirty="0" err="1"/>
              <a:t>MuseumMate</a:t>
            </a:r>
            <a:endParaRPr lang="en-US" altLang="zh-CN" sz="2400" b="1" dirty="0"/>
          </a:p>
          <a:p>
            <a:endParaRPr lang="en-US" altLang="zh-CN" dirty="0"/>
          </a:p>
          <a:p>
            <a:r>
              <a:rPr lang="en-US" altLang="zh-CN" sz="2400" b="1" dirty="0"/>
              <a:t>Smart Routing</a:t>
            </a:r>
            <a:endParaRPr lang="en-US" altLang="zh-CN" sz="2400" b="1" dirty="0"/>
          </a:p>
          <a:p>
            <a:r>
              <a:rPr lang="en-US" altLang="zh-CN" b="1" dirty="0"/>
              <a:t>       </a:t>
            </a:r>
            <a:endParaRPr lang="en-US" altLang="zh-CN" b="1" dirty="0"/>
          </a:p>
          <a:p>
            <a:r>
              <a:rPr lang="en-US" altLang="zh-CN" dirty="0"/>
              <a:t>AONSGA algorithm optimizes for distance + congestion [3]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sz="2400" b="1" dirty="0"/>
              <a:t>Contextual Narration</a:t>
            </a:r>
            <a:endParaRPr lang="en-US" altLang="zh-CN" sz="2400" dirty="0"/>
          </a:p>
          <a:p>
            <a:r>
              <a:rPr lang="en-US" altLang="zh-CN" dirty="0"/>
              <a:t>       </a:t>
            </a:r>
            <a:endParaRPr lang="en-US" altLang="zh-CN" dirty="0"/>
          </a:p>
          <a:p>
            <a:r>
              <a:rPr lang="en-US" altLang="zh-CN" dirty="0"/>
              <a:t>RAG framework ensures accurate, traceable storytelling [2]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561390" y="5581208"/>
            <a:ext cx="101501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References:</a:t>
            </a:r>
            <a:endParaRPr lang="en-US" altLang="zh-CN" dirty="0"/>
          </a:p>
          <a:p>
            <a:r>
              <a:rPr lang="en-US" altLang="zh-CN" dirty="0"/>
              <a:t>     [2] Y. Xu et al., "Multi-objective Route Planning based on Improved NSGA-II," 2021.</a:t>
            </a:r>
            <a:endParaRPr lang="en-US" altLang="zh-CN" dirty="0"/>
          </a:p>
          <a:p>
            <a:r>
              <a:rPr lang="en-US" altLang="zh-CN" dirty="0"/>
              <a:t>     [3] Y. Hu, "</a:t>
            </a:r>
            <a:r>
              <a:rPr lang="en-US" altLang="zh-CN" dirty="0" err="1"/>
              <a:t>MuseRAG</a:t>
            </a:r>
            <a:r>
              <a:rPr lang="en-US" altLang="zh-CN" dirty="0"/>
              <a:t>++: A Deep Retrieval-Augmented Framework," 2025.</a:t>
            </a:r>
            <a:endParaRPr lang="zh-CN" altLang="en-US" dirty="0"/>
          </a:p>
        </p:txBody>
      </p:sp>
      <p:sp>
        <p:nvSpPr>
          <p:cNvPr id="6" name="箭头: V 形 5"/>
          <p:cNvSpPr/>
          <p:nvPr/>
        </p:nvSpPr>
        <p:spPr>
          <a:xfrm>
            <a:off x="5795863" y="3083774"/>
            <a:ext cx="503853" cy="416871"/>
          </a:xfrm>
          <a:prstGeom prst="chevron">
            <a:avLst/>
          </a:prstGeom>
          <a:solidFill>
            <a:srgbClr val="CCC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箭头: V 形 6"/>
          <p:cNvSpPr/>
          <p:nvPr/>
        </p:nvSpPr>
        <p:spPr>
          <a:xfrm>
            <a:off x="6254621" y="3091550"/>
            <a:ext cx="503853" cy="416871"/>
          </a:xfrm>
          <a:prstGeom prst="chevron">
            <a:avLst/>
          </a:prstGeom>
          <a:solidFill>
            <a:srgbClr val="CCC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箭头: V 形 7"/>
          <p:cNvSpPr/>
          <p:nvPr/>
        </p:nvSpPr>
        <p:spPr>
          <a:xfrm>
            <a:off x="6713379" y="3091550"/>
            <a:ext cx="503853" cy="416871"/>
          </a:xfrm>
          <a:prstGeom prst="chevron">
            <a:avLst/>
          </a:prstGeom>
          <a:solidFill>
            <a:srgbClr val="CCC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ermaid-diagram-2025-11-27-161423"/>
          <p:cNvPicPr>
            <a:picLocks noChangeAspect="1"/>
          </p:cNvPicPr>
          <p:nvPr/>
        </p:nvPicPr>
        <p:blipFill>
          <a:blip r:embed="rId1"/>
          <a:srcRect l="19335" t="2083" r="16960" b="593"/>
          <a:stretch>
            <a:fillRect/>
          </a:stretch>
        </p:blipFill>
        <p:spPr>
          <a:xfrm>
            <a:off x="7261225" y="1220470"/>
            <a:ext cx="4665345" cy="476377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240665" y="487680"/>
            <a:ext cx="9882505" cy="61277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CN" sz="2800" b="1" dirty="0"/>
              <a:t>3.</a:t>
            </a:r>
            <a:r>
              <a:rPr lang="en-US" altLang="zh-CN" sz="3200" b="1" dirty="0"/>
              <a:t>Operating Principles: Hybrid Microservices Architecture</a:t>
            </a:r>
            <a:endParaRPr lang="en-US" altLang="zh-CN" sz="32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351790" y="1701165"/>
            <a:ext cx="6537325" cy="984885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/>
              <a:t>System Architecture</a:t>
            </a:r>
            <a:r>
              <a:rPr lang="en-US" altLang="zh-CN" sz="1600" dirty="0"/>
              <a:t>: </a:t>
            </a:r>
            <a:r>
              <a:rPr lang="en-US" altLang="zh-CN" dirty="0"/>
              <a:t>A Hybrid Microservices Architecture structured into three layers: </a:t>
            </a:r>
            <a:r>
              <a:rPr lang="en-US" altLang="zh-CN" b="1" dirty="0"/>
              <a:t>Interaction,</a:t>
            </a:r>
            <a:r>
              <a:rPr lang="en-US" altLang="zh-CN" dirty="0"/>
              <a:t> </a:t>
            </a:r>
            <a:r>
              <a:rPr lang="en-US" altLang="zh-CN" b="1" dirty="0"/>
              <a:t>Intelligence</a:t>
            </a:r>
            <a:r>
              <a:rPr lang="en-US" altLang="zh-CN" dirty="0"/>
              <a:t>, and </a:t>
            </a:r>
            <a:r>
              <a:rPr lang="en-US" altLang="zh-CN" b="1" dirty="0"/>
              <a:t>Data</a:t>
            </a:r>
            <a:r>
              <a:rPr lang="en-US" altLang="zh-CN" dirty="0"/>
              <a:t>.</a:t>
            </a:r>
            <a:endParaRPr lang="en-US" altLang="zh-CN" dirty="0"/>
          </a:p>
        </p:txBody>
      </p:sp>
      <p:sp>
        <p:nvSpPr>
          <p:cNvPr id="6" name="文本框 5"/>
          <p:cNvSpPr txBox="1"/>
          <p:nvPr/>
        </p:nvSpPr>
        <p:spPr>
          <a:xfrm>
            <a:off x="351790" y="2757805"/>
            <a:ext cx="6407785" cy="1014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/>
              <a:t>Dynamic Routing</a:t>
            </a:r>
            <a:r>
              <a:rPr lang="en-US" altLang="zh-CN" sz="1600" b="1" dirty="0"/>
              <a:t>:</a:t>
            </a:r>
            <a:r>
              <a:rPr lang="en-US" altLang="zh-CN" sz="1600" dirty="0"/>
              <a:t> </a:t>
            </a:r>
            <a:r>
              <a:rPr lang="en-US" altLang="zh-CN" sz="1800" dirty="0"/>
              <a:t>Powered by the </a:t>
            </a:r>
            <a:r>
              <a:rPr lang="en-US" altLang="zh-CN" sz="1800" b="1" dirty="0"/>
              <a:t>AONSGA algorithm</a:t>
            </a:r>
            <a:r>
              <a:rPr lang="en-US" altLang="zh-CN" sz="1800" dirty="0"/>
              <a:t> [2] as a backend service, enabling</a:t>
            </a:r>
            <a:r>
              <a:rPr lang="en-US" altLang="zh-CN" sz="1800" b="1" dirty="0"/>
              <a:t> multi-objective optimization</a:t>
            </a:r>
            <a:r>
              <a:rPr lang="en-US" altLang="zh-CN" sz="1800" dirty="0"/>
              <a:t> to balance real-time crowd density and distance.</a:t>
            </a:r>
            <a:endParaRPr lang="en-US" altLang="zh-CN" sz="1800" dirty="0"/>
          </a:p>
        </p:txBody>
      </p:sp>
      <p:sp>
        <p:nvSpPr>
          <p:cNvPr id="7" name="文本框 6"/>
          <p:cNvSpPr txBox="1"/>
          <p:nvPr/>
        </p:nvSpPr>
        <p:spPr>
          <a:xfrm>
            <a:off x="351790" y="4060190"/>
            <a:ext cx="6407150" cy="1014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b="1" dirty="0"/>
              <a:t>Trustworthy Storytelling</a:t>
            </a:r>
            <a:r>
              <a:rPr lang="en-US" altLang="zh-CN" sz="1600" b="1"/>
              <a:t>:</a:t>
            </a:r>
            <a:r>
              <a:rPr lang="en-US" altLang="zh-CN" sz="1800"/>
              <a:t> Driven by the </a:t>
            </a:r>
            <a:r>
              <a:rPr lang="en-US" altLang="zh-CN" sz="1800" b="1"/>
              <a:t>MuseRAG++ framework</a:t>
            </a:r>
            <a:r>
              <a:rPr lang="en-US" altLang="zh-CN" sz="1800"/>
              <a:t> [3], utilizing hybrid retrieval (BM25 + Vector) and provenance-aware generation to eliminate AI hallucinations.</a:t>
            </a:r>
            <a:endParaRPr lang="en-US" altLang="zh-CN" sz="1800"/>
          </a:p>
        </p:txBody>
      </p:sp>
      <p:sp>
        <p:nvSpPr>
          <p:cNvPr id="8" name="文本框 7"/>
          <p:cNvSpPr txBox="1"/>
          <p:nvPr/>
        </p:nvSpPr>
        <p:spPr>
          <a:xfrm>
            <a:off x="351790" y="5233670"/>
            <a:ext cx="7207250" cy="100266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altLang="zh-CN" sz="1600" i="1" dirty="0"/>
              <a:t>References:</a:t>
            </a:r>
            <a:endParaRPr lang="en-US" altLang="zh-CN" sz="16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/>
              <a:t>[2] Y. Xu et al., "Multi-objective Route Planning based on Improved NSGA-II," 2021. </a:t>
            </a: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/>
              <a:t>[3] Y. Hu, "</a:t>
            </a:r>
            <a:r>
              <a:rPr lang="en-US" altLang="zh-CN" sz="1600" dirty="0" err="1"/>
              <a:t>MuseRAG</a:t>
            </a:r>
            <a:r>
              <a:rPr lang="en-US" altLang="zh-CN" sz="1600" dirty="0"/>
              <a:t>++: A Deep Retrieval-Augmented Framework," 2025</a:t>
            </a:r>
            <a:endParaRPr lang="en-US" altLang="zh-CN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33" b="9207"/>
          <a:stretch>
            <a:fillRect/>
          </a:stretch>
        </p:blipFill>
        <p:spPr>
          <a:xfrm>
            <a:off x="264257" y="866664"/>
            <a:ext cx="8850833" cy="5664814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0" y="0"/>
            <a:ext cx="62134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4. Technical Development 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215073" y="1881512"/>
            <a:ext cx="21370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Vasic, I., et al. (2024). LLM-aided museum guide: Personalized tours based on user preferences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827482" y="1232560"/>
            <a:ext cx="16443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Reference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215073" y="3625227"/>
            <a:ext cx="225677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3. Xu, Y., Guo, Q., Tan, A., Xu, L., Tu, Y., &amp; Liu, S. (2021). Multi-objective Route Planning of Museum Guide based on an Improved NSGA-II Algorithm. 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3469136" cy="872519"/>
          </a:xfrm>
        </p:spPr>
        <p:txBody>
          <a:bodyPr>
            <a:normAutofit/>
          </a:bodyPr>
          <a:lstStyle/>
          <a:p>
            <a:r>
              <a:rPr lang="en-US" altLang="zh-CN" sz="4400" dirty="0">
                <a:solidFill>
                  <a:schemeClr val="tx1"/>
                </a:solidFill>
              </a:rPr>
              <a:t>Assignment</a:t>
            </a:r>
            <a:endParaRPr lang="zh-CN" altLang="en-US" sz="4400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61197" y="2142242"/>
            <a:ext cx="434165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P</a:t>
            </a:r>
            <a:r>
              <a:rPr lang="en-US" altLang="zh-CN" sz="2400"/>
              <a:t>roper </a:t>
            </a:r>
            <a:r>
              <a:rPr lang="en-US" altLang="zh-CN" sz="2400" dirty="0"/>
              <a:t>role assignments ensure efficient progress and complementary capabilities.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Additionally, leveraging the study of the SAT101 course, the other 4 team members also actively participate in the AI development.</a:t>
            </a:r>
            <a:endParaRPr lang="en-US" altLang="zh-CN" sz="240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83" t="8308" r="9571" b="14529"/>
          <a:stretch>
            <a:fillRect/>
          </a:stretch>
        </p:blipFill>
        <p:spPr>
          <a:xfrm>
            <a:off x="795736" y="990661"/>
            <a:ext cx="4844227" cy="567538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40728" y="241641"/>
            <a:ext cx="903919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/>
              <a:t>5. Summary, Future Directions &amp; Implications</a:t>
            </a:r>
            <a:endParaRPr lang="zh-CN" altLang="en-US" sz="3200" b="1" dirty="0"/>
          </a:p>
        </p:txBody>
      </p:sp>
      <p:sp>
        <p:nvSpPr>
          <p:cNvPr id="3" name="矩形 2"/>
          <p:cNvSpPr/>
          <p:nvPr/>
        </p:nvSpPr>
        <p:spPr>
          <a:xfrm>
            <a:off x="259491" y="1027325"/>
            <a:ext cx="12066602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b="1" dirty="0"/>
              <a:t>Summary</a:t>
            </a:r>
            <a:r>
              <a:rPr lang="en-US" altLang="zh-CN" dirty="0"/>
              <a:t>: Museum Mate leverages AI technology to enable </a:t>
            </a:r>
            <a:r>
              <a:rPr lang="en-US" altLang="zh-CN" b="1" dirty="0"/>
              <a:t>personalized guidance </a:t>
            </a:r>
            <a:r>
              <a:rPr lang="en-US" altLang="zh-CN" dirty="0"/>
              <a:t>and </a:t>
            </a:r>
            <a:r>
              <a:rPr lang="en-US" altLang="zh-CN" b="1" dirty="0"/>
              <a:t>immersive interaction</a:t>
            </a:r>
            <a:r>
              <a:rPr lang="en-US" altLang="zh-CN" dirty="0"/>
              <a:t>, enhancing both </a:t>
            </a:r>
            <a:r>
              <a:rPr lang="en-US" altLang="zh-CN" b="1" dirty="0"/>
              <a:t>visitor experiences </a:t>
            </a:r>
            <a:r>
              <a:rPr lang="en-US" altLang="zh-CN" dirty="0"/>
              <a:t>and museum </a:t>
            </a:r>
            <a:r>
              <a:rPr lang="en-US" altLang="zh-CN" b="1" dirty="0"/>
              <a:t>operational efficiency</a:t>
            </a:r>
            <a:r>
              <a:rPr lang="en-US" altLang="zh-CN" dirty="0"/>
              <a:t>.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40728" y="1936120"/>
            <a:ext cx="6096000" cy="1292662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b="1" dirty="0"/>
              <a:t>Future Directions:</a:t>
            </a:r>
            <a:endParaRPr lang="en-US" altLang="zh-CN" sz="2400" b="1" dirty="0"/>
          </a:p>
          <a:p>
            <a:r>
              <a:rPr lang="en-US" altLang="zh-CN" dirty="0"/>
              <a:t>1. Expand to </a:t>
            </a:r>
            <a:r>
              <a:rPr lang="en-US" altLang="zh-CN" b="1" dirty="0"/>
              <a:t>more museums </a:t>
            </a:r>
            <a:r>
              <a:rPr lang="en-US" altLang="zh-CN" dirty="0"/>
              <a:t>and </a:t>
            </a:r>
            <a:r>
              <a:rPr lang="en-US" altLang="zh-CN" b="1" dirty="0"/>
              <a:t>cultural heritage scenarios</a:t>
            </a:r>
            <a:endParaRPr lang="en-US" altLang="zh-CN" b="1" dirty="0"/>
          </a:p>
          <a:p>
            <a:r>
              <a:rPr lang="en-US" altLang="zh-CN" dirty="0"/>
              <a:t>2. Integrate additional AR/VR </a:t>
            </a:r>
            <a:r>
              <a:rPr lang="en-US" altLang="zh-CN" b="1" dirty="0"/>
              <a:t>interactive</a:t>
            </a:r>
            <a:r>
              <a:rPr lang="en-US" altLang="zh-CN" dirty="0"/>
              <a:t> features</a:t>
            </a:r>
            <a:endParaRPr lang="en-US" altLang="zh-CN" dirty="0"/>
          </a:p>
          <a:p>
            <a:r>
              <a:rPr lang="en-US" altLang="zh-CN" dirty="0"/>
              <a:t>3. Optimize </a:t>
            </a:r>
            <a:r>
              <a:rPr lang="en-US" altLang="zh-CN" b="1" dirty="0"/>
              <a:t>multilingual</a:t>
            </a:r>
            <a:r>
              <a:rPr lang="en-US" altLang="zh-CN" dirty="0"/>
              <a:t> and </a:t>
            </a:r>
            <a:r>
              <a:rPr lang="en-US" altLang="zh-CN" b="1" dirty="0"/>
              <a:t>accessibility</a:t>
            </a:r>
            <a:r>
              <a:rPr lang="en-US" altLang="zh-CN" dirty="0"/>
              <a:t> support</a:t>
            </a:r>
            <a:endParaRPr lang="en-US" altLang="zh-CN" dirty="0"/>
          </a:p>
        </p:txBody>
      </p:sp>
      <p:sp>
        <p:nvSpPr>
          <p:cNvPr id="5" name="矩形 4"/>
          <p:cNvSpPr/>
          <p:nvPr/>
        </p:nvSpPr>
        <p:spPr>
          <a:xfrm>
            <a:off x="240728" y="3256690"/>
            <a:ext cx="11951272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b="1" dirty="0"/>
              <a:t>Social Value:</a:t>
            </a:r>
            <a:endParaRPr lang="en-US" altLang="zh-CN" sz="2400" b="1" dirty="0"/>
          </a:p>
          <a:p>
            <a:r>
              <a:rPr lang="en-US" altLang="zh-CN" dirty="0"/>
              <a:t>1. Promote </a:t>
            </a:r>
            <a:r>
              <a:rPr lang="en-US" altLang="zh-CN" b="1" dirty="0"/>
              <a:t>equitable</a:t>
            </a:r>
            <a:r>
              <a:rPr lang="en-US" altLang="zh-CN" dirty="0"/>
              <a:t> access to cultural resources</a:t>
            </a:r>
            <a:endParaRPr lang="en-US" altLang="zh-CN" dirty="0"/>
          </a:p>
          <a:p>
            <a:r>
              <a:rPr lang="en-US" altLang="zh-CN" dirty="0"/>
              <a:t>2. Enhance museums’ </a:t>
            </a:r>
            <a:r>
              <a:rPr lang="en-US" altLang="zh-CN" b="1" dirty="0"/>
              <a:t>educational</a:t>
            </a:r>
            <a:r>
              <a:rPr lang="en-US" altLang="zh-CN" dirty="0"/>
              <a:t> function , a practical embodiment of the concept that "AI-generated characters can become invaluable educational tools when thoughtfully implemented." [1]</a:t>
            </a:r>
            <a:endParaRPr lang="en-US" altLang="zh-CN" dirty="0"/>
          </a:p>
          <a:p>
            <a:r>
              <a:rPr lang="en-US" altLang="zh-CN" dirty="0"/>
              <a:t> and social </a:t>
            </a:r>
            <a:r>
              <a:rPr lang="en-US" altLang="zh-CN" b="1" dirty="0"/>
              <a:t>inclusivity</a:t>
            </a:r>
            <a:r>
              <a:rPr lang="en-US" altLang="zh-CN" dirty="0"/>
              <a:t> aligns with research showing that "Such systems improve user engagement and interpretability across diverse groups." [2]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259491" y="5203575"/>
            <a:ext cx="1181305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References: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[1] S. Wang et al., "ArtRAG: Structured Context Retrieval-Augmented Framework for Artwork Explanation Generation," University of Amsterdam.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[2] Y. Xu et al., "Multi-objective Route Planning based on Improved NSGA-II," 2021. 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2209800" y="2336210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6000" b="1" cap="all" dirty="0">
                <a:solidFill>
                  <a:srgbClr val="000044"/>
                </a:solidFill>
                <a:latin typeface="Calibri" panose="020F0502020204030204"/>
                <a:cs typeface="Calibri" panose="020F0502020204030204"/>
              </a:rPr>
              <a:t>THANK YOU</a:t>
            </a:r>
            <a:endParaRPr lang="en-GB" sz="6000" b="1" cap="all" spc="300" dirty="0">
              <a:solidFill>
                <a:srgbClr val="000044"/>
              </a:solidFill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7628" y="5296887"/>
            <a:ext cx="4736744" cy="1005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11510" y="5707380"/>
            <a:ext cx="908050" cy="920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XJTLU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258419C7884242A287075DD4CBA53F" ma:contentTypeVersion="1" ma:contentTypeDescription="Create a new document." ma:contentTypeScope="" ma:versionID="e81560e7b00fcfdd09395e2dc5e4b0cc">
  <xsd:schema xmlns:xsd="http://www.w3.org/2001/XMLSchema" xmlns:xs="http://www.w3.org/2001/XMLSchema" xmlns:p="http://schemas.microsoft.com/office/2006/metadata/properties" xmlns:ns2="B0BDE463-703B-47A0-8BD9-56EDD8661A5D" xmlns:ns3="e8331262-de25-436d-8f05-154a071bbe3b" xmlns:ns4="http://schemas.microsoft.com/sharepoint/v4" targetNamespace="http://schemas.microsoft.com/office/2006/metadata/properties" ma:root="true" ma:fieldsID="5bbfa32444a67429d4d413378d447ef6" ns2:_="" ns3:_="" ns4:_="">
    <xsd:import namespace="B0BDE463-703B-47A0-8BD9-56EDD8661A5D"/>
    <xsd:import namespace="e8331262-de25-436d-8f05-154a071bbe3b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2:hc6d7eca65f9478abad7d03f5cf64e0f" minOccurs="0"/>
                <xsd:element ref="ns3:TaxCatchAll" minOccurs="0"/>
                <xsd:element ref="ns4:IconOverla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BDE463-703B-47A0-8BD9-56EDD8661A5D" elementFormDefault="qualified">
    <xsd:import namespace="http://schemas.microsoft.com/office/2006/documentManagement/types"/>
    <xsd:import namespace="http://schemas.microsoft.com/office/infopath/2007/PartnerControls"/>
    <xsd:element name="hc6d7eca65f9478abad7d03f5cf64e0f" ma:index="9" nillable="true" ma:taxonomy="true" ma:internalName="hc6d7eca65f9478abad7d03f5cf64e0f" ma:taxonomyFieldName="Category" ma:displayName="Category" ma:default="" ma:fieldId="{1c6d7eca-65f9-478a-bad7-d03f5cf64e0f}" ma:sspId="202c0e86-dd13-49e1-9468-8a61cc7812e1" ma:termSetId="794b5192-67a4-4b44-b00c-5f52222485f4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331262-de25-436d-8f05-154a071bbe3b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51C7AFFB-7058-41CA-918F-5D04FCCBBA61}" ma:internalName="TaxCatchAll" ma:showField="CatchAllData" ma:web="{149a1508-1ebd-4030-9baf-02a9b71157b9}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1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  <TaxCatchAll xmlns="e8331262-de25-436d-8f05-154a071bbe3b"/>
    <hc6d7eca65f9478abad7d03f5cf64e0f xmlns="B0BDE463-703B-47A0-8BD9-56EDD8661A5D">
      <Terms xmlns="http://schemas.microsoft.com/office/infopath/2007/PartnerControls"/>
    </hc6d7eca65f9478abad7d03f5cf64e0f>
  </documentManagement>
</p:properties>
</file>

<file path=customXml/itemProps1.xml><?xml version="1.0" encoding="utf-8"?>
<ds:datastoreItem xmlns:ds="http://schemas.openxmlformats.org/officeDocument/2006/customXml" ds:itemID="{D1B9F82F-A311-4617-9587-2B7E132369B2}">
  <ds:schemaRefs/>
</ds:datastoreItem>
</file>

<file path=customXml/itemProps2.xml><?xml version="1.0" encoding="utf-8"?>
<ds:datastoreItem xmlns:ds="http://schemas.openxmlformats.org/officeDocument/2006/customXml" ds:itemID="{CF77EC68-3085-467F-8CCD-EC71E5574365}">
  <ds:schemaRefs/>
</ds:datastoreItem>
</file>

<file path=customXml/itemProps3.xml><?xml version="1.0" encoding="utf-8"?>
<ds:datastoreItem xmlns:ds="http://schemas.openxmlformats.org/officeDocument/2006/customXml" ds:itemID="{C1A70FB2-E74D-47B3-9738-46D2DA1C41C7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XJTLU THEME</Template>
  <TotalTime>0</TotalTime>
  <Words>3411</Words>
  <Application>WPS 演示</Application>
  <PresentationFormat>宽屏</PresentationFormat>
  <Paragraphs>99</Paragraphs>
  <Slides>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Arial</vt:lpstr>
      <vt:lpstr>宋体</vt:lpstr>
      <vt:lpstr>Wingdings</vt:lpstr>
      <vt:lpstr>Calibri</vt:lpstr>
      <vt:lpstr>等线 Light</vt:lpstr>
      <vt:lpstr>等线</vt:lpstr>
      <vt:lpstr>微软雅黑</vt:lpstr>
      <vt:lpstr>Arial Unicode MS</vt:lpstr>
      <vt:lpstr>Calibri</vt:lpstr>
      <vt:lpstr>XJTLU THEME</vt:lpstr>
      <vt:lpstr>Group G97-MuseumMate</vt:lpstr>
      <vt:lpstr>Project Overview</vt:lpstr>
      <vt:lpstr>PowerPoint 演示文稿</vt:lpstr>
      <vt:lpstr>PowerPoint 演示文稿</vt:lpstr>
      <vt:lpstr>PowerPoint 演示文稿</vt:lpstr>
      <vt:lpstr>Assignment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Feng Cao</dc:creator>
  <cp:lastModifiedBy>Y77</cp:lastModifiedBy>
  <cp:revision>17</cp:revision>
  <dcterms:created xsi:type="dcterms:W3CDTF">2019-02-15T03:52:00Z</dcterms:created>
  <dcterms:modified xsi:type="dcterms:W3CDTF">2025-11-27T08:16:21Z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0x01010077258419C7884242A287075DD4CBA53F</vt:lpwstr>
  </property>
  <property fmtid="{D5CDD505-2E9C-101B-9397-08002B2CF9AE}" pid="3" name="Category">
    <vt:lpwstr/>
  </property>
  <property fmtid="{D5CDD505-2E9C-101B-9397-08002B2CF9AE}" pid="4" name="ICV">
    <vt:lpwstr>9E06374E83904D85A688813E1EF8B335_13</vt:lpwstr>
  </property>
  <property fmtid="{D5CDD505-2E9C-101B-9397-08002B2CF9AE}" pid="5" name="KSOProductBuildVer">
    <vt:lpwstr>2052-12.1.0.23542</vt:lpwstr>
  </property>
</Properties>
</file>