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2.xml"/><Relationship Id="rId8" Type="http://schemas.openxmlformats.org/officeDocument/2006/relationships/customXml" Target="../customXml/item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ustomXml" Target="../customXml/item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44515-AB57-46D7-9376-F2FE5A9B278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71E92-F6F3-43D5-9401-A83B97298AA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665163"/>
            <a:ext cx="9144000" cy="2154848"/>
          </a:xfrm>
        </p:spPr>
        <p:txBody>
          <a:bodyPr anchor="b"/>
          <a:lstStyle>
            <a:lvl1pPr algn="l">
              <a:defRPr sz="60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996708"/>
            <a:ext cx="9144000" cy="692760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824725"/>
            <a:ext cx="4222886" cy="89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466684" y="6273100"/>
            <a:ext cx="2177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85B5F92-075B-4129-B685-2F4B8F62A5A3}" type="datetime4">
              <a:rPr lang="en-GB" smtClean="0">
                <a:solidFill>
                  <a:schemeClr val="bg2">
                    <a:lumMod val="50000"/>
                  </a:schemeClr>
                </a:solidFill>
              </a:rPr>
            </a:fld>
            <a:endParaRPr lang="en-GB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838200" y="3978275"/>
            <a:ext cx="3768725" cy="1211263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9" name="Picture 8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8" name="Picture 7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9" name="Picture 8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11" name="Picture 10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7" name="Picture 6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6" name="Picture 5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9" name="Picture 8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9" name="Picture 8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8" name="Picture 7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alphaModFix amt="7000"/>
            <a:duotone>
              <a:prstClr val="black"/>
              <a:schemeClr val="accent2">
                <a:tint val="45000"/>
                <a:satMod val="400000"/>
              </a:schemeClr>
            </a:duotone>
            <a:lum bright="-20000" contrast="-40000"/>
          </a:blip>
          <a:stretch>
            <a:fillRect/>
          </a:stretch>
        </p:blipFill>
        <p:spPr>
          <a:xfrm>
            <a:off x="10355395" y="0"/>
            <a:ext cx="1821117" cy="685800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pic>
        <p:nvPicPr>
          <p:cNvPr id="8" name="Picture 7" descr="Shield-navy(rgb for online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252" y="6095745"/>
            <a:ext cx="413401" cy="521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0367-918D-436A-A165-E28226D594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7ADF1-D216-453C-B0DA-3B5BB2FDD83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0367-918D-436A-A165-E28226D59459}" type="slidenum">
              <a:rPr lang="en-US" smtClean="0"/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 rot="10800000">
            <a:off x="-50800" y="6672412"/>
            <a:ext cx="12242799" cy="283957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0206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mermaid-diagram-2025-11-27-131020"/>
          <p:cNvPicPr>
            <a:picLocks noChangeAspect="1"/>
          </p:cNvPicPr>
          <p:nvPr/>
        </p:nvPicPr>
        <p:blipFill>
          <a:blip r:embed="rId1"/>
          <a:srcRect l="16174" t="-223" r="14621"/>
          <a:stretch>
            <a:fillRect/>
          </a:stretch>
        </p:blipFill>
        <p:spPr>
          <a:xfrm>
            <a:off x="7121525" y="1100455"/>
            <a:ext cx="5070475" cy="490664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40665" y="487680"/>
            <a:ext cx="9882505" cy="6127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800" b="1" dirty="0"/>
              <a:t>3.</a:t>
            </a:r>
            <a:r>
              <a:rPr lang="en-US" altLang="zh-CN" sz="3200" b="1" dirty="0"/>
              <a:t>Operating Principles: Hybrid Microservices Architecture</a:t>
            </a:r>
            <a:endParaRPr lang="en-US" altLang="zh-CN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351790" y="1701165"/>
            <a:ext cx="6537325" cy="984885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System Architecture</a:t>
            </a:r>
            <a:r>
              <a:rPr lang="en-US" altLang="zh-CN" sz="1600"/>
              <a:t>:</a:t>
            </a:r>
            <a:r>
              <a:rPr lang="en-US" altLang="zh-CN"/>
              <a:t>A Hybrid Microservices Architecture structured into three layers: </a:t>
            </a:r>
            <a:r>
              <a:rPr lang="en-US" altLang="zh-CN" b="1"/>
              <a:t>Interaction,</a:t>
            </a:r>
            <a:r>
              <a:rPr lang="en-US" altLang="zh-CN"/>
              <a:t> </a:t>
            </a:r>
            <a:r>
              <a:rPr lang="en-US" altLang="zh-CN" b="1"/>
              <a:t>Intelligence</a:t>
            </a:r>
            <a:r>
              <a:rPr lang="en-US" altLang="zh-CN"/>
              <a:t>, and </a:t>
            </a:r>
            <a:r>
              <a:rPr lang="en-US" altLang="zh-CN" b="1"/>
              <a:t>Data</a:t>
            </a: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51790" y="2757805"/>
            <a:ext cx="640778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Dynamic Routing</a:t>
            </a:r>
            <a:r>
              <a:rPr lang="en-US" altLang="zh-CN" sz="1600" b="1"/>
              <a:t>:</a:t>
            </a:r>
            <a:r>
              <a:rPr lang="en-US" altLang="zh-CN" sz="1600"/>
              <a:t> </a:t>
            </a:r>
            <a:r>
              <a:rPr lang="en-US" altLang="zh-CN" sz="1800"/>
              <a:t>Powered by the </a:t>
            </a:r>
            <a:r>
              <a:rPr lang="en-US" altLang="zh-CN" sz="1800" b="1"/>
              <a:t>AONSGA algorithm</a:t>
            </a:r>
            <a:r>
              <a:rPr lang="en-US" altLang="zh-CN" sz="1800"/>
              <a:t> [2] as a backend service, enabling</a:t>
            </a:r>
            <a:r>
              <a:rPr lang="en-US" altLang="zh-CN" sz="1800" b="1"/>
              <a:t> multi-objective optimization</a:t>
            </a:r>
            <a:r>
              <a:rPr lang="en-US" altLang="zh-CN" sz="1800"/>
              <a:t> to balance real-time crowd density and distance.</a:t>
            </a:r>
            <a:endParaRPr lang="en-US" altLang="zh-CN" sz="1800"/>
          </a:p>
        </p:txBody>
      </p:sp>
      <p:sp>
        <p:nvSpPr>
          <p:cNvPr id="7" name="文本框 6"/>
          <p:cNvSpPr txBox="1"/>
          <p:nvPr/>
        </p:nvSpPr>
        <p:spPr>
          <a:xfrm>
            <a:off x="351790" y="4060190"/>
            <a:ext cx="6407150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/>
              <a:t>Trustworthy Storytelling</a:t>
            </a:r>
            <a:r>
              <a:rPr lang="en-US" altLang="zh-CN" sz="1600" b="1"/>
              <a:t>:</a:t>
            </a:r>
            <a:r>
              <a:rPr lang="en-US" altLang="zh-CN" sz="1800"/>
              <a:t> Driven by the </a:t>
            </a:r>
            <a:r>
              <a:rPr lang="en-US" altLang="zh-CN" sz="1800" b="1"/>
              <a:t>MuseRAG++ framework</a:t>
            </a:r>
            <a:r>
              <a:rPr lang="en-US" altLang="zh-CN" sz="1800"/>
              <a:t> [3], utilizing hybrid retrieval (BM25 + Vector) and provenance-aware generation to eliminate AI hallucinations.</a:t>
            </a:r>
            <a:endParaRPr lang="en-US" altLang="zh-CN" sz="1800"/>
          </a:p>
        </p:txBody>
      </p:sp>
      <p:sp>
        <p:nvSpPr>
          <p:cNvPr id="8" name="文本框 7"/>
          <p:cNvSpPr txBox="1"/>
          <p:nvPr/>
        </p:nvSpPr>
        <p:spPr>
          <a:xfrm>
            <a:off x="351790" y="5269865"/>
            <a:ext cx="7207250" cy="100266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600" i="1"/>
              <a:t>References:</a:t>
            </a:r>
            <a:endParaRPr lang="en-US" altLang="zh-CN" sz="1600" i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[2] Y. Xu et al., "Multi-objective Route Planning based on Improved NSGA-II," 2021. </a:t>
            </a: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[3] Y. Hu, "MuseRAG++: A Deep Retrieval-Augmented Framework," 2025</a:t>
            </a:r>
            <a:endParaRPr lang="en-US" altLang="zh-CN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JTL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58419C7884242A287075DD4CBA53F" ma:contentTypeVersion="1" ma:contentTypeDescription="Create a new document." ma:contentTypeScope="" ma:versionID="e81560e7b00fcfdd09395e2dc5e4b0cc">
  <xsd:schema xmlns:xsd="http://www.w3.org/2001/XMLSchema" xmlns:xs="http://www.w3.org/2001/XMLSchema" xmlns:p="http://schemas.microsoft.com/office/2006/metadata/properties" xmlns:ns2="B0BDE463-703B-47A0-8BD9-56EDD8661A5D" xmlns:ns3="e8331262-de25-436d-8f05-154a071bbe3b" xmlns:ns4="http://schemas.microsoft.com/sharepoint/v4" targetNamespace="http://schemas.microsoft.com/office/2006/metadata/properties" ma:root="true" ma:fieldsID="5bbfa32444a67429d4d413378d447ef6" ns2:_="" ns3:_="" ns4:_="">
    <xsd:import namespace="B0BDE463-703B-47A0-8BD9-56EDD8661A5D"/>
    <xsd:import namespace="e8331262-de25-436d-8f05-154a071bbe3b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hc6d7eca65f9478abad7d03f5cf64e0f" minOccurs="0"/>
                <xsd:element ref="ns3:TaxCatchAll" minOccurs="0"/>
                <xsd:element ref="ns4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BDE463-703B-47A0-8BD9-56EDD8661A5D" elementFormDefault="qualified">
    <xsd:import namespace="http://schemas.microsoft.com/office/2006/documentManagement/types"/>
    <xsd:import namespace="http://schemas.microsoft.com/office/infopath/2007/PartnerControls"/>
    <xsd:element name="hc6d7eca65f9478abad7d03f5cf64e0f" ma:index="9" nillable="true" ma:taxonomy="true" ma:internalName="hc6d7eca65f9478abad7d03f5cf64e0f" ma:taxonomyFieldName="Category" ma:displayName="Category" ma:default="" ma:fieldId="{1c6d7eca-65f9-478a-bad7-d03f5cf64e0f}" ma:sspId="202c0e86-dd13-49e1-9468-8a61cc7812e1" ma:termSetId="794b5192-67a4-4b44-b00c-5f52222485f4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331262-de25-436d-8f05-154a071bbe3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51C7AFFB-7058-41CA-918F-5D04FCCBBA61}" ma:internalName="TaxCatchAll" ma:showField="CatchAllData" ma:web="{149a1508-1ebd-4030-9baf-02a9b71157b9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e8331262-de25-436d-8f05-154a071bbe3b"/>
    <hc6d7eca65f9478abad7d03f5cf64e0f xmlns="B0BDE463-703B-47A0-8BD9-56EDD8661A5D">
      <Terms xmlns="http://schemas.microsoft.com/office/infopath/2007/PartnerControls"/>
    </hc6d7eca65f9478abad7d03f5cf64e0f>
  </documentManagement>
</p:properties>
</file>

<file path=customXml/itemProps1.xml><?xml version="1.0" encoding="utf-8"?>
<ds:datastoreItem xmlns:ds="http://schemas.openxmlformats.org/officeDocument/2006/customXml" ds:itemID="{D1B9F82F-A311-4617-9587-2B7E132369B2}">
  <ds:schemaRefs/>
</ds:datastoreItem>
</file>

<file path=customXml/itemProps2.xml><?xml version="1.0" encoding="utf-8"?>
<ds:datastoreItem xmlns:ds="http://schemas.openxmlformats.org/officeDocument/2006/customXml" ds:itemID="{CF77EC68-3085-467F-8CCD-EC71E5574365}">
  <ds:schemaRefs/>
</ds:datastoreItem>
</file>

<file path=customXml/itemProps3.xml><?xml version="1.0" encoding="utf-8"?>
<ds:datastoreItem xmlns:ds="http://schemas.openxmlformats.org/officeDocument/2006/customXml" ds:itemID="{C1A70FB2-E74D-47B3-9738-46D2DA1C41C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XJTLU THEME</Template>
  <TotalTime>0</TotalTime>
  <Words>672</Words>
  <Application>WPS 演示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等线 Light</vt:lpstr>
      <vt:lpstr>Calibri Light</vt:lpstr>
      <vt:lpstr>等线</vt:lpstr>
      <vt:lpstr>微软雅黑</vt:lpstr>
      <vt:lpstr>Arial Unicode MS</vt:lpstr>
      <vt:lpstr>Calibri</vt:lpstr>
      <vt:lpstr>XJTLU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Feng Cao</dc:creator>
  <cp:lastModifiedBy>Y77</cp:lastModifiedBy>
  <cp:revision>5</cp:revision>
  <dcterms:created xsi:type="dcterms:W3CDTF">2019-02-15T03:52:00Z</dcterms:created>
  <dcterms:modified xsi:type="dcterms:W3CDTF">2025-11-27T05:39:05Z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0x01010077258419C7884242A287075DD4CBA53F</vt:lpwstr>
  </property>
  <property fmtid="{D5CDD505-2E9C-101B-9397-08002B2CF9AE}" pid="3" name="Category">
    <vt:lpwstr/>
  </property>
  <property fmtid="{D5CDD505-2E9C-101B-9397-08002B2CF9AE}" pid="4" name="ICV">
    <vt:lpwstr>7E1B8D590AFD4DAAAF205C5A269B7B68_13</vt:lpwstr>
  </property>
  <property fmtid="{D5CDD505-2E9C-101B-9397-08002B2CF9AE}" pid="5" name="KSOProductBuildVer">
    <vt:lpwstr>2052-12.1.0.23542</vt:lpwstr>
  </property>
</Properties>
</file>