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4"/>
  </p:notesMasterIdLst>
  <p:handoutMasterIdLst>
    <p:handoutMasterId r:id="rId85"/>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54" d="100"/>
          <a:sy n="154" d="100"/>
        </p:scale>
        <p:origin x="120"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2025-08-25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EA0E4-D81D-48D4-B063-94D043ABBBF5}" type="datetimeFigureOut">
              <a:rPr lang="en-US" smtClean="0"/>
              <a:t>2025-08-25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BEAA8B-55FF-4189-AD23-0E2B7538DDC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TEST instruction uses AND logic on the bit pairs from both the arg0 and arg1 and can check if a specific bit is set or not, then FLAGS set accordingly. (With the integer result discarded) (The TEST operation sets the flags CF and OF to zero. The SF is set to the most significant bit of the result of the AND. If the result is 0, the ZF is set to 1, otherwise set to 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or negative?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7B1243C-69CF-472B-BAC4-6D3C075D401F}" type="datetime1">
              <a:rPr lang="en-US" smtClean="0"/>
              <a:t>2025-08-25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3FBD30-14A0-4A7F-8AA2-40626078803E}" type="datetime1">
              <a:rPr lang="en-US" smtClean="0"/>
              <a:t>2025-08-25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44984F-7DC6-4034-A69A-396177E65F12}" type="datetime1">
              <a:rPr lang="en-US" smtClean="0"/>
              <a:t>2025-08-25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F948BF2-7EEE-4AE0-92EE-26E336560618}" type="datetime1">
              <a:rPr lang="en-US" smtClean="0"/>
              <a:t>2025-08-25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A466B4-5757-46F4-825C-A625C3B95D96}" type="datetime1">
              <a:rPr lang="en-US" smtClean="0"/>
              <a:t>2025-08-25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9D2F7C-3B61-44C4-AF49-6757A47A242E}" type="datetime1">
              <a:rPr lang="en-US" smtClean="0"/>
              <a:t>2025-08-25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CB689E-CC4A-4DCA-9375-5CA1DD5E1DFC}" type="datetime1">
              <a:rPr lang="en-US" smtClean="0"/>
              <a:t>2025-08-25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AF5E73D-7791-4700-BD6F-3EEE86B836F4}" type="datetime1">
              <a:rPr lang="en-US" smtClean="0"/>
              <a:t>2025-08-25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5A43163-DCAA-4996-BCAA-A24928B481FA}" type="datetime1">
              <a:rPr lang="en-US" smtClean="0"/>
              <a:t>2025-08-25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76045D-EC02-4F5F-B563-EF04AE1829C5}" type="datetime1">
              <a:rPr lang="en-US" smtClean="0"/>
              <a:t>2025-08-25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19DED7-48B3-4470-8335-32B455AA89EC}" type="datetime1">
              <a:rPr lang="en-US" smtClean="0"/>
              <a:t>2025-08-25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1B45BB-47DD-4FFE-AFAF-9A1D2EB112A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52A46-D38C-4EB0-8C61-95AE3449FD7E}" type="datetime1">
              <a:rPr lang="en-US" smtClean="0"/>
              <a:t>2025-08-25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1B45BB-47DD-4FFE-AFAF-9A1D2EB112A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655608"/>
            <a:ext cx="9144000" cy="5745192"/>
          </a:xfrm>
        </p:spPr>
        <p:txBody>
          <a:bodyPr>
            <a:normAutofit/>
          </a:bodyPr>
          <a:lstStyle/>
          <a:p>
            <a:endParaRPr lang="en-US" dirty="0"/>
          </a:p>
          <a:p>
            <a:endParaRPr lang="en-US" dirty="0"/>
          </a:p>
          <a:p>
            <a:endParaRPr lang="en-US" dirty="0"/>
          </a:p>
          <a:p>
            <a:r>
              <a:rPr lang="en-US" sz="4800" dirty="0"/>
              <a:t>Assembly Language</a:t>
            </a:r>
          </a:p>
          <a:p>
            <a:r>
              <a:rPr lang="en-US" dirty="0"/>
              <a:t>Important Instructions and Syntax</a:t>
            </a:r>
          </a:p>
          <a:p>
            <a:r>
              <a:rPr lang="en-US" b="1" dirty="0"/>
              <a:t>Dr. Kok Hoe WONG</a:t>
            </a:r>
          </a:p>
          <a:p>
            <a:r>
              <a:rPr lang="en-US" dirty="0">
                <a:solidFill>
                  <a:srgbClr val="FF0000"/>
                </a:solidFill>
              </a:rPr>
              <a:t>The information presented in this PPT is written with MASM. You are supposed to use </a:t>
            </a:r>
            <a:r>
              <a:rPr lang="en-US" b="1" u="sng" dirty="0">
                <a:solidFill>
                  <a:srgbClr val="FF0000"/>
                </a:solidFill>
              </a:rPr>
              <a:t>Visual C/C++ inline assembler</a:t>
            </a:r>
            <a:r>
              <a:rPr lang="en-US" dirty="0">
                <a:solidFill>
                  <a:srgbClr val="FF0000"/>
                </a:solidFill>
              </a:rPr>
              <a:t> to program. As such the declaration of data elements is different but the concepts and instruction sets are the same.</a:t>
            </a:r>
            <a:r>
              <a:rPr lang="en-US" dirty="0"/>
              <a:t> </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26"/>
          <p:cNvSpPr>
            <a:spLocks noGrp="1" noChangeArrowheads="1"/>
          </p:cNvSpPr>
          <p:nvPr>
            <p:ph type="title"/>
          </p:nvPr>
        </p:nvSpPr>
        <p:spPr/>
        <p:txBody>
          <a:bodyPr/>
          <a:lstStyle/>
          <a:p>
            <a:pPr eaLnBrk="1" hangingPunct="1">
              <a:defRPr/>
            </a:pPr>
            <a:r>
              <a:rPr lang="en-US" altLang="en-US"/>
              <a:t>Translating Languages</a:t>
            </a:r>
          </a:p>
        </p:txBody>
      </p:sp>
      <p:sp>
        <p:nvSpPr>
          <p:cNvPr id="23557" name="Text Box 1027"/>
          <p:cNvSpPr txBox="1">
            <a:spLocks noChangeArrowheads="1"/>
          </p:cNvSpPr>
          <p:nvPr/>
        </p:nvSpPr>
        <p:spPr bwMode="auto">
          <a:xfrm>
            <a:off x="2209800" y="1695096"/>
            <a:ext cx="6172200" cy="6032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solidFill>
                  <a:schemeClr val="tx2"/>
                </a:solidFill>
              </a:rPr>
              <a:t>English:</a:t>
            </a:r>
            <a:r>
              <a:rPr lang="en-US" altLang="en-US"/>
              <a:t> Display the sum of A times B plus C.</a:t>
            </a:r>
          </a:p>
        </p:txBody>
      </p:sp>
      <p:sp>
        <p:nvSpPr>
          <p:cNvPr id="23558" name="Text Box 1028"/>
          <p:cNvSpPr txBox="1">
            <a:spLocks noChangeArrowheads="1"/>
          </p:cNvSpPr>
          <p:nvPr/>
        </p:nvSpPr>
        <p:spPr bwMode="auto">
          <a:xfrm>
            <a:off x="2209800" y="2838096"/>
            <a:ext cx="3733800" cy="6032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solidFill>
                  <a:schemeClr val="tx2"/>
                </a:solidFill>
              </a:rPr>
              <a:t>C++:</a:t>
            </a:r>
            <a:r>
              <a:rPr lang="en-US" altLang="en-US"/>
              <a:t>  cout &lt;&lt; (A * B + C);</a:t>
            </a:r>
          </a:p>
        </p:txBody>
      </p:sp>
      <p:sp>
        <p:nvSpPr>
          <p:cNvPr id="23559" name="Text Box 1029"/>
          <p:cNvSpPr txBox="1">
            <a:spLocks noChangeArrowheads="1"/>
          </p:cNvSpPr>
          <p:nvPr/>
        </p:nvSpPr>
        <p:spPr bwMode="auto">
          <a:xfrm>
            <a:off x="2209800" y="4057296"/>
            <a:ext cx="3200400" cy="19177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solidFill>
                  <a:schemeClr val="tx2"/>
                </a:solidFill>
              </a:rPr>
              <a:t>Assembly Language:</a:t>
            </a:r>
          </a:p>
          <a:p>
            <a:pPr eaLnBrk="1" hangingPunct="1">
              <a:lnSpc>
                <a:spcPct val="70000"/>
              </a:lnSpc>
              <a:spcBef>
                <a:spcPct val="50000"/>
              </a:spcBef>
            </a:pPr>
            <a:r>
              <a:rPr lang="en-US" altLang="en-US" dirty="0" err="1"/>
              <a:t>mov</a:t>
            </a:r>
            <a:r>
              <a:rPr lang="en-US" altLang="en-US" dirty="0"/>
              <a:t> </a:t>
            </a:r>
            <a:r>
              <a:rPr lang="en-US" altLang="en-US" dirty="0" err="1"/>
              <a:t>eax,A</a:t>
            </a:r>
            <a:endParaRPr lang="en-US" altLang="en-US" dirty="0"/>
          </a:p>
          <a:p>
            <a:pPr eaLnBrk="1" hangingPunct="1">
              <a:lnSpc>
                <a:spcPct val="40000"/>
              </a:lnSpc>
              <a:spcBef>
                <a:spcPct val="50000"/>
              </a:spcBef>
            </a:pPr>
            <a:r>
              <a:rPr lang="en-US" altLang="en-US" dirty="0" err="1"/>
              <a:t>mul</a:t>
            </a:r>
            <a:r>
              <a:rPr lang="en-US" altLang="en-US" dirty="0"/>
              <a:t> B</a:t>
            </a:r>
          </a:p>
          <a:p>
            <a:pPr eaLnBrk="1" hangingPunct="1">
              <a:lnSpc>
                <a:spcPct val="40000"/>
              </a:lnSpc>
              <a:spcBef>
                <a:spcPct val="50000"/>
              </a:spcBef>
            </a:pPr>
            <a:r>
              <a:rPr lang="en-US" altLang="en-US" dirty="0"/>
              <a:t>add </a:t>
            </a:r>
            <a:r>
              <a:rPr lang="en-US" altLang="en-US" dirty="0" err="1"/>
              <a:t>eax,C</a:t>
            </a:r>
            <a:endParaRPr lang="en-US" altLang="en-US" dirty="0"/>
          </a:p>
          <a:p>
            <a:pPr eaLnBrk="1" hangingPunct="1">
              <a:lnSpc>
                <a:spcPct val="60000"/>
              </a:lnSpc>
              <a:spcBef>
                <a:spcPct val="50000"/>
              </a:spcBef>
            </a:pPr>
            <a:r>
              <a:rPr lang="en-US" altLang="en-US" dirty="0"/>
              <a:t>call </a:t>
            </a:r>
            <a:r>
              <a:rPr lang="en-US" altLang="en-US" dirty="0" err="1"/>
              <a:t>WriteInt</a:t>
            </a:r>
            <a:endParaRPr lang="en-US" altLang="en-US" dirty="0"/>
          </a:p>
        </p:txBody>
      </p:sp>
      <p:sp>
        <p:nvSpPr>
          <p:cNvPr id="23560" name="Text Box 1030"/>
          <p:cNvSpPr txBox="1">
            <a:spLocks noChangeArrowheads="1"/>
          </p:cNvSpPr>
          <p:nvPr/>
        </p:nvSpPr>
        <p:spPr bwMode="auto">
          <a:xfrm>
            <a:off x="6248400" y="4057296"/>
            <a:ext cx="3810000" cy="21399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solidFill>
                  <a:schemeClr val="tx2"/>
                </a:solidFill>
              </a:rPr>
              <a:t>Intel Machine Language:</a:t>
            </a:r>
          </a:p>
          <a:p>
            <a:pPr eaLnBrk="1" hangingPunct="1">
              <a:lnSpc>
                <a:spcPct val="70000"/>
              </a:lnSpc>
              <a:spcBef>
                <a:spcPct val="50000"/>
              </a:spcBef>
            </a:pPr>
            <a:r>
              <a:rPr lang="en-US" altLang="en-US"/>
              <a:t>A1 00000000</a:t>
            </a:r>
          </a:p>
          <a:p>
            <a:pPr eaLnBrk="1" hangingPunct="1">
              <a:lnSpc>
                <a:spcPct val="70000"/>
              </a:lnSpc>
              <a:spcBef>
                <a:spcPct val="50000"/>
              </a:spcBef>
            </a:pPr>
            <a:r>
              <a:rPr lang="en-US" altLang="en-US"/>
              <a:t>F7 25 00000004</a:t>
            </a:r>
          </a:p>
          <a:p>
            <a:pPr eaLnBrk="1" hangingPunct="1">
              <a:lnSpc>
                <a:spcPct val="70000"/>
              </a:lnSpc>
              <a:spcBef>
                <a:spcPct val="50000"/>
              </a:spcBef>
            </a:pPr>
            <a:r>
              <a:rPr lang="en-US" altLang="en-US"/>
              <a:t>03 05 00000008</a:t>
            </a:r>
          </a:p>
          <a:p>
            <a:pPr eaLnBrk="1" hangingPunct="1">
              <a:lnSpc>
                <a:spcPct val="70000"/>
              </a:lnSpc>
              <a:spcBef>
                <a:spcPct val="50000"/>
              </a:spcBef>
            </a:pPr>
            <a:r>
              <a:rPr lang="en-US" altLang="en-US"/>
              <a:t>E8 00500000</a:t>
            </a:r>
          </a:p>
        </p:txBody>
      </p:sp>
      <p:sp>
        <p:nvSpPr>
          <p:cNvPr id="23561" name="Line 1031"/>
          <p:cNvSpPr>
            <a:spLocks noChangeShapeType="1"/>
          </p:cNvSpPr>
          <p:nvPr/>
        </p:nvSpPr>
        <p:spPr bwMode="auto">
          <a:xfrm>
            <a:off x="3505200" y="2380896"/>
            <a:ext cx="0" cy="457200"/>
          </a:xfrm>
          <a:prstGeom prst="line">
            <a:avLst/>
          </a:prstGeom>
          <a:noFill/>
          <a:ln w="9525">
            <a:solidFill>
              <a:schemeClr val="tx2"/>
            </a:solidFill>
            <a:round/>
            <a:tailEnd type="triangle" w="lg"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23562" name="Line 1032"/>
          <p:cNvSpPr>
            <a:spLocks noChangeShapeType="1"/>
          </p:cNvSpPr>
          <p:nvPr/>
        </p:nvSpPr>
        <p:spPr bwMode="auto">
          <a:xfrm>
            <a:off x="3505200" y="3523896"/>
            <a:ext cx="0" cy="457200"/>
          </a:xfrm>
          <a:prstGeom prst="line">
            <a:avLst/>
          </a:prstGeom>
          <a:noFill/>
          <a:ln w="9525">
            <a:solidFill>
              <a:schemeClr val="tx2"/>
            </a:solidFill>
            <a:round/>
            <a:tailEnd type="triangle" w="lg"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23563" name="Line 1033"/>
          <p:cNvSpPr>
            <a:spLocks noChangeShapeType="1"/>
          </p:cNvSpPr>
          <p:nvPr/>
        </p:nvSpPr>
        <p:spPr bwMode="auto">
          <a:xfrm>
            <a:off x="5410200" y="4971696"/>
            <a:ext cx="762000" cy="0"/>
          </a:xfrm>
          <a:prstGeom prst="line">
            <a:avLst/>
          </a:prstGeom>
          <a:noFill/>
          <a:ln w="9525">
            <a:solidFill>
              <a:schemeClr val="tx2"/>
            </a:solidFill>
            <a:round/>
            <a:tailEnd type="triangle" w="lg"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2" name="Slide Number Placeholder 1"/>
          <p:cNvSpPr>
            <a:spLocks noGrp="1"/>
          </p:cNvSpPr>
          <p:nvPr>
            <p:ph type="sldNum" sz="quarter" idx="12"/>
          </p:nvPr>
        </p:nvSpPr>
        <p:spPr/>
        <p:txBody>
          <a:bodyPr/>
          <a:lstStyle/>
          <a:p>
            <a:fld id="{F51B45BB-47DD-4FFE-AFAF-9A1D2EB112A2}"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lang="en-US" altLang="en-US" dirty="0"/>
              <a:t>General-Purpose Registers</a:t>
            </a:r>
          </a:p>
        </p:txBody>
      </p:sp>
      <p:graphicFrame>
        <p:nvGraphicFramePr>
          <p:cNvPr id="4098" name="Object 4"/>
          <p:cNvGraphicFramePr>
            <a:graphicFrameLocks noChangeAspect="1"/>
          </p:cNvGraphicFramePr>
          <p:nvPr/>
        </p:nvGraphicFramePr>
        <p:xfrm>
          <a:off x="3276600" y="2484412"/>
          <a:ext cx="5638800" cy="3421063"/>
        </p:xfrm>
        <a:graphic>
          <a:graphicData uri="http://schemas.openxmlformats.org/presentationml/2006/ole">
            <mc:AlternateContent xmlns:mc="http://schemas.openxmlformats.org/markup-compatibility/2006">
              <mc:Choice xmlns:v="urn:schemas-microsoft-com:vml" Requires="v">
                <p:oleObj name="VISIO" r:id="rId2" imgW="4210685" imgH="2549525" progId="Visio.Drawing.6">
                  <p:embed/>
                </p:oleObj>
              </mc:Choice>
              <mc:Fallback>
                <p:oleObj name="VISIO" r:id="rId2" imgW="4210685" imgH="2549525"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484412"/>
                        <a:ext cx="5638800" cy="342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2" name="Text Box 5"/>
          <p:cNvSpPr txBox="1">
            <a:spLocks noChangeArrowheads="1"/>
          </p:cNvSpPr>
          <p:nvPr/>
        </p:nvSpPr>
        <p:spPr bwMode="auto">
          <a:xfrm>
            <a:off x="2514600" y="1493811"/>
            <a:ext cx="7010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Named storage locations inside the CPU, optimized for speed.</a:t>
            </a:r>
          </a:p>
        </p:txBody>
      </p:sp>
      <p:sp>
        <p:nvSpPr>
          <p:cNvPr id="2" name="Slide Number Placeholder 1"/>
          <p:cNvSpPr>
            <a:spLocks noGrp="1"/>
          </p:cNvSpPr>
          <p:nvPr>
            <p:ph type="sldNum" sz="quarter" idx="12"/>
          </p:nvPr>
        </p:nvSpPr>
        <p:spPr/>
        <p:txBody>
          <a:bodyPr/>
          <a:lstStyle/>
          <a:p>
            <a:fld id="{F51B45BB-47DD-4FFE-AFAF-9A1D2EB112A2}"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defRPr/>
            </a:pPr>
            <a:r>
              <a:rPr lang="en-US" altLang="en-US"/>
              <a:t>Accessing Parts of Registers</a:t>
            </a:r>
          </a:p>
        </p:txBody>
      </p:sp>
      <p:sp>
        <p:nvSpPr>
          <p:cNvPr id="5126" name="Rectangle 3"/>
          <p:cNvSpPr>
            <a:spLocks noGrp="1" noChangeArrowheads="1"/>
          </p:cNvSpPr>
          <p:nvPr>
            <p:ph type="body" idx="1"/>
          </p:nvPr>
        </p:nvSpPr>
        <p:spPr>
          <a:xfrm>
            <a:off x="2209800" y="1539819"/>
            <a:ext cx="7772400" cy="990600"/>
          </a:xfrm>
        </p:spPr>
        <p:txBody>
          <a:bodyPr/>
          <a:lstStyle/>
          <a:p>
            <a:pPr eaLnBrk="1" hangingPunct="1"/>
            <a:r>
              <a:rPr lang="en-US" altLang="en-US"/>
              <a:t>Use 8-bit name, 16-bit name, or 32-bit name</a:t>
            </a:r>
          </a:p>
          <a:p>
            <a:pPr eaLnBrk="1" hangingPunct="1"/>
            <a:r>
              <a:rPr lang="en-US" altLang="en-US"/>
              <a:t>Applies to EAX, EBX, ECX, and EDX</a:t>
            </a:r>
          </a:p>
        </p:txBody>
      </p:sp>
      <p:graphicFrame>
        <p:nvGraphicFramePr>
          <p:cNvPr id="5122" name="Object 4"/>
          <p:cNvGraphicFramePr>
            <a:graphicFrameLocks noChangeAspect="1"/>
          </p:cNvGraphicFramePr>
          <p:nvPr/>
        </p:nvGraphicFramePr>
        <p:xfrm>
          <a:off x="4191000" y="2606619"/>
          <a:ext cx="3657600" cy="1981200"/>
        </p:xfrm>
        <a:graphic>
          <a:graphicData uri="http://schemas.openxmlformats.org/presentationml/2006/ole">
            <mc:AlternateContent xmlns:mc="http://schemas.openxmlformats.org/markup-compatibility/2006">
              <mc:Choice xmlns:v="urn:schemas-microsoft-com:vml" Requires="v">
                <p:oleObj name="VISIO" r:id="rId2" imgW="2701925" imgH="1475105" progId="Visio.Drawing.6">
                  <p:embed/>
                </p:oleObj>
              </mc:Choice>
              <mc:Fallback>
                <p:oleObj name="VISIO" r:id="rId2" imgW="2701925" imgH="1475105"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2127" b="-1216"/>
                      <a:stretch>
                        <a:fillRect/>
                      </a:stretch>
                    </p:blipFill>
                    <p:spPr bwMode="auto">
                      <a:xfrm>
                        <a:off x="4191000" y="2606619"/>
                        <a:ext cx="3657600" cy="1981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059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1" y="4816420"/>
            <a:ext cx="4518025"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51B45BB-47DD-4FFE-AFAF-9A1D2EB112A2}" type="slidenum">
              <a:rPr lang="en-US" smtClean="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0598"/>
                                        </p:tgtEl>
                                        <p:attrNameLst>
                                          <p:attrName>style.visibility</p:attrName>
                                        </p:attrNameLst>
                                      </p:cBhvr>
                                      <p:to>
                                        <p:strVal val="visible"/>
                                      </p:to>
                                    </p:set>
                                    <p:animEffect transition="in" filter="dissolve">
                                      <p:cBhvr>
                                        <p:cTn id="7" dur="500"/>
                                        <p:tgtEl>
                                          <p:spTgt spid="11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defRPr/>
            </a:pPr>
            <a:r>
              <a:rPr lang="en-US" altLang="en-US"/>
              <a:t>Index and Base Registers</a:t>
            </a:r>
          </a:p>
        </p:txBody>
      </p:sp>
      <p:sp>
        <p:nvSpPr>
          <p:cNvPr id="22533" name="Rectangle 3"/>
          <p:cNvSpPr>
            <a:spLocks noGrp="1" noChangeArrowheads="1"/>
          </p:cNvSpPr>
          <p:nvPr>
            <p:ph type="body" idx="1"/>
          </p:nvPr>
        </p:nvSpPr>
        <p:spPr>
          <a:xfrm>
            <a:off x="2209800" y="2074659"/>
            <a:ext cx="7772400" cy="1066800"/>
          </a:xfrm>
        </p:spPr>
        <p:txBody>
          <a:bodyPr/>
          <a:lstStyle/>
          <a:p>
            <a:pPr eaLnBrk="1" hangingPunct="1"/>
            <a:r>
              <a:rPr lang="en-US" altLang="en-US"/>
              <a:t>Some registers have only a 16-bit name for their lower half:</a:t>
            </a:r>
          </a:p>
        </p:txBody>
      </p:sp>
      <p:pic>
        <p:nvPicPr>
          <p:cNvPr id="2253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065259"/>
            <a:ext cx="2865438"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51B45BB-47DD-4FFE-AFAF-9A1D2EB112A2}"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026"/>
          <p:cNvSpPr>
            <a:spLocks noGrp="1" noChangeArrowheads="1"/>
          </p:cNvSpPr>
          <p:nvPr>
            <p:ph type="title"/>
          </p:nvPr>
        </p:nvSpPr>
        <p:spPr/>
        <p:txBody>
          <a:bodyPr/>
          <a:lstStyle/>
          <a:p>
            <a:pPr eaLnBrk="1" hangingPunct="1">
              <a:defRPr/>
            </a:pPr>
            <a:r>
              <a:rPr lang="en-US" altLang="en-US"/>
              <a:t>Some Specialized Register Uses </a:t>
            </a:r>
            <a:r>
              <a:rPr lang="en-US" altLang="en-US" sz="2400"/>
              <a:t>(1 of 2)</a:t>
            </a:r>
            <a:endParaRPr lang="en-US" altLang="en-US"/>
          </a:p>
        </p:txBody>
      </p:sp>
      <p:sp>
        <p:nvSpPr>
          <p:cNvPr id="23557" name="Rectangle 1027"/>
          <p:cNvSpPr>
            <a:spLocks noGrp="1" noChangeArrowheads="1"/>
          </p:cNvSpPr>
          <p:nvPr>
            <p:ph type="body" idx="1"/>
          </p:nvPr>
        </p:nvSpPr>
        <p:spPr>
          <a:xfrm>
            <a:off x="3124200" y="1781358"/>
            <a:ext cx="6019800" cy="4267200"/>
          </a:xfrm>
        </p:spPr>
        <p:txBody>
          <a:bodyPr>
            <a:normAutofit lnSpcReduction="10000"/>
          </a:bodyPr>
          <a:lstStyle/>
          <a:p>
            <a:pPr eaLnBrk="1" hangingPunct="1">
              <a:lnSpc>
                <a:spcPct val="90000"/>
              </a:lnSpc>
            </a:pPr>
            <a:r>
              <a:rPr lang="en-US" altLang="en-US" dirty="0"/>
              <a:t>General-Purpose</a:t>
            </a:r>
          </a:p>
          <a:p>
            <a:pPr lvl="1" eaLnBrk="1" hangingPunct="1">
              <a:lnSpc>
                <a:spcPct val="90000"/>
              </a:lnSpc>
            </a:pPr>
            <a:r>
              <a:rPr lang="en-US" altLang="en-US" dirty="0"/>
              <a:t>EAX – accumulator</a:t>
            </a:r>
          </a:p>
          <a:p>
            <a:pPr lvl="1" eaLnBrk="1" hangingPunct="1">
              <a:lnSpc>
                <a:spcPct val="90000"/>
              </a:lnSpc>
            </a:pPr>
            <a:r>
              <a:rPr lang="en-US" altLang="en-US" dirty="0"/>
              <a:t>ECX – loop counter</a:t>
            </a:r>
          </a:p>
          <a:p>
            <a:pPr lvl="1" eaLnBrk="1" hangingPunct="1">
              <a:lnSpc>
                <a:spcPct val="90000"/>
              </a:lnSpc>
            </a:pPr>
            <a:r>
              <a:rPr lang="en-US" altLang="en-US" dirty="0"/>
              <a:t>ESP – stack pointer</a:t>
            </a:r>
          </a:p>
          <a:p>
            <a:pPr lvl="1" eaLnBrk="1" hangingPunct="1">
              <a:lnSpc>
                <a:spcPct val="90000"/>
              </a:lnSpc>
            </a:pPr>
            <a:r>
              <a:rPr lang="en-US" altLang="en-US" dirty="0"/>
              <a:t>ESI, EDI – index registers</a:t>
            </a:r>
          </a:p>
          <a:p>
            <a:pPr lvl="1" eaLnBrk="1" hangingPunct="1">
              <a:lnSpc>
                <a:spcPct val="90000"/>
              </a:lnSpc>
            </a:pPr>
            <a:r>
              <a:rPr lang="en-US" altLang="en-US" dirty="0"/>
              <a:t>EBP – extended frame pointer (stack)</a:t>
            </a:r>
          </a:p>
          <a:p>
            <a:pPr eaLnBrk="1" hangingPunct="1">
              <a:lnSpc>
                <a:spcPct val="90000"/>
              </a:lnSpc>
            </a:pPr>
            <a:r>
              <a:rPr lang="en-US" altLang="en-US" dirty="0"/>
              <a:t>Segment</a:t>
            </a:r>
          </a:p>
          <a:p>
            <a:pPr lvl="1" eaLnBrk="1" hangingPunct="1">
              <a:lnSpc>
                <a:spcPct val="90000"/>
              </a:lnSpc>
            </a:pPr>
            <a:r>
              <a:rPr lang="en-US" altLang="en-US" dirty="0"/>
              <a:t>CS – code segment</a:t>
            </a:r>
          </a:p>
          <a:p>
            <a:pPr lvl="1" eaLnBrk="1" hangingPunct="1">
              <a:lnSpc>
                <a:spcPct val="90000"/>
              </a:lnSpc>
            </a:pPr>
            <a:r>
              <a:rPr lang="en-US" altLang="en-US" dirty="0"/>
              <a:t>DS – data segment</a:t>
            </a:r>
          </a:p>
          <a:p>
            <a:pPr lvl="1" eaLnBrk="1" hangingPunct="1">
              <a:lnSpc>
                <a:spcPct val="90000"/>
              </a:lnSpc>
            </a:pPr>
            <a:r>
              <a:rPr lang="en-US" altLang="en-US" dirty="0"/>
              <a:t>SS – stack segment</a:t>
            </a:r>
          </a:p>
          <a:p>
            <a:pPr lvl="1" eaLnBrk="1" hangingPunct="1">
              <a:lnSpc>
                <a:spcPct val="90000"/>
              </a:lnSpc>
            </a:pPr>
            <a:r>
              <a:rPr lang="en-US" altLang="en-US" dirty="0"/>
              <a:t>ES, FS, GS - additional segments</a:t>
            </a:r>
          </a:p>
        </p:txBody>
      </p:sp>
      <p:sp>
        <p:nvSpPr>
          <p:cNvPr id="2" name="Slide Number Placeholder 1"/>
          <p:cNvSpPr>
            <a:spLocks noGrp="1"/>
          </p:cNvSpPr>
          <p:nvPr>
            <p:ph type="sldNum" sz="quarter" idx="12"/>
          </p:nvPr>
        </p:nvSpPr>
        <p:spPr/>
        <p:txBody>
          <a:bodyPr/>
          <a:lstStyle/>
          <a:p>
            <a:fld id="{F51B45BB-47DD-4FFE-AFAF-9A1D2EB112A2}"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defRPr/>
            </a:pPr>
            <a:r>
              <a:rPr lang="en-US" altLang="en-US"/>
              <a:t>Some Specialized Register Uses </a:t>
            </a:r>
            <a:r>
              <a:rPr lang="en-US" altLang="en-US" sz="2400"/>
              <a:t>(2 of 2)</a:t>
            </a:r>
          </a:p>
        </p:txBody>
      </p:sp>
      <p:sp>
        <p:nvSpPr>
          <p:cNvPr id="24581" name="Rectangle 3"/>
          <p:cNvSpPr>
            <a:spLocks noGrp="1" noChangeArrowheads="1"/>
          </p:cNvSpPr>
          <p:nvPr>
            <p:ph type="body" idx="1"/>
          </p:nvPr>
        </p:nvSpPr>
        <p:spPr>
          <a:xfrm>
            <a:off x="2971800" y="2333451"/>
            <a:ext cx="6019800" cy="2057400"/>
          </a:xfrm>
        </p:spPr>
        <p:txBody>
          <a:bodyPr/>
          <a:lstStyle/>
          <a:p>
            <a:pPr eaLnBrk="1" hangingPunct="1"/>
            <a:r>
              <a:rPr lang="en-US" altLang="en-US" dirty="0"/>
              <a:t>EIP – instruction pointer</a:t>
            </a:r>
          </a:p>
          <a:p>
            <a:pPr eaLnBrk="1" hangingPunct="1"/>
            <a:r>
              <a:rPr lang="en-US" altLang="en-US" dirty="0"/>
              <a:t>EFLAGS</a:t>
            </a:r>
          </a:p>
          <a:p>
            <a:pPr lvl="1" eaLnBrk="1" hangingPunct="1"/>
            <a:r>
              <a:rPr lang="en-US" altLang="en-US" dirty="0"/>
              <a:t>status and control flags</a:t>
            </a:r>
          </a:p>
          <a:p>
            <a:pPr lvl="1" eaLnBrk="1" hangingPunct="1"/>
            <a:r>
              <a:rPr lang="en-US" altLang="en-US" dirty="0"/>
              <a:t>each flag is a single binary bit</a:t>
            </a:r>
          </a:p>
        </p:txBody>
      </p:sp>
      <p:sp>
        <p:nvSpPr>
          <p:cNvPr id="2" name="Slide Number Placeholder 1"/>
          <p:cNvSpPr>
            <a:spLocks noGrp="1"/>
          </p:cNvSpPr>
          <p:nvPr>
            <p:ph type="sldNum" sz="quarter" idx="12"/>
          </p:nvPr>
        </p:nvSpPr>
        <p:spPr/>
        <p:txBody>
          <a:bodyPr/>
          <a:lstStyle/>
          <a:p>
            <a:fld id="{F51B45BB-47DD-4FFE-AFAF-9A1D2EB112A2}"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en-US" altLang="en-US"/>
              <a:t>Instructions</a:t>
            </a:r>
          </a:p>
        </p:txBody>
      </p:sp>
      <p:sp>
        <p:nvSpPr>
          <p:cNvPr id="13317" name="Rectangle 3"/>
          <p:cNvSpPr>
            <a:spLocks noGrp="1" noChangeArrowheads="1"/>
          </p:cNvSpPr>
          <p:nvPr>
            <p:ph type="body" idx="1"/>
          </p:nvPr>
        </p:nvSpPr>
        <p:spPr>
          <a:xfrm>
            <a:off x="2667000" y="1856121"/>
            <a:ext cx="7010400" cy="4495800"/>
          </a:xfrm>
        </p:spPr>
        <p:txBody>
          <a:bodyPr/>
          <a:lstStyle/>
          <a:p>
            <a:pPr eaLnBrk="1" hangingPunct="1"/>
            <a:r>
              <a:rPr lang="en-US" altLang="en-US" dirty="0"/>
              <a:t>Assembled into machine code by assembler</a:t>
            </a:r>
          </a:p>
          <a:p>
            <a:pPr eaLnBrk="1" hangingPunct="1"/>
            <a:r>
              <a:rPr lang="en-US" altLang="en-US" dirty="0"/>
              <a:t>Executed at runtime by the CPU</a:t>
            </a:r>
          </a:p>
          <a:p>
            <a:pPr eaLnBrk="1" hangingPunct="1"/>
            <a:r>
              <a:rPr lang="en-US" altLang="en-US" dirty="0"/>
              <a:t>We use the Intel IA-32 instruction set</a:t>
            </a:r>
          </a:p>
          <a:p>
            <a:pPr eaLnBrk="1" hangingPunct="1"/>
            <a:r>
              <a:rPr lang="en-US" altLang="en-US" dirty="0"/>
              <a:t>An instruction contains:</a:t>
            </a:r>
          </a:p>
          <a:p>
            <a:pPr lvl="1" eaLnBrk="1" hangingPunct="1"/>
            <a:r>
              <a:rPr lang="en-US" altLang="en-US" dirty="0"/>
              <a:t>Label		(optional)</a:t>
            </a:r>
          </a:p>
          <a:p>
            <a:pPr lvl="1" eaLnBrk="1" hangingPunct="1"/>
            <a:r>
              <a:rPr lang="en-US" altLang="en-US" dirty="0"/>
              <a:t>Mnemonic	(required)</a:t>
            </a:r>
          </a:p>
          <a:p>
            <a:pPr lvl="1" eaLnBrk="1" hangingPunct="1"/>
            <a:r>
              <a:rPr lang="en-US" altLang="en-US" dirty="0"/>
              <a:t>Operand	(depends on the instruction)</a:t>
            </a:r>
          </a:p>
          <a:p>
            <a:pPr lvl="1" eaLnBrk="1" hangingPunct="1"/>
            <a:r>
              <a:rPr lang="en-US" altLang="en-US" dirty="0"/>
              <a:t>Comment	(optional)</a:t>
            </a:r>
          </a:p>
        </p:txBody>
      </p:sp>
      <p:sp>
        <p:nvSpPr>
          <p:cNvPr id="2" name="Slide Number Placeholder 1"/>
          <p:cNvSpPr>
            <a:spLocks noGrp="1"/>
          </p:cNvSpPr>
          <p:nvPr>
            <p:ph type="sldNum" sz="quarter" idx="12"/>
          </p:nvPr>
        </p:nvSpPr>
        <p:spPr/>
        <p:txBody>
          <a:bodyPr/>
          <a:lstStyle/>
          <a:p>
            <a:fld id="{F51B45BB-47DD-4FFE-AFAF-9A1D2EB112A2}"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en-US" altLang="en-US"/>
              <a:t>Labels</a:t>
            </a:r>
          </a:p>
        </p:txBody>
      </p:sp>
      <p:sp>
        <p:nvSpPr>
          <p:cNvPr id="14341" name="Rectangle 3"/>
          <p:cNvSpPr>
            <a:spLocks noGrp="1" noChangeArrowheads="1"/>
          </p:cNvSpPr>
          <p:nvPr>
            <p:ph type="body" idx="1"/>
          </p:nvPr>
        </p:nvSpPr>
        <p:spPr>
          <a:xfrm>
            <a:off x="2209800" y="1781358"/>
            <a:ext cx="7772400" cy="3886200"/>
          </a:xfrm>
        </p:spPr>
        <p:txBody>
          <a:bodyPr>
            <a:normAutofit lnSpcReduction="10000"/>
          </a:bodyPr>
          <a:lstStyle/>
          <a:p>
            <a:pPr eaLnBrk="1" hangingPunct="1"/>
            <a:r>
              <a:rPr lang="en-US" altLang="en-US" dirty="0"/>
              <a:t>Act as place markers</a:t>
            </a:r>
          </a:p>
          <a:p>
            <a:pPr lvl="1" eaLnBrk="1" hangingPunct="1"/>
            <a:r>
              <a:rPr lang="en-US" altLang="en-US" dirty="0"/>
              <a:t>marks the address (offset) of code and data</a:t>
            </a:r>
          </a:p>
          <a:p>
            <a:pPr eaLnBrk="1" hangingPunct="1"/>
            <a:r>
              <a:rPr lang="en-US" altLang="en-US" dirty="0"/>
              <a:t>Follow </a:t>
            </a:r>
            <a:r>
              <a:rPr lang="en-US" altLang="en-US" dirty="0" err="1"/>
              <a:t>identifer</a:t>
            </a:r>
            <a:r>
              <a:rPr lang="en-US" altLang="en-US" dirty="0"/>
              <a:t> rules</a:t>
            </a:r>
          </a:p>
          <a:p>
            <a:pPr eaLnBrk="1" hangingPunct="1"/>
            <a:r>
              <a:rPr lang="en-US" altLang="en-US" dirty="0"/>
              <a:t>Data label</a:t>
            </a:r>
          </a:p>
          <a:p>
            <a:pPr lvl="1" eaLnBrk="1" hangingPunct="1"/>
            <a:r>
              <a:rPr lang="en-US" altLang="en-US" dirty="0"/>
              <a:t>must be unique</a:t>
            </a:r>
          </a:p>
          <a:p>
            <a:pPr lvl="1" eaLnBrk="1" hangingPunct="1"/>
            <a:r>
              <a:rPr lang="en-US" altLang="en-US" dirty="0"/>
              <a:t>example: </a:t>
            </a:r>
            <a:r>
              <a:rPr lang="en-US" altLang="en-US" b="1" dirty="0" err="1">
                <a:solidFill>
                  <a:schemeClr val="tx2"/>
                </a:solidFill>
              </a:rPr>
              <a:t>myArray</a:t>
            </a:r>
            <a:r>
              <a:rPr lang="en-US" altLang="en-US" dirty="0"/>
              <a:t>	</a:t>
            </a:r>
            <a:r>
              <a:rPr lang="en-US" altLang="en-US" sz="1800" dirty="0"/>
              <a:t>(not followed by colon)</a:t>
            </a:r>
          </a:p>
          <a:p>
            <a:pPr eaLnBrk="1" hangingPunct="1"/>
            <a:r>
              <a:rPr lang="en-US" altLang="en-US" dirty="0"/>
              <a:t>Code label</a:t>
            </a:r>
          </a:p>
          <a:p>
            <a:pPr lvl="1" eaLnBrk="1" hangingPunct="1"/>
            <a:r>
              <a:rPr lang="en-US" altLang="en-US" dirty="0"/>
              <a:t>target of jump and loop instructions</a:t>
            </a:r>
          </a:p>
          <a:p>
            <a:pPr lvl="1" eaLnBrk="1" hangingPunct="1"/>
            <a:r>
              <a:rPr lang="en-US" altLang="en-US" dirty="0"/>
              <a:t>example: </a:t>
            </a:r>
            <a:r>
              <a:rPr lang="en-US" altLang="en-US" b="1" dirty="0">
                <a:solidFill>
                  <a:schemeClr val="tx2"/>
                </a:solidFill>
              </a:rPr>
              <a:t>L1:		</a:t>
            </a:r>
            <a:r>
              <a:rPr lang="en-US" altLang="en-US" sz="1800" dirty="0"/>
              <a:t>(followed by colon)</a:t>
            </a:r>
            <a:endParaRPr lang="en-US" altLang="en-US" sz="1800" b="1" dirty="0">
              <a:solidFill>
                <a:schemeClr val="tx2"/>
              </a:solidFill>
            </a:endParaRPr>
          </a:p>
        </p:txBody>
      </p:sp>
      <p:sp>
        <p:nvSpPr>
          <p:cNvPr id="2" name="Slide Number Placeholder 1"/>
          <p:cNvSpPr>
            <a:spLocks noGrp="1"/>
          </p:cNvSpPr>
          <p:nvPr>
            <p:ph type="sldNum" sz="quarter" idx="12"/>
          </p:nvPr>
        </p:nvSpPr>
        <p:spPr/>
        <p:txBody>
          <a:bodyPr/>
          <a:lstStyle/>
          <a:p>
            <a:fld id="{F51B45BB-47DD-4FFE-AFAF-9A1D2EB112A2}"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en-US"/>
              <a:t>Mnemonics and Operands</a:t>
            </a:r>
          </a:p>
        </p:txBody>
      </p:sp>
      <p:sp>
        <p:nvSpPr>
          <p:cNvPr id="15365" name="Rectangle 3"/>
          <p:cNvSpPr>
            <a:spLocks noGrp="1" noChangeArrowheads="1"/>
          </p:cNvSpPr>
          <p:nvPr>
            <p:ph type="body" idx="1"/>
          </p:nvPr>
        </p:nvSpPr>
        <p:spPr>
          <a:xfrm>
            <a:off x="1639019" y="1778481"/>
            <a:ext cx="8038381" cy="4495800"/>
          </a:xfrm>
        </p:spPr>
        <p:txBody>
          <a:bodyPr/>
          <a:lstStyle/>
          <a:p>
            <a:pPr marL="227330" indent="-227330"/>
            <a:r>
              <a:rPr lang="en-US" altLang="en-US" dirty="0"/>
              <a:t>Instruction Mnemonics</a:t>
            </a:r>
          </a:p>
          <a:p>
            <a:pPr lvl="1" eaLnBrk="1" hangingPunct="1"/>
            <a:r>
              <a:rPr lang="en-US" altLang="en-US" dirty="0"/>
              <a:t>memory aid</a:t>
            </a:r>
          </a:p>
          <a:p>
            <a:pPr lvl="1" eaLnBrk="1" hangingPunct="1"/>
            <a:r>
              <a:rPr lang="en-US" altLang="en-US" dirty="0"/>
              <a:t>examples: MOV, ADD, SUB, MUL, INC, DEC</a:t>
            </a:r>
          </a:p>
          <a:p>
            <a:pPr marL="227330" indent="-227330"/>
            <a:r>
              <a:rPr lang="en-US" altLang="en-US" dirty="0"/>
              <a:t>Operands</a:t>
            </a:r>
          </a:p>
          <a:p>
            <a:pPr lvl="1" eaLnBrk="1" hangingPunct="1"/>
            <a:r>
              <a:rPr lang="en-US" altLang="en-US" dirty="0"/>
              <a:t>constant</a:t>
            </a:r>
          </a:p>
          <a:p>
            <a:pPr lvl="1" eaLnBrk="1" hangingPunct="1"/>
            <a:r>
              <a:rPr lang="en-US" altLang="en-US" dirty="0"/>
              <a:t>constant expression</a:t>
            </a:r>
          </a:p>
          <a:p>
            <a:pPr lvl="1" eaLnBrk="1" hangingPunct="1"/>
            <a:r>
              <a:rPr lang="en-US" altLang="en-US" dirty="0"/>
              <a:t>register</a:t>
            </a:r>
          </a:p>
          <a:p>
            <a:pPr lvl="1" eaLnBrk="1" hangingPunct="1"/>
            <a:r>
              <a:rPr lang="en-US" altLang="en-US" dirty="0"/>
              <a:t>memory (data label)</a:t>
            </a:r>
          </a:p>
          <a:p>
            <a:pPr marL="227330" indent="-227330">
              <a:buNone/>
            </a:pPr>
            <a:endParaRPr lang="en-US" altLang="en-US" sz="2000" dirty="0"/>
          </a:p>
          <a:p>
            <a:pPr marL="227330" indent="-227330">
              <a:buNone/>
            </a:pPr>
            <a:r>
              <a:rPr lang="en-US" altLang="en-US" sz="2000" dirty="0"/>
              <a:t>Constants and constant expressions are often called </a:t>
            </a:r>
            <a:r>
              <a:rPr lang="en-US" altLang="en-US" sz="2000" dirty="0">
                <a:solidFill>
                  <a:schemeClr val="tx2"/>
                </a:solidFill>
              </a:rPr>
              <a:t>immediate values</a:t>
            </a:r>
            <a:endParaRPr lang="en-US" altLang="en-US" sz="2000" dirty="0"/>
          </a:p>
        </p:txBody>
      </p:sp>
      <p:sp>
        <p:nvSpPr>
          <p:cNvPr id="2" name="Slide Number Placeholder 1"/>
          <p:cNvSpPr>
            <a:spLocks noGrp="1"/>
          </p:cNvSpPr>
          <p:nvPr>
            <p:ph type="sldNum" sz="quarter" idx="12"/>
          </p:nvPr>
        </p:nvSpPr>
        <p:spPr/>
        <p:txBody>
          <a:bodyPr/>
          <a:lstStyle/>
          <a:p>
            <a:fld id="{F51B45BB-47DD-4FFE-AFAF-9A1D2EB112A2}"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defRPr/>
            </a:pPr>
            <a:r>
              <a:rPr lang="en-US" altLang="en-US"/>
              <a:t>Comments</a:t>
            </a:r>
          </a:p>
        </p:txBody>
      </p:sp>
      <p:sp>
        <p:nvSpPr>
          <p:cNvPr id="16389" name="Rectangle 3"/>
          <p:cNvSpPr>
            <a:spLocks noGrp="1" noChangeArrowheads="1"/>
          </p:cNvSpPr>
          <p:nvPr>
            <p:ph type="body" idx="1"/>
          </p:nvPr>
        </p:nvSpPr>
        <p:spPr>
          <a:xfrm>
            <a:off x="2286000" y="1443492"/>
            <a:ext cx="7772400" cy="5181600"/>
          </a:xfrm>
        </p:spPr>
        <p:txBody>
          <a:bodyPr/>
          <a:lstStyle/>
          <a:p>
            <a:pPr eaLnBrk="1" hangingPunct="1"/>
            <a:r>
              <a:rPr lang="en-US" altLang="en-US" dirty="0"/>
              <a:t>Comments are good!</a:t>
            </a:r>
          </a:p>
          <a:p>
            <a:pPr lvl="1" eaLnBrk="1" hangingPunct="1"/>
            <a:r>
              <a:rPr lang="en-US" altLang="en-US" dirty="0"/>
              <a:t>explain the program's purpose</a:t>
            </a:r>
          </a:p>
          <a:p>
            <a:pPr lvl="1" eaLnBrk="1" hangingPunct="1"/>
            <a:r>
              <a:rPr lang="en-US" altLang="en-US" dirty="0"/>
              <a:t>when it was written, and by whom</a:t>
            </a:r>
          </a:p>
          <a:p>
            <a:pPr lvl="1" eaLnBrk="1" hangingPunct="1"/>
            <a:r>
              <a:rPr lang="en-US" altLang="en-US" dirty="0"/>
              <a:t>revision information</a:t>
            </a:r>
          </a:p>
          <a:p>
            <a:pPr lvl="1" eaLnBrk="1" hangingPunct="1"/>
            <a:r>
              <a:rPr lang="en-US" altLang="en-US" dirty="0"/>
              <a:t>tricky coding techniques</a:t>
            </a:r>
          </a:p>
          <a:p>
            <a:pPr lvl="1" eaLnBrk="1" hangingPunct="1"/>
            <a:r>
              <a:rPr lang="en-US" altLang="en-US" dirty="0"/>
              <a:t>application-specific explanations</a:t>
            </a:r>
          </a:p>
          <a:p>
            <a:pPr eaLnBrk="1" hangingPunct="1"/>
            <a:r>
              <a:rPr lang="en-US" altLang="en-US" dirty="0"/>
              <a:t>Single-line comments</a:t>
            </a:r>
          </a:p>
          <a:p>
            <a:pPr lvl="1" eaLnBrk="1" hangingPunct="1"/>
            <a:r>
              <a:rPr lang="en-US" altLang="en-US" dirty="0"/>
              <a:t>begin with semicolon (;)</a:t>
            </a:r>
          </a:p>
          <a:p>
            <a:pPr eaLnBrk="1" hangingPunct="1"/>
            <a:r>
              <a:rPr lang="en-US" altLang="en-US" dirty="0"/>
              <a:t>Multi-line comments</a:t>
            </a:r>
          </a:p>
          <a:p>
            <a:pPr lvl="1" eaLnBrk="1" hangingPunct="1"/>
            <a:r>
              <a:rPr lang="en-US" altLang="en-US" dirty="0"/>
              <a:t>begin with COMMENT directive and a programmer-chosen character</a:t>
            </a:r>
          </a:p>
          <a:p>
            <a:pPr lvl="1" eaLnBrk="1" hangingPunct="1"/>
            <a:r>
              <a:rPr lang="en-US" altLang="en-US" dirty="0"/>
              <a:t>end with the same programmer-chosen character</a:t>
            </a:r>
          </a:p>
        </p:txBody>
      </p:sp>
      <p:sp>
        <p:nvSpPr>
          <p:cNvPr id="2" name="Slide Number Placeholder 1"/>
          <p:cNvSpPr>
            <a:spLocks noGrp="1"/>
          </p:cNvSpPr>
          <p:nvPr>
            <p:ph type="sldNum" sz="quarter" idx="12"/>
          </p:nvPr>
        </p:nvSpPr>
        <p:spPr/>
        <p:txBody>
          <a:bodyPr/>
          <a:lstStyle/>
          <a:p>
            <a:fld id="{F51B45BB-47DD-4FFE-AFAF-9A1D2EB112A2}"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defRPr/>
            </a:pPr>
            <a:r>
              <a:rPr lang="en-US" altLang="en-US"/>
              <a:t>Instruction Format Examples</a:t>
            </a:r>
          </a:p>
        </p:txBody>
      </p:sp>
      <p:sp>
        <p:nvSpPr>
          <p:cNvPr id="17413" name="Rectangle 3"/>
          <p:cNvSpPr>
            <a:spLocks noGrp="1" noChangeArrowheads="1"/>
          </p:cNvSpPr>
          <p:nvPr>
            <p:ph type="body" idx="1"/>
          </p:nvPr>
        </p:nvSpPr>
        <p:spPr>
          <a:xfrm>
            <a:off x="2286000" y="1578636"/>
            <a:ext cx="7772400" cy="4495800"/>
          </a:xfrm>
        </p:spPr>
        <p:txBody>
          <a:bodyPr/>
          <a:lstStyle/>
          <a:p>
            <a:pPr eaLnBrk="1" hangingPunct="1"/>
            <a:r>
              <a:rPr lang="en-US" altLang="en-US" dirty="0"/>
              <a:t>No operands</a:t>
            </a:r>
          </a:p>
          <a:p>
            <a:pPr lvl="1" eaLnBrk="1" hangingPunct="1"/>
            <a:r>
              <a:rPr lang="en-US" altLang="en-US" dirty="0" err="1"/>
              <a:t>stc</a:t>
            </a:r>
            <a:r>
              <a:rPr lang="en-US" altLang="en-US" dirty="0"/>
              <a:t>			; set Carry flag</a:t>
            </a:r>
          </a:p>
          <a:p>
            <a:pPr eaLnBrk="1" hangingPunct="1"/>
            <a:r>
              <a:rPr lang="en-US" altLang="en-US" dirty="0"/>
              <a:t>One operand</a:t>
            </a:r>
          </a:p>
          <a:p>
            <a:pPr lvl="1" eaLnBrk="1" hangingPunct="1"/>
            <a:r>
              <a:rPr lang="en-US" altLang="en-US" dirty="0" err="1"/>
              <a:t>inc</a:t>
            </a:r>
            <a:r>
              <a:rPr lang="en-US" altLang="en-US" dirty="0"/>
              <a:t> </a:t>
            </a:r>
            <a:r>
              <a:rPr lang="en-US" altLang="en-US" dirty="0" err="1"/>
              <a:t>eax</a:t>
            </a:r>
            <a:r>
              <a:rPr lang="en-US" altLang="en-US" dirty="0"/>
              <a:t>			; register</a:t>
            </a:r>
          </a:p>
          <a:p>
            <a:pPr lvl="1" eaLnBrk="1" hangingPunct="1"/>
            <a:r>
              <a:rPr lang="en-US" altLang="en-US" dirty="0" err="1"/>
              <a:t>inc</a:t>
            </a:r>
            <a:r>
              <a:rPr lang="en-US" altLang="en-US" dirty="0"/>
              <a:t> </a:t>
            </a:r>
            <a:r>
              <a:rPr lang="en-US" altLang="en-US" dirty="0" err="1"/>
              <a:t>myByte</a:t>
            </a:r>
            <a:r>
              <a:rPr lang="en-US" altLang="en-US" dirty="0"/>
              <a:t>		; memory</a:t>
            </a:r>
          </a:p>
          <a:p>
            <a:pPr eaLnBrk="1" hangingPunct="1"/>
            <a:r>
              <a:rPr lang="en-US" altLang="en-US" dirty="0"/>
              <a:t>Two operands</a:t>
            </a:r>
          </a:p>
          <a:p>
            <a:pPr lvl="1" eaLnBrk="1" hangingPunct="1"/>
            <a:r>
              <a:rPr lang="en-US" altLang="en-US" dirty="0"/>
              <a:t>add </a:t>
            </a:r>
            <a:r>
              <a:rPr lang="en-US" altLang="en-US" dirty="0" err="1"/>
              <a:t>ebx,ecx</a:t>
            </a:r>
            <a:r>
              <a:rPr lang="en-US" altLang="en-US" dirty="0"/>
              <a:t>		; register, register</a:t>
            </a:r>
          </a:p>
          <a:p>
            <a:pPr lvl="1" eaLnBrk="1" hangingPunct="1"/>
            <a:r>
              <a:rPr lang="en-US" altLang="en-US" dirty="0"/>
              <a:t>sub myByte,25		; memory, constant</a:t>
            </a:r>
          </a:p>
          <a:p>
            <a:pPr lvl="1" eaLnBrk="1" hangingPunct="1"/>
            <a:r>
              <a:rPr lang="en-US" altLang="en-US" dirty="0"/>
              <a:t>add eax,36 * 25		; register, constant-expression	</a:t>
            </a:r>
          </a:p>
        </p:txBody>
      </p:sp>
      <p:sp>
        <p:nvSpPr>
          <p:cNvPr id="2" name="Slide Number Placeholder 1"/>
          <p:cNvSpPr>
            <a:spLocks noGrp="1"/>
          </p:cNvSpPr>
          <p:nvPr>
            <p:ph type="sldNum" sz="quarter" idx="12"/>
          </p:nvPr>
        </p:nvSpPr>
        <p:spPr/>
        <p:txBody>
          <a:bodyPr/>
          <a:lstStyle/>
          <a:p>
            <a:fld id="{F51B45BB-47DD-4FFE-AFAF-9A1D2EB112A2}"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defRPr/>
            </a:pPr>
            <a:r>
              <a:rPr lang="en-US" altLang="en-US" dirty="0"/>
              <a:t>MOV Instruction</a:t>
            </a:r>
          </a:p>
        </p:txBody>
      </p:sp>
      <p:sp>
        <p:nvSpPr>
          <p:cNvPr id="15365" name="Text Box 3"/>
          <p:cNvSpPr txBox="1">
            <a:spLocks noChangeArrowheads="1"/>
          </p:cNvSpPr>
          <p:nvPr/>
        </p:nvSpPr>
        <p:spPr bwMode="auto">
          <a:xfrm>
            <a:off x="2895600" y="3578529"/>
            <a:ext cx="6324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40000"/>
              </a:lnSpc>
              <a:spcBef>
                <a:spcPct val="50000"/>
              </a:spcBef>
            </a:pPr>
            <a:r>
              <a:rPr lang="en-US" altLang="en-US" sz="1800" b="1" dirty="0">
                <a:latin typeface="Courier New" panose="02070609020205020404" pitchFamily="49" charset="0"/>
              </a:rPr>
              <a:t>.data</a:t>
            </a:r>
          </a:p>
          <a:p>
            <a:pPr eaLnBrk="1" hangingPunct="1">
              <a:lnSpc>
                <a:spcPct val="40000"/>
              </a:lnSpc>
              <a:spcBef>
                <a:spcPct val="50000"/>
              </a:spcBef>
            </a:pPr>
            <a:r>
              <a:rPr lang="en-US" altLang="en-US" sz="1800" b="1" dirty="0">
                <a:latin typeface="Courier New" panose="02070609020205020404" pitchFamily="49" charset="0"/>
              </a:rPr>
              <a:t>count BYTE 100</a:t>
            </a:r>
          </a:p>
          <a:p>
            <a:pPr eaLnBrk="1" hangingPunct="1">
              <a:lnSpc>
                <a:spcPct val="40000"/>
              </a:lnSpc>
              <a:spcBef>
                <a:spcPct val="50000"/>
              </a:spcBef>
            </a:pPr>
            <a:r>
              <a:rPr lang="en-US" altLang="en-US" sz="1800" b="1" dirty="0" err="1">
                <a:latin typeface="Courier New" panose="02070609020205020404" pitchFamily="49" charset="0"/>
              </a:rPr>
              <a:t>wVal</a:t>
            </a:r>
            <a:r>
              <a:rPr lang="en-US" altLang="en-US" sz="1800" b="1" dirty="0">
                <a:latin typeface="Courier New" panose="02070609020205020404" pitchFamily="49" charset="0"/>
              </a:rPr>
              <a:t>  WORD 2</a:t>
            </a:r>
          </a:p>
          <a:p>
            <a:pPr eaLnBrk="1" hangingPunct="1">
              <a:lnSpc>
                <a:spcPct val="40000"/>
              </a:lnSpc>
              <a:spcBef>
                <a:spcPct val="50000"/>
              </a:spcBef>
            </a:pPr>
            <a:r>
              <a:rPr lang="en-US" altLang="en-US" sz="1800" b="1" dirty="0">
                <a:latin typeface="Courier New" panose="02070609020205020404" pitchFamily="49" charset="0"/>
              </a:rPr>
              <a:t>.code</a:t>
            </a:r>
          </a:p>
          <a:p>
            <a:pPr eaLnBrk="1" hangingPunct="1">
              <a:lnSpc>
                <a:spcPct val="4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bl,count</a:t>
            </a:r>
            <a:endParaRPr lang="en-US" altLang="en-US" sz="1800" b="1" dirty="0">
              <a:latin typeface="Courier New" panose="02070609020205020404" pitchFamily="49" charset="0"/>
            </a:endParaRPr>
          </a:p>
          <a:p>
            <a:pPr eaLnBrk="1" hangingPunct="1">
              <a:lnSpc>
                <a:spcPct val="4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ax,wVal</a:t>
            </a:r>
            <a:endParaRPr lang="en-US" altLang="en-US" sz="1800" b="1" dirty="0">
              <a:latin typeface="Courier New" panose="02070609020205020404" pitchFamily="49" charset="0"/>
            </a:endParaRPr>
          </a:p>
          <a:p>
            <a:pPr eaLnBrk="1" hangingPunct="1">
              <a:lnSpc>
                <a:spcPct val="4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count,al</a:t>
            </a:r>
            <a:endParaRPr lang="en-US" altLang="en-US" sz="1800" b="1" dirty="0">
              <a:latin typeface="Courier New" panose="02070609020205020404" pitchFamily="49" charset="0"/>
            </a:endParaRPr>
          </a:p>
          <a:p>
            <a:pPr eaLnBrk="1" hangingPunct="1">
              <a:lnSpc>
                <a:spcPct val="40000"/>
              </a:lnSpc>
              <a:spcBef>
                <a:spcPct val="50000"/>
              </a:spcBef>
            </a:pPr>
            <a:endParaRPr lang="en-US" altLang="en-US" sz="1800" b="1" dirty="0">
              <a:latin typeface="Courier New" panose="02070609020205020404" pitchFamily="49" charset="0"/>
            </a:endParaRPr>
          </a:p>
          <a:p>
            <a:pPr eaLnBrk="1" hangingPunct="1">
              <a:lnSpc>
                <a:spcPct val="40000"/>
              </a:lnSpc>
              <a:spcBef>
                <a:spcPct val="50000"/>
              </a:spcBef>
            </a:pPr>
            <a:r>
              <a:rPr lang="en-US" altLang="en-US" sz="1800" b="1" dirty="0">
                <a:solidFill>
                  <a:schemeClr val="tx2"/>
                </a:solidFill>
                <a:latin typeface="Courier New" panose="02070609020205020404" pitchFamily="49" charset="0"/>
              </a:rPr>
              <a:t>	</a:t>
            </a:r>
            <a:r>
              <a:rPr lang="en-US" altLang="en-US" sz="1800" b="1" dirty="0" err="1">
                <a:solidFill>
                  <a:schemeClr val="tx2"/>
                </a:solidFill>
                <a:latin typeface="Courier New" panose="02070609020205020404" pitchFamily="49" charset="0"/>
              </a:rPr>
              <a:t>mov</a:t>
            </a:r>
            <a:r>
              <a:rPr lang="en-US" altLang="en-US" sz="1800" b="1" dirty="0">
                <a:solidFill>
                  <a:schemeClr val="tx2"/>
                </a:solidFill>
                <a:latin typeface="Courier New" panose="02070609020205020404" pitchFamily="49" charset="0"/>
              </a:rPr>
              <a:t> </a:t>
            </a:r>
            <a:r>
              <a:rPr lang="en-US" altLang="en-US" sz="1800" b="1" dirty="0" err="1">
                <a:solidFill>
                  <a:schemeClr val="tx2"/>
                </a:solidFill>
                <a:latin typeface="Courier New" panose="02070609020205020404" pitchFamily="49" charset="0"/>
              </a:rPr>
              <a:t>al,wVal</a:t>
            </a:r>
            <a:r>
              <a:rPr lang="en-US" altLang="en-US" sz="1800" b="1" dirty="0">
                <a:solidFill>
                  <a:schemeClr val="tx2"/>
                </a:solidFill>
                <a:latin typeface="Courier New" panose="02070609020205020404" pitchFamily="49" charset="0"/>
              </a:rPr>
              <a:t>		; error</a:t>
            </a:r>
          </a:p>
          <a:p>
            <a:pPr eaLnBrk="1" hangingPunct="1">
              <a:lnSpc>
                <a:spcPct val="40000"/>
              </a:lnSpc>
              <a:spcBef>
                <a:spcPct val="50000"/>
              </a:spcBef>
            </a:pPr>
            <a:r>
              <a:rPr lang="en-US" altLang="en-US" sz="1800" b="1" dirty="0">
                <a:solidFill>
                  <a:schemeClr val="tx2"/>
                </a:solidFill>
                <a:latin typeface="Courier New" panose="02070609020205020404" pitchFamily="49" charset="0"/>
              </a:rPr>
              <a:t>	</a:t>
            </a:r>
            <a:r>
              <a:rPr lang="en-US" altLang="en-US" sz="1800" b="1" dirty="0" err="1">
                <a:solidFill>
                  <a:schemeClr val="tx2"/>
                </a:solidFill>
                <a:latin typeface="Courier New" panose="02070609020205020404" pitchFamily="49" charset="0"/>
              </a:rPr>
              <a:t>mov</a:t>
            </a:r>
            <a:r>
              <a:rPr lang="en-US" altLang="en-US" sz="1800" b="1" dirty="0">
                <a:solidFill>
                  <a:schemeClr val="tx2"/>
                </a:solidFill>
                <a:latin typeface="Courier New" panose="02070609020205020404" pitchFamily="49" charset="0"/>
              </a:rPr>
              <a:t> </a:t>
            </a:r>
            <a:r>
              <a:rPr lang="en-US" altLang="en-US" sz="1800" b="1" dirty="0" err="1">
                <a:solidFill>
                  <a:schemeClr val="tx2"/>
                </a:solidFill>
                <a:latin typeface="Courier New" panose="02070609020205020404" pitchFamily="49" charset="0"/>
              </a:rPr>
              <a:t>ax,count</a:t>
            </a:r>
            <a:r>
              <a:rPr lang="en-US" altLang="en-US" sz="1800" b="1" dirty="0">
                <a:solidFill>
                  <a:schemeClr val="tx2"/>
                </a:solidFill>
                <a:latin typeface="Courier New" panose="02070609020205020404" pitchFamily="49" charset="0"/>
              </a:rPr>
              <a:t>		; error</a:t>
            </a:r>
          </a:p>
          <a:p>
            <a:pPr eaLnBrk="1" hangingPunct="1">
              <a:lnSpc>
                <a:spcPct val="40000"/>
              </a:lnSpc>
              <a:spcBef>
                <a:spcPct val="50000"/>
              </a:spcBef>
            </a:pPr>
            <a:r>
              <a:rPr lang="en-US" altLang="en-US" sz="1800" b="1" dirty="0">
                <a:solidFill>
                  <a:schemeClr val="tx2"/>
                </a:solidFill>
                <a:latin typeface="Courier New" panose="02070609020205020404" pitchFamily="49" charset="0"/>
              </a:rPr>
              <a:t>	</a:t>
            </a:r>
            <a:r>
              <a:rPr lang="en-US" altLang="en-US" sz="1800" b="1" dirty="0" err="1">
                <a:solidFill>
                  <a:schemeClr val="tx2"/>
                </a:solidFill>
                <a:latin typeface="Courier New" panose="02070609020205020404" pitchFamily="49" charset="0"/>
              </a:rPr>
              <a:t>mov</a:t>
            </a:r>
            <a:r>
              <a:rPr lang="en-US" altLang="en-US" sz="1800" b="1" dirty="0">
                <a:solidFill>
                  <a:schemeClr val="tx2"/>
                </a:solidFill>
                <a:latin typeface="Courier New" panose="02070609020205020404" pitchFamily="49" charset="0"/>
              </a:rPr>
              <a:t> </a:t>
            </a:r>
            <a:r>
              <a:rPr lang="en-US" altLang="en-US" sz="1800" b="1" dirty="0" err="1">
                <a:solidFill>
                  <a:schemeClr val="tx2"/>
                </a:solidFill>
                <a:latin typeface="Courier New" panose="02070609020205020404" pitchFamily="49" charset="0"/>
              </a:rPr>
              <a:t>eax,count</a:t>
            </a:r>
            <a:r>
              <a:rPr lang="en-US" altLang="en-US" sz="1800" b="1" dirty="0">
                <a:solidFill>
                  <a:schemeClr val="tx2"/>
                </a:solidFill>
                <a:latin typeface="Courier New" panose="02070609020205020404" pitchFamily="49" charset="0"/>
              </a:rPr>
              <a:t>		; error</a:t>
            </a:r>
          </a:p>
        </p:txBody>
      </p:sp>
      <p:sp>
        <p:nvSpPr>
          <p:cNvPr id="15366" name="Text Box 4"/>
          <p:cNvSpPr txBox="1">
            <a:spLocks noChangeArrowheads="1"/>
          </p:cNvSpPr>
          <p:nvPr/>
        </p:nvSpPr>
        <p:spPr bwMode="auto">
          <a:xfrm>
            <a:off x="2362200" y="1444930"/>
            <a:ext cx="6934200" cy="2054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70000"/>
              </a:lnSpc>
              <a:spcBef>
                <a:spcPct val="50000"/>
              </a:spcBef>
              <a:buFontTx/>
              <a:buChar char="•"/>
            </a:pPr>
            <a:r>
              <a:rPr lang="en-US" altLang="en-US" dirty="0"/>
              <a:t>Move from source to destination. Syntax:</a:t>
            </a:r>
          </a:p>
          <a:p>
            <a:pPr lvl="2" eaLnBrk="1" hangingPunct="1">
              <a:lnSpc>
                <a:spcPct val="70000"/>
              </a:lnSpc>
              <a:spcBef>
                <a:spcPct val="50000"/>
              </a:spcBef>
            </a:pPr>
            <a:r>
              <a:rPr lang="en-US" altLang="en-US" dirty="0">
                <a:solidFill>
                  <a:schemeClr val="tx2"/>
                </a:solidFill>
              </a:rPr>
              <a:t>MOV </a:t>
            </a:r>
            <a:r>
              <a:rPr lang="en-US" altLang="en-US" i="1" dirty="0" err="1">
                <a:solidFill>
                  <a:schemeClr val="tx2"/>
                </a:solidFill>
              </a:rPr>
              <a:t>destination,source</a:t>
            </a:r>
            <a:endParaRPr lang="en-US" altLang="en-US" i="1" dirty="0">
              <a:solidFill>
                <a:schemeClr val="tx2"/>
              </a:solidFill>
            </a:endParaRPr>
          </a:p>
          <a:p>
            <a:pPr eaLnBrk="1" hangingPunct="1">
              <a:lnSpc>
                <a:spcPct val="70000"/>
              </a:lnSpc>
              <a:spcBef>
                <a:spcPct val="50000"/>
              </a:spcBef>
              <a:buFontTx/>
              <a:buChar char="•"/>
            </a:pPr>
            <a:r>
              <a:rPr lang="en-US" altLang="en-US" dirty="0"/>
              <a:t>No more than one memory operand permitted</a:t>
            </a:r>
          </a:p>
          <a:p>
            <a:pPr eaLnBrk="1" hangingPunct="1">
              <a:lnSpc>
                <a:spcPct val="70000"/>
              </a:lnSpc>
              <a:spcBef>
                <a:spcPct val="50000"/>
              </a:spcBef>
              <a:buFontTx/>
              <a:buChar char="•"/>
            </a:pPr>
            <a:r>
              <a:rPr lang="en-US" altLang="en-US" dirty="0"/>
              <a:t>CS, EIP, and IP cannot be the destination</a:t>
            </a:r>
          </a:p>
          <a:p>
            <a:pPr eaLnBrk="1" hangingPunct="1">
              <a:lnSpc>
                <a:spcPct val="70000"/>
              </a:lnSpc>
              <a:spcBef>
                <a:spcPct val="50000"/>
              </a:spcBef>
              <a:buFontTx/>
              <a:buChar char="•"/>
            </a:pPr>
            <a:r>
              <a:rPr lang="en-US" altLang="en-US" dirty="0"/>
              <a:t>No immediate to segment moves</a:t>
            </a:r>
          </a:p>
        </p:txBody>
      </p:sp>
      <p:sp>
        <p:nvSpPr>
          <p:cNvPr id="2" name="Slide Number Placeholder 1"/>
          <p:cNvSpPr>
            <a:spLocks noGrp="1"/>
          </p:cNvSpPr>
          <p:nvPr>
            <p:ph type="sldNum" sz="quarter" idx="12"/>
          </p:nvPr>
        </p:nvSpPr>
        <p:spPr/>
        <p:txBody>
          <a:bodyPr/>
          <a:lstStyle/>
          <a:p>
            <a:fld id="{F51B45BB-47DD-4FFE-AFAF-9A1D2EB112A2}"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eaLnBrk="1" hangingPunct="1">
              <a:defRPr/>
            </a:pPr>
            <a:r>
              <a:rPr lang="en-US" altLang="en-US"/>
              <a:t>Your turn . . .</a:t>
            </a:r>
          </a:p>
        </p:txBody>
      </p:sp>
      <p:sp>
        <p:nvSpPr>
          <p:cNvPr id="16389" name="Text Box 3"/>
          <p:cNvSpPr txBox="1">
            <a:spLocks noChangeArrowheads="1"/>
          </p:cNvSpPr>
          <p:nvPr/>
        </p:nvSpPr>
        <p:spPr bwMode="auto">
          <a:xfrm>
            <a:off x="2209800" y="2439843"/>
            <a:ext cx="80772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40000"/>
              </a:lnSpc>
              <a:spcBef>
                <a:spcPct val="50000"/>
              </a:spcBef>
            </a:pPr>
            <a:r>
              <a:rPr lang="en-US" altLang="en-US" sz="1800" b="1">
                <a:latin typeface="Courier New" panose="02070609020205020404" pitchFamily="49" charset="0"/>
              </a:rPr>
              <a:t>.data</a:t>
            </a:r>
          </a:p>
          <a:p>
            <a:pPr eaLnBrk="1" hangingPunct="1">
              <a:lnSpc>
                <a:spcPct val="40000"/>
              </a:lnSpc>
              <a:spcBef>
                <a:spcPct val="50000"/>
              </a:spcBef>
            </a:pPr>
            <a:r>
              <a:rPr lang="en-US" altLang="en-US" sz="1800" b="1">
                <a:latin typeface="Courier New" panose="02070609020205020404" pitchFamily="49" charset="0"/>
              </a:rPr>
              <a:t>bVal  BYTE   100</a:t>
            </a:r>
          </a:p>
          <a:p>
            <a:pPr eaLnBrk="1" hangingPunct="1">
              <a:lnSpc>
                <a:spcPct val="40000"/>
              </a:lnSpc>
              <a:spcBef>
                <a:spcPct val="50000"/>
              </a:spcBef>
            </a:pPr>
            <a:r>
              <a:rPr lang="en-US" altLang="en-US" sz="1800" b="1">
                <a:latin typeface="Courier New" panose="02070609020205020404" pitchFamily="49" charset="0"/>
              </a:rPr>
              <a:t>bVal2 BYTE   ?</a:t>
            </a:r>
          </a:p>
          <a:p>
            <a:pPr eaLnBrk="1" hangingPunct="1">
              <a:lnSpc>
                <a:spcPct val="40000"/>
              </a:lnSpc>
              <a:spcBef>
                <a:spcPct val="50000"/>
              </a:spcBef>
            </a:pPr>
            <a:r>
              <a:rPr lang="en-US" altLang="en-US" sz="1800" b="1">
                <a:latin typeface="Courier New" panose="02070609020205020404" pitchFamily="49" charset="0"/>
              </a:rPr>
              <a:t>wVal  WORD   2</a:t>
            </a:r>
          </a:p>
          <a:p>
            <a:pPr eaLnBrk="1" hangingPunct="1">
              <a:lnSpc>
                <a:spcPct val="40000"/>
              </a:lnSpc>
              <a:spcBef>
                <a:spcPct val="50000"/>
              </a:spcBef>
            </a:pPr>
            <a:r>
              <a:rPr lang="en-US" altLang="en-US" sz="1800" b="1">
                <a:latin typeface="Courier New" panose="02070609020205020404" pitchFamily="49" charset="0"/>
              </a:rPr>
              <a:t>dVal  DWORD  5</a:t>
            </a:r>
          </a:p>
          <a:p>
            <a:pPr eaLnBrk="1" hangingPunct="1">
              <a:lnSpc>
                <a:spcPct val="4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	mov ds,45</a:t>
            </a:r>
          </a:p>
          <a:p>
            <a:pPr eaLnBrk="1" hangingPunct="1">
              <a:lnSpc>
                <a:spcPct val="50000"/>
              </a:lnSpc>
              <a:spcBef>
                <a:spcPct val="50000"/>
              </a:spcBef>
            </a:pPr>
            <a:r>
              <a:rPr lang="en-US" altLang="en-US" sz="1800" b="1">
                <a:latin typeface="Courier New" panose="02070609020205020404" pitchFamily="49" charset="0"/>
              </a:rPr>
              <a:t>	mov esi,wVal</a:t>
            </a:r>
          </a:p>
          <a:p>
            <a:pPr eaLnBrk="1" hangingPunct="1">
              <a:lnSpc>
                <a:spcPct val="50000"/>
              </a:lnSpc>
              <a:spcBef>
                <a:spcPct val="50000"/>
              </a:spcBef>
            </a:pPr>
            <a:r>
              <a:rPr lang="en-US" altLang="en-US" sz="1800" b="1">
                <a:latin typeface="Courier New" panose="02070609020205020404" pitchFamily="49" charset="0"/>
              </a:rPr>
              <a:t>	mov eip,dVal</a:t>
            </a:r>
          </a:p>
          <a:p>
            <a:pPr eaLnBrk="1" hangingPunct="1">
              <a:lnSpc>
                <a:spcPct val="50000"/>
              </a:lnSpc>
              <a:spcBef>
                <a:spcPct val="50000"/>
              </a:spcBef>
            </a:pPr>
            <a:r>
              <a:rPr lang="en-US" altLang="en-US" sz="1800" b="1">
                <a:latin typeface="Courier New" panose="02070609020205020404" pitchFamily="49" charset="0"/>
              </a:rPr>
              <a:t>	mov 25,bVal</a:t>
            </a:r>
          </a:p>
          <a:p>
            <a:pPr eaLnBrk="1" hangingPunct="1">
              <a:lnSpc>
                <a:spcPct val="50000"/>
              </a:lnSpc>
              <a:spcBef>
                <a:spcPct val="50000"/>
              </a:spcBef>
            </a:pPr>
            <a:r>
              <a:rPr lang="en-US" altLang="en-US" sz="1800" b="1">
                <a:latin typeface="Courier New" panose="02070609020205020404" pitchFamily="49" charset="0"/>
              </a:rPr>
              <a:t>	mov bVal2,bVal</a:t>
            </a:r>
          </a:p>
        </p:txBody>
      </p:sp>
      <p:sp>
        <p:nvSpPr>
          <p:cNvPr id="16390" name="Text Box 4"/>
          <p:cNvSpPr txBox="1">
            <a:spLocks noChangeArrowheads="1"/>
          </p:cNvSpPr>
          <p:nvPr/>
        </p:nvSpPr>
        <p:spPr bwMode="auto">
          <a:xfrm>
            <a:off x="2133600" y="1525443"/>
            <a:ext cx="76962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Explain why each of the following MOV statements are invalid:</a:t>
            </a:r>
          </a:p>
        </p:txBody>
      </p:sp>
      <p:sp>
        <p:nvSpPr>
          <p:cNvPr id="151559" name="Text Box 7"/>
          <p:cNvSpPr txBox="1">
            <a:spLocks noChangeArrowheads="1"/>
          </p:cNvSpPr>
          <p:nvPr/>
        </p:nvSpPr>
        <p:spPr bwMode="auto">
          <a:xfrm>
            <a:off x="4800600" y="3887643"/>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2857500" algn="l"/>
                <a:tab pos="4114800" algn="l"/>
              </a:tabLst>
              <a:defRPr sz="2100">
                <a:solidFill>
                  <a:schemeClr val="tx1"/>
                </a:solidFill>
                <a:latin typeface="Arial" panose="020B0704020202020204" pitchFamily="34" charset="0"/>
              </a:defRPr>
            </a:lvl1pPr>
            <a:lvl2pPr marL="742950" indent="-285750" eaLnBrk="0" hangingPunct="0">
              <a:tabLst>
                <a:tab pos="457200" algn="l"/>
                <a:tab pos="2857500" algn="l"/>
                <a:tab pos="4114800" algn="l"/>
              </a:tabLst>
              <a:defRPr sz="2100">
                <a:solidFill>
                  <a:schemeClr val="tx1"/>
                </a:solidFill>
                <a:latin typeface="Arial" panose="020B0704020202020204" pitchFamily="34" charset="0"/>
              </a:defRPr>
            </a:lvl2pPr>
            <a:lvl3pPr marL="1143000" indent="-228600" eaLnBrk="0" hangingPunct="0">
              <a:tabLst>
                <a:tab pos="457200" algn="l"/>
                <a:tab pos="2857500" algn="l"/>
                <a:tab pos="4114800" algn="l"/>
              </a:tabLst>
              <a:defRPr sz="2100">
                <a:solidFill>
                  <a:schemeClr val="tx1"/>
                </a:solidFill>
                <a:latin typeface="Arial" panose="020B0704020202020204" pitchFamily="34" charset="0"/>
              </a:defRPr>
            </a:lvl3pPr>
            <a:lvl4pPr marL="1600200" indent="-228600" eaLnBrk="0" hangingPunct="0">
              <a:tabLst>
                <a:tab pos="457200" algn="l"/>
                <a:tab pos="2857500" algn="l"/>
                <a:tab pos="4114800" algn="l"/>
              </a:tabLst>
              <a:defRPr sz="2100">
                <a:solidFill>
                  <a:schemeClr val="tx1"/>
                </a:solidFill>
                <a:latin typeface="Arial" panose="020B0704020202020204" pitchFamily="34" charset="0"/>
              </a:defRPr>
            </a:lvl4pPr>
            <a:lvl5pPr marL="2057400" indent="-228600" eaLnBrk="0" hangingPunct="0">
              <a:tabLst>
                <a:tab pos="457200" algn="l"/>
                <a:tab pos="28575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solidFill>
                  <a:schemeClr val="tx2"/>
                </a:solidFill>
                <a:latin typeface="Courier New" panose="02070609020205020404" pitchFamily="49" charset="0"/>
              </a:rPr>
              <a:t>immediate move to DS not permitted</a:t>
            </a:r>
          </a:p>
          <a:p>
            <a:pPr eaLnBrk="1" hangingPunct="1">
              <a:lnSpc>
                <a:spcPct val="50000"/>
              </a:lnSpc>
              <a:spcBef>
                <a:spcPct val="50000"/>
              </a:spcBef>
            </a:pPr>
            <a:endParaRPr lang="en-US" altLang="en-US" sz="1800" b="1">
              <a:solidFill>
                <a:schemeClr val="tx2"/>
              </a:solidFill>
              <a:latin typeface="Courier New" panose="02070609020205020404" pitchFamily="49" charset="0"/>
            </a:endParaRPr>
          </a:p>
        </p:txBody>
      </p:sp>
      <p:sp>
        <p:nvSpPr>
          <p:cNvPr id="151560" name="Text Box 8"/>
          <p:cNvSpPr txBox="1">
            <a:spLocks noChangeArrowheads="1"/>
          </p:cNvSpPr>
          <p:nvPr/>
        </p:nvSpPr>
        <p:spPr bwMode="auto">
          <a:xfrm>
            <a:off x="4800600" y="4173393"/>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2857500" algn="l"/>
                <a:tab pos="4114800" algn="l"/>
              </a:tabLst>
              <a:defRPr sz="2100">
                <a:solidFill>
                  <a:schemeClr val="tx1"/>
                </a:solidFill>
                <a:latin typeface="Arial" panose="020B0704020202020204" pitchFamily="34" charset="0"/>
              </a:defRPr>
            </a:lvl1pPr>
            <a:lvl2pPr marL="742950" indent="-285750" eaLnBrk="0" hangingPunct="0">
              <a:tabLst>
                <a:tab pos="457200" algn="l"/>
                <a:tab pos="2857500" algn="l"/>
                <a:tab pos="4114800" algn="l"/>
              </a:tabLst>
              <a:defRPr sz="2100">
                <a:solidFill>
                  <a:schemeClr val="tx1"/>
                </a:solidFill>
                <a:latin typeface="Arial" panose="020B0704020202020204" pitchFamily="34" charset="0"/>
              </a:defRPr>
            </a:lvl2pPr>
            <a:lvl3pPr marL="1143000" indent="-228600" eaLnBrk="0" hangingPunct="0">
              <a:tabLst>
                <a:tab pos="457200" algn="l"/>
                <a:tab pos="2857500" algn="l"/>
                <a:tab pos="4114800" algn="l"/>
              </a:tabLst>
              <a:defRPr sz="2100">
                <a:solidFill>
                  <a:schemeClr val="tx1"/>
                </a:solidFill>
                <a:latin typeface="Arial" panose="020B0704020202020204" pitchFamily="34" charset="0"/>
              </a:defRPr>
            </a:lvl3pPr>
            <a:lvl4pPr marL="1600200" indent="-228600" eaLnBrk="0" hangingPunct="0">
              <a:tabLst>
                <a:tab pos="457200" algn="l"/>
                <a:tab pos="2857500" algn="l"/>
                <a:tab pos="4114800" algn="l"/>
              </a:tabLst>
              <a:defRPr sz="2100">
                <a:solidFill>
                  <a:schemeClr val="tx1"/>
                </a:solidFill>
                <a:latin typeface="Arial" panose="020B0704020202020204" pitchFamily="34" charset="0"/>
              </a:defRPr>
            </a:lvl4pPr>
            <a:lvl5pPr marL="2057400" indent="-228600" eaLnBrk="0" hangingPunct="0">
              <a:tabLst>
                <a:tab pos="457200" algn="l"/>
                <a:tab pos="28575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solidFill>
                  <a:schemeClr val="tx2"/>
                </a:solidFill>
                <a:latin typeface="Courier New" panose="02070609020205020404" pitchFamily="49" charset="0"/>
              </a:rPr>
              <a:t>size mismatch</a:t>
            </a:r>
          </a:p>
          <a:p>
            <a:pPr eaLnBrk="1" hangingPunct="1">
              <a:lnSpc>
                <a:spcPct val="50000"/>
              </a:lnSpc>
              <a:spcBef>
                <a:spcPct val="50000"/>
              </a:spcBef>
            </a:pPr>
            <a:endParaRPr lang="en-US" altLang="en-US" sz="1800" b="1">
              <a:solidFill>
                <a:schemeClr val="tx2"/>
              </a:solidFill>
              <a:latin typeface="Courier New" panose="02070609020205020404" pitchFamily="49" charset="0"/>
            </a:endParaRPr>
          </a:p>
        </p:txBody>
      </p:sp>
      <p:sp>
        <p:nvSpPr>
          <p:cNvPr id="151561" name="Text Box 9"/>
          <p:cNvSpPr txBox="1">
            <a:spLocks noChangeArrowheads="1"/>
          </p:cNvSpPr>
          <p:nvPr/>
        </p:nvSpPr>
        <p:spPr bwMode="auto">
          <a:xfrm>
            <a:off x="4800600" y="4459143"/>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2857500" algn="l"/>
                <a:tab pos="4114800" algn="l"/>
              </a:tabLst>
              <a:defRPr sz="2100">
                <a:solidFill>
                  <a:schemeClr val="tx1"/>
                </a:solidFill>
                <a:latin typeface="Arial" panose="020B0704020202020204" pitchFamily="34" charset="0"/>
              </a:defRPr>
            </a:lvl1pPr>
            <a:lvl2pPr marL="742950" indent="-285750" eaLnBrk="0" hangingPunct="0">
              <a:tabLst>
                <a:tab pos="457200" algn="l"/>
                <a:tab pos="2857500" algn="l"/>
                <a:tab pos="4114800" algn="l"/>
              </a:tabLst>
              <a:defRPr sz="2100">
                <a:solidFill>
                  <a:schemeClr val="tx1"/>
                </a:solidFill>
                <a:latin typeface="Arial" panose="020B0704020202020204" pitchFamily="34" charset="0"/>
              </a:defRPr>
            </a:lvl2pPr>
            <a:lvl3pPr marL="1143000" indent="-228600" eaLnBrk="0" hangingPunct="0">
              <a:tabLst>
                <a:tab pos="457200" algn="l"/>
                <a:tab pos="2857500" algn="l"/>
                <a:tab pos="4114800" algn="l"/>
              </a:tabLst>
              <a:defRPr sz="2100">
                <a:solidFill>
                  <a:schemeClr val="tx1"/>
                </a:solidFill>
                <a:latin typeface="Arial" panose="020B0704020202020204" pitchFamily="34" charset="0"/>
              </a:defRPr>
            </a:lvl3pPr>
            <a:lvl4pPr marL="1600200" indent="-228600" eaLnBrk="0" hangingPunct="0">
              <a:tabLst>
                <a:tab pos="457200" algn="l"/>
                <a:tab pos="2857500" algn="l"/>
                <a:tab pos="4114800" algn="l"/>
              </a:tabLst>
              <a:defRPr sz="2100">
                <a:solidFill>
                  <a:schemeClr val="tx1"/>
                </a:solidFill>
                <a:latin typeface="Arial" panose="020B0704020202020204" pitchFamily="34" charset="0"/>
              </a:defRPr>
            </a:lvl4pPr>
            <a:lvl5pPr marL="2057400" indent="-228600" eaLnBrk="0" hangingPunct="0">
              <a:tabLst>
                <a:tab pos="457200" algn="l"/>
                <a:tab pos="28575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solidFill>
                  <a:schemeClr val="tx2"/>
                </a:solidFill>
                <a:latin typeface="Courier New" panose="02070609020205020404" pitchFamily="49" charset="0"/>
              </a:rPr>
              <a:t>EIP cannot be the destination</a:t>
            </a:r>
          </a:p>
          <a:p>
            <a:pPr eaLnBrk="1" hangingPunct="1">
              <a:lnSpc>
                <a:spcPct val="50000"/>
              </a:lnSpc>
              <a:spcBef>
                <a:spcPct val="50000"/>
              </a:spcBef>
            </a:pPr>
            <a:endParaRPr lang="en-US" altLang="en-US" sz="1800" b="1">
              <a:solidFill>
                <a:schemeClr val="tx2"/>
              </a:solidFill>
              <a:latin typeface="Courier New" panose="02070609020205020404" pitchFamily="49" charset="0"/>
            </a:endParaRPr>
          </a:p>
        </p:txBody>
      </p:sp>
      <p:sp>
        <p:nvSpPr>
          <p:cNvPr id="151562" name="Text Box 10"/>
          <p:cNvSpPr txBox="1">
            <a:spLocks noChangeArrowheads="1"/>
          </p:cNvSpPr>
          <p:nvPr/>
        </p:nvSpPr>
        <p:spPr bwMode="auto">
          <a:xfrm>
            <a:off x="4800600" y="4725843"/>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2857500" algn="l"/>
                <a:tab pos="4114800" algn="l"/>
              </a:tabLst>
              <a:defRPr sz="2100">
                <a:solidFill>
                  <a:schemeClr val="tx1"/>
                </a:solidFill>
                <a:latin typeface="Arial" panose="020B0704020202020204" pitchFamily="34" charset="0"/>
              </a:defRPr>
            </a:lvl1pPr>
            <a:lvl2pPr marL="742950" indent="-285750" eaLnBrk="0" hangingPunct="0">
              <a:tabLst>
                <a:tab pos="457200" algn="l"/>
                <a:tab pos="2857500" algn="l"/>
                <a:tab pos="4114800" algn="l"/>
              </a:tabLst>
              <a:defRPr sz="2100">
                <a:solidFill>
                  <a:schemeClr val="tx1"/>
                </a:solidFill>
                <a:latin typeface="Arial" panose="020B0704020202020204" pitchFamily="34" charset="0"/>
              </a:defRPr>
            </a:lvl2pPr>
            <a:lvl3pPr marL="1143000" indent="-228600" eaLnBrk="0" hangingPunct="0">
              <a:tabLst>
                <a:tab pos="457200" algn="l"/>
                <a:tab pos="2857500" algn="l"/>
                <a:tab pos="4114800" algn="l"/>
              </a:tabLst>
              <a:defRPr sz="2100">
                <a:solidFill>
                  <a:schemeClr val="tx1"/>
                </a:solidFill>
                <a:latin typeface="Arial" panose="020B0704020202020204" pitchFamily="34" charset="0"/>
              </a:defRPr>
            </a:lvl3pPr>
            <a:lvl4pPr marL="1600200" indent="-228600" eaLnBrk="0" hangingPunct="0">
              <a:tabLst>
                <a:tab pos="457200" algn="l"/>
                <a:tab pos="2857500" algn="l"/>
                <a:tab pos="4114800" algn="l"/>
              </a:tabLst>
              <a:defRPr sz="2100">
                <a:solidFill>
                  <a:schemeClr val="tx1"/>
                </a:solidFill>
                <a:latin typeface="Arial" panose="020B0704020202020204" pitchFamily="34" charset="0"/>
              </a:defRPr>
            </a:lvl4pPr>
            <a:lvl5pPr marL="2057400" indent="-228600" eaLnBrk="0" hangingPunct="0">
              <a:tabLst>
                <a:tab pos="457200" algn="l"/>
                <a:tab pos="28575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solidFill>
                  <a:schemeClr val="tx2"/>
                </a:solidFill>
                <a:latin typeface="Courier New" panose="02070609020205020404" pitchFamily="49" charset="0"/>
              </a:rPr>
              <a:t>immediate value cannot be destination</a:t>
            </a:r>
          </a:p>
          <a:p>
            <a:pPr eaLnBrk="1" hangingPunct="1">
              <a:lnSpc>
                <a:spcPct val="50000"/>
              </a:lnSpc>
              <a:spcBef>
                <a:spcPct val="50000"/>
              </a:spcBef>
            </a:pPr>
            <a:endParaRPr lang="en-US" altLang="en-US" sz="1800" b="1">
              <a:solidFill>
                <a:schemeClr val="tx2"/>
              </a:solidFill>
              <a:latin typeface="Courier New" panose="02070609020205020404" pitchFamily="49" charset="0"/>
            </a:endParaRPr>
          </a:p>
        </p:txBody>
      </p:sp>
      <p:sp>
        <p:nvSpPr>
          <p:cNvPr id="151563" name="Text Box 11"/>
          <p:cNvSpPr txBox="1">
            <a:spLocks noChangeArrowheads="1"/>
          </p:cNvSpPr>
          <p:nvPr/>
        </p:nvSpPr>
        <p:spPr bwMode="auto">
          <a:xfrm>
            <a:off x="4800600" y="5030643"/>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2857500" algn="l"/>
                <a:tab pos="4114800" algn="l"/>
              </a:tabLst>
              <a:defRPr sz="2100">
                <a:solidFill>
                  <a:schemeClr val="tx1"/>
                </a:solidFill>
                <a:latin typeface="Arial" panose="020B0704020202020204" pitchFamily="34" charset="0"/>
              </a:defRPr>
            </a:lvl1pPr>
            <a:lvl2pPr marL="742950" indent="-285750" eaLnBrk="0" hangingPunct="0">
              <a:tabLst>
                <a:tab pos="457200" algn="l"/>
                <a:tab pos="2857500" algn="l"/>
                <a:tab pos="4114800" algn="l"/>
              </a:tabLst>
              <a:defRPr sz="2100">
                <a:solidFill>
                  <a:schemeClr val="tx1"/>
                </a:solidFill>
                <a:latin typeface="Arial" panose="020B0704020202020204" pitchFamily="34" charset="0"/>
              </a:defRPr>
            </a:lvl2pPr>
            <a:lvl3pPr marL="1143000" indent="-228600" eaLnBrk="0" hangingPunct="0">
              <a:tabLst>
                <a:tab pos="457200" algn="l"/>
                <a:tab pos="2857500" algn="l"/>
                <a:tab pos="4114800" algn="l"/>
              </a:tabLst>
              <a:defRPr sz="2100">
                <a:solidFill>
                  <a:schemeClr val="tx1"/>
                </a:solidFill>
                <a:latin typeface="Arial" panose="020B0704020202020204" pitchFamily="34" charset="0"/>
              </a:defRPr>
            </a:lvl3pPr>
            <a:lvl4pPr marL="1600200" indent="-228600" eaLnBrk="0" hangingPunct="0">
              <a:tabLst>
                <a:tab pos="457200" algn="l"/>
                <a:tab pos="2857500" algn="l"/>
                <a:tab pos="4114800" algn="l"/>
              </a:tabLst>
              <a:defRPr sz="2100">
                <a:solidFill>
                  <a:schemeClr val="tx1"/>
                </a:solidFill>
                <a:latin typeface="Arial" panose="020B0704020202020204" pitchFamily="34" charset="0"/>
              </a:defRPr>
            </a:lvl4pPr>
            <a:lvl5pPr marL="2057400" indent="-228600" eaLnBrk="0" hangingPunct="0">
              <a:tabLst>
                <a:tab pos="457200" algn="l"/>
                <a:tab pos="28575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8575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solidFill>
                  <a:schemeClr val="tx2"/>
                </a:solidFill>
                <a:latin typeface="Courier New" panose="02070609020205020404" pitchFamily="49" charset="0"/>
              </a:rPr>
              <a:t>memory-to-memory move not permitted</a:t>
            </a:r>
          </a:p>
          <a:p>
            <a:pPr eaLnBrk="1" hangingPunct="1">
              <a:lnSpc>
                <a:spcPct val="50000"/>
              </a:lnSpc>
              <a:spcBef>
                <a:spcPct val="50000"/>
              </a:spcBef>
            </a:pPr>
            <a:endParaRPr lang="en-US" altLang="en-US" sz="1800" b="1">
              <a:solidFill>
                <a:schemeClr val="tx2"/>
              </a:solidFill>
              <a:latin typeface="Courier New" panose="02070609020205020404" pitchFamily="49" charset="0"/>
            </a:endParaRPr>
          </a:p>
        </p:txBody>
      </p:sp>
      <p:sp>
        <p:nvSpPr>
          <p:cNvPr id="2" name="Slide Number Placeholder 1"/>
          <p:cNvSpPr>
            <a:spLocks noGrp="1"/>
          </p:cNvSpPr>
          <p:nvPr>
            <p:ph type="sldNum" sz="quarter" idx="12"/>
          </p:nvPr>
        </p:nvSpPr>
        <p:spPr/>
        <p:txBody>
          <a:bodyPr/>
          <a:lstStyle/>
          <a:p>
            <a:fld id="{F51B45BB-47DD-4FFE-AFAF-9A1D2EB112A2}" type="slidenum">
              <a:rPr lang="en-US" smtClean="0"/>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15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15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15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15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1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9" grpId="0" autoUpdateAnimBg="0"/>
      <p:bldP spid="151560" grpId="0" autoUpdateAnimBg="0"/>
      <p:bldP spid="151561" grpId="0" autoUpdateAnimBg="0"/>
      <p:bldP spid="151562" grpId="0" autoUpdateAnimBg="0"/>
      <p:bldP spid="15156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altLang="en-US"/>
              <a:t>Zero Extension</a:t>
            </a:r>
          </a:p>
        </p:txBody>
      </p:sp>
      <p:sp>
        <p:nvSpPr>
          <p:cNvPr id="1030" name="Text Box 3"/>
          <p:cNvSpPr txBox="1">
            <a:spLocks noChangeArrowheads="1"/>
          </p:cNvSpPr>
          <p:nvPr/>
        </p:nvSpPr>
        <p:spPr bwMode="auto">
          <a:xfrm>
            <a:off x="2971800" y="4628076"/>
            <a:ext cx="6477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80000"/>
              </a:lnSpc>
              <a:spcBef>
                <a:spcPct val="50000"/>
              </a:spcBef>
            </a:pPr>
            <a:r>
              <a:rPr lang="en-US" altLang="en-US" sz="1800" b="1">
                <a:latin typeface="Courier New" panose="02070609020205020404" pitchFamily="49" charset="0"/>
              </a:rPr>
              <a:t>mov bl,10001111b</a:t>
            </a:r>
          </a:p>
          <a:p>
            <a:pPr eaLnBrk="1" hangingPunct="1">
              <a:lnSpc>
                <a:spcPct val="80000"/>
              </a:lnSpc>
              <a:spcBef>
                <a:spcPct val="50000"/>
              </a:spcBef>
            </a:pPr>
            <a:r>
              <a:rPr lang="en-US" altLang="en-US" sz="1800" b="1">
                <a:solidFill>
                  <a:schemeClr val="tx2"/>
                </a:solidFill>
                <a:latin typeface="Courier New" panose="02070609020205020404" pitchFamily="49" charset="0"/>
              </a:rPr>
              <a:t>movzx</a:t>
            </a:r>
            <a:r>
              <a:rPr lang="en-US" altLang="en-US" sz="1800" b="1">
                <a:latin typeface="Courier New" panose="02070609020205020404" pitchFamily="49" charset="0"/>
              </a:rPr>
              <a:t> ax,bl	; zero-extension</a:t>
            </a:r>
          </a:p>
        </p:txBody>
      </p:sp>
      <p:sp>
        <p:nvSpPr>
          <p:cNvPr id="1031" name="Text Box 4"/>
          <p:cNvSpPr txBox="1">
            <a:spLocks noChangeArrowheads="1"/>
          </p:cNvSpPr>
          <p:nvPr/>
        </p:nvSpPr>
        <p:spPr bwMode="auto">
          <a:xfrm>
            <a:off x="1981200" y="1351477"/>
            <a:ext cx="81534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When you copy a smaller value into a larger destination, the MOVZX instruction fills (extends) the upper half of the destination with zeros.</a:t>
            </a:r>
          </a:p>
        </p:txBody>
      </p:sp>
      <p:graphicFrame>
        <p:nvGraphicFramePr>
          <p:cNvPr id="1026" name="Object 5"/>
          <p:cNvGraphicFramePr>
            <a:graphicFrameLocks noChangeAspect="1"/>
          </p:cNvGraphicFramePr>
          <p:nvPr/>
        </p:nvGraphicFramePr>
        <p:xfrm>
          <a:off x="3733800" y="2418276"/>
          <a:ext cx="4495800" cy="1981200"/>
        </p:xfrm>
        <a:graphic>
          <a:graphicData uri="http://schemas.openxmlformats.org/presentationml/2006/ole">
            <mc:AlternateContent xmlns:mc="http://schemas.openxmlformats.org/markup-compatibility/2006">
              <mc:Choice xmlns:v="urn:schemas-microsoft-com:vml" Requires="v">
                <p:oleObj name="VISIO" r:id="rId2" imgW="2929255" imgH="1188720" progId="Visio.Drawing.6">
                  <p:embed/>
                </p:oleObj>
              </mc:Choice>
              <mc:Fallback>
                <p:oleObj name="VISIO" r:id="rId2" imgW="2929255" imgH="1188720" progId="Visio.Drawing.6">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l="-3510" t="-4320" b="-8011"/>
                      <a:stretch>
                        <a:fillRect/>
                      </a:stretch>
                    </p:blipFill>
                    <p:spPr bwMode="auto">
                      <a:xfrm>
                        <a:off x="3733800" y="2418276"/>
                        <a:ext cx="4495800" cy="1981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78" name="Text Box 6"/>
          <p:cNvSpPr txBox="1">
            <a:spLocks noChangeArrowheads="1"/>
          </p:cNvSpPr>
          <p:nvPr/>
        </p:nvSpPr>
        <p:spPr bwMode="auto">
          <a:xfrm>
            <a:off x="3276600" y="5694876"/>
            <a:ext cx="5562600" cy="6032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a:t>The destination must be a register.</a:t>
            </a:r>
          </a:p>
        </p:txBody>
      </p:sp>
      <p:sp>
        <p:nvSpPr>
          <p:cNvPr id="2" name="Slide Number Placeholder 1"/>
          <p:cNvSpPr>
            <a:spLocks noGrp="1"/>
          </p:cNvSpPr>
          <p:nvPr>
            <p:ph type="sldNum" sz="quarter" idx="12"/>
          </p:nvPr>
        </p:nvSpPr>
        <p:spPr/>
        <p:txBody>
          <a:bodyPr/>
          <a:lstStyle/>
          <a:p>
            <a:fld id="{F51B45BB-47DD-4FFE-AFAF-9A1D2EB112A2}" type="slidenum">
              <a:rPr lang="en-US" smtClean="0"/>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9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en-US" altLang="en-US"/>
              <a:t>Sign Extension</a:t>
            </a:r>
          </a:p>
        </p:txBody>
      </p:sp>
      <p:sp>
        <p:nvSpPr>
          <p:cNvPr id="2054" name="Text Box 3"/>
          <p:cNvSpPr txBox="1">
            <a:spLocks noChangeArrowheads="1"/>
          </p:cNvSpPr>
          <p:nvPr/>
        </p:nvSpPr>
        <p:spPr bwMode="auto">
          <a:xfrm>
            <a:off x="2819400" y="4698525"/>
            <a:ext cx="6400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80000"/>
              </a:lnSpc>
              <a:spcBef>
                <a:spcPct val="50000"/>
              </a:spcBef>
            </a:pPr>
            <a:r>
              <a:rPr lang="en-US" altLang="en-US" sz="1800" b="1">
                <a:latin typeface="Courier New" panose="02070609020205020404" pitchFamily="49" charset="0"/>
              </a:rPr>
              <a:t>mov bl,10001111b</a:t>
            </a:r>
          </a:p>
          <a:p>
            <a:pPr eaLnBrk="1" hangingPunct="1">
              <a:lnSpc>
                <a:spcPct val="80000"/>
              </a:lnSpc>
              <a:spcBef>
                <a:spcPct val="50000"/>
              </a:spcBef>
            </a:pPr>
            <a:r>
              <a:rPr lang="en-US" altLang="en-US" sz="1800" b="1">
                <a:solidFill>
                  <a:schemeClr val="tx2"/>
                </a:solidFill>
                <a:latin typeface="Courier New" panose="02070609020205020404" pitchFamily="49" charset="0"/>
              </a:rPr>
              <a:t>movsx</a:t>
            </a:r>
            <a:r>
              <a:rPr lang="en-US" altLang="en-US" sz="1800" b="1">
                <a:latin typeface="Courier New" panose="02070609020205020404" pitchFamily="49" charset="0"/>
              </a:rPr>
              <a:t> ax,bl	; sign extension</a:t>
            </a:r>
          </a:p>
        </p:txBody>
      </p:sp>
      <p:sp>
        <p:nvSpPr>
          <p:cNvPr id="2055" name="Text Box 4"/>
          <p:cNvSpPr txBox="1">
            <a:spLocks noChangeArrowheads="1"/>
          </p:cNvSpPr>
          <p:nvPr/>
        </p:nvSpPr>
        <p:spPr bwMode="auto">
          <a:xfrm>
            <a:off x="2209800" y="1421925"/>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MOVSX instruction fills the upper half of the destination with a copy of the source operand's sign bit.</a:t>
            </a:r>
          </a:p>
        </p:txBody>
      </p:sp>
      <p:graphicFrame>
        <p:nvGraphicFramePr>
          <p:cNvPr id="2050" name="Object 6"/>
          <p:cNvGraphicFramePr>
            <a:graphicFrameLocks noChangeAspect="1"/>
          </p:cNvGraphicFramePr>
          <p:nvPr/>
        </p:nvGraphicFramePr>
        <p:xfrm>
          <a:off x="3733800" y="2336325"/>
          <a:ext cx="4648200" cy="1981200"/>
        </p:xfrm>
        <a:graphic>
          <a:graphicData uri="http://schemas.openxmlformats.org/presentationml/2006/ole">
            <mc:AlternateContent xmlns:mc="http://schemas.openxmlformats.org/markup-compatibility/2006">
              <mc:Choice xmlns:v="urn:schemas-microsoft-com:vml" Requires="v">
                <p:oleObj name="VISIO" r:id="rId2" imgW="2929255" imgH="1188720" progId="Visio.Drawing.6">
                  <p:embed/>
                </p:oleObj>
              </mc:Choice>
              <mc:Fallback>
                <p:oleObj name="VISIO" r:id="rId2" imgW="2929255" imgH="1188720" progId="Visio.Drawing.6">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l="-3391" t="-4173" b="-4347"/>
                      <a:stretch>
                        <a:fillRect/>
                      </a:stretch>
                    </p:blipFill>
                    <p:spPr bwMode="auto">
                      <a:xfrm>
                        <a:off x="3733800" y="2336325"/>
                        <a:ext cx="4648200" cy="1981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1" name="Text Box 7"/>
          <p:cNvSpPr txBox="1">
            <a:spLocks noChangeArrowheads="1"/>
          </p:cNvSpPr>
          <p:nvPr/>
        </p:nvSpPr>
        <p:spPr bwMode="auto">
          <a:xfrm>
            <a:off x="3276600" y="5765325"/>
            <a:ext cx="5562600" cy="6032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a:t>The destination must be a register.</a:t>
            </a:r>
          </a:p>
        </p:txBody>
      </p:sp>
      <p:sp>
        <p:nvSpPr>
          <p:cNvPr id="2" name="Slide Number Placeholder 1"/>
          <p:cNvSpPr>
            <a:spLocks noGrp="1"/>
          </p:cNvSpPr>
          <p:nvPr>
            <p:ph type="sldNum" sz="quarter" idx="12"/>
          </p:nvPr>
        </p:nvSpPr>
        <p:spPr/>
        <p:txBody>
          <a:bodyPr/>
          <a:lstStyle/>
          <a:p>
            <a:fld id="{F51B45BB-47DD-4FFE-AFAF-9A1D2EB112A2}" type="slidenum">
              <a:rPr lang="en-US" smtClean="0"/>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0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1"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en-US"/>
              <a:t>XCHG Instruction</a:t>
            </a:r>
          </a:p>
        </p:txBody>
      </p:sp>
      <p:sp>
        <p:nvSpPr>
          <p:cNvPr id="17413" name="Text Box 3"/>
          <p:cNvSpPr txBox="1">
            <a:spLocks noChangeArrowheads="1"/>
          </p:cNvSpPr>
          <p:nvPr/>
        </p:nvSpPr>
        <p:spPr bwMode="auto">
          <a:xfrm>
            <a:off x="2438400" y="2851035"/>
            <a:ext cx="7620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257550" algn="l"/>
                <a:tab pos="4114800" algn="l"/>
              </a:tabLst>
              <a:defRPr sz="2100">
                <a:solidFill>
                  <a:schemeClr val="tx1"/>
                </a:solidFill>
                <a:latin typeface="Arial" panose="020B0704020202020204" pitchFamily="34" charset="0"/>
              </a:defRPr>
            </a:lvl1pPr>
            <a:lvl2pPr marL="742950" indent="-285750" eaLnBrk="0" hangingPunct="0">
              <a:tabLst>
                <a:tab pos="457200" algn="l"/>
                <a:tab pos="3257550" algn="l"/>
                <a:tab pos="4114800" algn="l"/>
              </a:tabLst>
              <a:defRPr sz="2100">
                <a:solidFill>
                  <a:schemeClr val="tx1"/>
                </a:solidFill>
                <a:latin typeface="Arial" panose="020B0704020202020204" pitchFamily="34" charset="0"/>
              </a:defRPr>
            </a:lvl2pPr>
            <a:lvl3pPr marL="1143000" indent="-228600" eaLnBrk="0" hangingPunct="0">
              <a:tabLst>
                <a:tab pos="457200" algn="l"/>
                <a:tab pos="3257550" algn="l"/>
                <a:tab pos="4114800" algn="l"/>
              </a:tabLst>
              <a:defRPr sz="2100">
                <a:solidFill>
                  <a:schemeClr val="tx1"/>
                </a:solidFill>
                <a:latin typeface="Arial" panose="020B0704020202020204" pitchFamily="34" charset="0"/>
              </a:defRPr>
            </a:lvl3pPr>
            <a:lvl4pPr marL="1600200" indent="-228600" eaLnBrk="0" hangingPunct="0">
              <a:tabLst>
                <a:tab pos="457200" algn="l"/>
                <a:tab pos="3257550" algn="l"/>
                <a:tab pos="4114800" algn="l"/>
              </a:tabLst>
              <a:defRPr sz="2100">
                <a:solidFill>
                  <a:schemeClr val="tx1"/>
                </a:solidFill>
                <a:latin typeface="Arial" panose="020B0704020202020204" pitchFamily="34" charset="0"/>
              </a:defRPr>
            </a:lvl4pPr>
            <a:lvl5pPr marL="2057400" indent="-228600" eaLnBrk="0" hangingPunct="0">
              <a:tabLst>
                <a:tab pos="457200" algn="l"/>
                <a:tab pos="325755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25755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25755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25755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257550" algn="l"/>
                <a:tab pos="4114800" algn="l"/>
              </a:tabLst>
              <a:defRPr sz="2100">
                <a:solidFill>
                  <a:schemeClr val="tx1"/>
                </a:solidFill>
                <a:latin typeface="Arial" panose="020B0704020202020204" pitchFamily="34" charset="0"/>
              </a:defRPr>
            </a:lvl9pPr>
          </a:lstStyle>
          <a:p>
            <a:pPr eaLnBrk="1" hangingPunct="1">
              <a:lnSpc>
                <a:spcPct val="60000"/>
              </a:lnSpc>
              <a:spcBef>
                <a:spcPct val="50000"/>
              </a:spcBef>
            </a:pPr>
            <a:r>
              <a:rPr lang="en-US" altLang="en-US" sz="1800" b="1" dirty="0">
                <a:latin typeface="Courier New" panose="02070609020205020404" pitchFamily="49" charset="0"/>
              </a:rPr>
              <a:t>.data</a:t>
            </a:r>
          </a:p>
          <a:p>
            <a:pPr eaLnBrk="1" hangingPunct="1">
              <a:lnSpc>
                <a:spcPct val="60000"/>
              </a:lnSpc>
              <a:spcBef>
                <a:spcPct val="50000"/>
              </a:spcBef>
            </a:pPr>
            <a:r>
              <a:rPr lang="en-US" altLang="en-US" sz="1800" b="1" dirty="0">
                <a:latin typeface="Courier New" panose="02070609020205020404" pitchFamily="49" charset="0"/>
              </a:rPr>
              <a:t>var1 WORD 1000h</a:t>
            </a:r>
          </a:p>
          <a:p>
            <a:pPr eaLnBrk="1" hangingPunct="1">
              <a:lnSpc>
                <a:spcPct val="60000"/>
              </a:lnSpc>
              <a:spcBef>
                <a:spcPct val="50000"/>
              </a:spcBef>
            </a:pPr>
            <a:r>
              <a:rPr lang="en-US" altLang="en-US" sz="1800" b="1" dirty="0">
                <a:latin typeface="Courier New" panose="02070609020205020404" pitchFamily="49" charset="0"/>
              </a:rPr>
              <a:t>var2 WORD 2000h</a:t>
            </a:r>
          </a:p>
          <a:p>
            <a:pPr eaLnBrk="1" hangingPunct="1">
              <a:lnSpc>
                <a:spcPct val="60000"/>
              </a:lnSpc>
              <a:spcBef>
                <a:spcPct val="50000"/>
              </a:spcBef>
            </a:pPr>
            <a:r>
              <a:rPr lang="en-US" altLang="en-US" sz="1800" b="1" dirty="0">
                <a:latin typeface="Courier New" panose="02070609020205020404" pitchFamily="49" charset="0"/>
              </a:rPr>
              <a:t>.code</a:t>
            </a:r>
          </a:p>
          <a:p>
            <a:pPr eaLnBrk="1" hangingPunct="1">
              <a:lnSpc>
                <a:spcPct val="60000"/>
              </a:lnSpc>
              <a:spcBef>
                <a:spcPct val="50000"/>
              </a:spcBef>
            </a:pPr>
            <a:r>
              <a:rPr lang="en-US" altLang="en-US" sz="1800" b="1" dirty="0" err="1">
                <a:latin typeface="Courier New" panose="02070609020205020404" pitchFamily="49" charset="0"/>
              </a:rPr>
              <a:t>xchg</a:t>
            </a:r>
            <a:r>
              <a:rPr lang="en-US" altLang="en-US" sz="1800" b="1" dirty="0">
                <a:latin typeface="Courier New" panose="02070609020205020404" pitchFamily="49" charset="0"/>
              </a:rPr>
              <a:t> </a:t>
            </a:r>
            <a:r>
              <a:rPr lang="en-US" altLang="en-US" sz="1800" b="1" dirty="0" err="1">
                <a:latin typeface="Courier New" panose="02070609020205020404" pitchFamily="49" charset="0"/>
              </a:rPr>
              <a:t>ax,bx</a:t>
            </a:r>
            <a:r>
              <a:rPr lang="en-US" altLang="en-US" sz="1800" b="1" dirty="0">
                <a:latin typeface="Courier New" panose="02070609020205020404" pitchFamily="49" charset="0"/>
              </a:rPr>
              <a:t>	; exchange 16-bit </a:t>
            </a:r>
            <a:r>
              <a:rPr lang="en-US" altLang="en-US" sz="1800" b="1" dirty="0" err="1">
                <a:latin typeface="Courier New" panose="02070609020205020404" pitchFamily="49" charset="0"/>
              </a:rPr>
              <a:t>regs</a:t>
            </a:r>
            <a:endParaRPr lang="en-US" altLang="en-US" sz="1800" b="1" dirty="0">
              <a:latin typeface="Courier New" panose="02070609020205020404" pitchFamily="49" charset="0"/>
            </a:endParaRPr>
          </a:p>
          <a:p>
            <a:pPr eaLnBrk="1" hangingPunct="1">
              <a:lnSpc>
                <a:spcPct val="60000"/>
              </a:lnSpc>
              <a:spcBef>
                <a:spcPct val="50000"/>
              </a:spcBef>
            </a:pPr>
            <a:r>
              <a:rPr lang="en-US" altLang="en-US" sz="1800" b="1" dirty="0" err="1">
                <a:latin typeface="Courier New" panose="02070609020205020404" pitchFamily="49" charset="0"/>
              </a:rPr>
              <a:t>xchg</a:t>
            </a:r>
            <a:r>
              <a:rPr lang="en-US" altLang="en-US" sz="1800" b="1" dirty="0">
                <a:latin typeface="Courier New" panose="02070609020205020404" pitchFamily="49" charset="0"/>
              </a:rPr>
              <a:t> </a:t>
            </a:r>
            <a:r>
              <a:rPr lang="en-US" altLang="en-US" sz="1800" b="1" dirty="0" err="1">
                <a:latin typeface="Courier New" panose="02070609020205020404" pitchFamily="49" charset="0"/>
              </a:rPr>
              <a:t>ah,al</a:t>
            </a:r>
            <a:r>
              <a:rPr lang="en-US" altLang="en-US" sz="1800" b="1" dirty="0">
                <a:latin typeface="Courier New" panose="02070609020205020404" pitchFamily="49" charset="0"/>
              </a:rPr>
              <a:t>	; exchange 8-bit </a:t>
            </a:r>
            <a:r>
              <a:rPr lang="en-US" altLang="en-US" sz="1800" b="1" dirty="0" err="1">
                <a:latin typeface="Courier New" panose="02070609020205020404" pitchFamily="49" charset="0"/>
              </a:rPr>
              <a:t>regs</a:t>
            </a:r>
            <a:endParaRPr lang="en-US" altLang="en-US" sz="1800" b="1" dirty="0">
              <a:latin typeface="Courier New" panose="02070609020205020404" pitchFamily="49" charset="0"/>
            </a:endParaRPr>
          </a:p>
          <a:p>
            <a:pPr eaLnBrk="1" hangingPunct="1">
              <a:lnSpc>
                <a:spcPct val="60000"/>
              </a:lnSpc>
              <a:spcBef>
                <a:spcPct val="50000"/>
              </a:spcBef>
            </a:pPr>
            <a:r>
              <a:rPr lang="en-US" altLang="en-US" sz="1800" b="1" dirty="0" err="1">
                <a:latin typeface="Courier New" panose="02070609020205020404" pitchFamily="49" charset="0"/>
              </a:rPr>
              <a:t>xchg</a:t>
            </a:r>
            <a:r>
              <a:rPr lang="en-US" altLang="en-US" sz="1800" b="1" dirty="0">
                <a:latin typeface="Courier New" panose="02070609020205020404" pitchFamily="49" charset="0"/>
              </a:rPr>
              <a:t> var1,bx	; exchange mem, </a:t>
            </a:r>
            <a:r>
              <a:rPr lang="en-US" altLang="en-US" sz="1800" b="1" dirty="0" err="1">
                <a:latin typeface="Courier New" panose="02070609020205020404" pitchFamily="49" charset="0"/>
              </a:rPr>
              <a:t>reg</a:t>
            </a:r>
            <a:endParaRPr lang="en-US" altLang="en-US" sz="1800" b="1" dirty="0">
              <a:latin typeface="Courier New" panose="02070609020205020404" pitchFamily="49" charset="0"/>
            </a:endParaRPr>
          </a:p>
          <a:p>
            <a:pPr eaLnBrk="1" hangingPunct="1">
              <a:lnSpc>
                <a:spcPct val="60000"/>
              </a:lnSpc>
              <a:spcBef>
                <a:spcPct val="50000"/>
              </a:spcBef>
            </a:pPr>
            <a:r>
              <a:rPr lang="en-US" altLang="en-US" sz="1800" b="1" dirty="0" err="1">
                <a:latin typeface="Courier New" panose="02070609020205020404" pitchFamily="49" charset="0"/>
              </a:rPr>
              <a:t>xchg</a:t>
            </a:r>
            <a:r>
              <a:rPr lang="en-US" altLang="en-US" sz="1800" b="1" dirty="0">
                <a:latin typeface="Courier New" panose="02070609020205020404" pitchFamily="49" charset="0"/>
              </a:rPr>
              <a:t> </a:t>
            </a:r>
            <a:r>
              <a:rPr lang="en-US" altLang="en-US" sz="1800" b="1" dirty="0" err="1">
                <a:latin typeface="Courier New" panose="02070609020205020404" pitchFamily="49" charset="0"/>
              </a:rPr>
              <a:t>eax,ebx</a:t>
            </a:r>
            <a:r>
              <a:rPr lang="en-US" altLang="en-US" sz="1800" b="1" dirty="0">
                <a:latin typeface="Courier New" panose="02070609020205020404" pitchFamily="49" charset="0"/>
              </a:rPr>
              <a:t>	; exchange 32-bit </a:t>
            </a:r>
            <a:r>
              <a:rPr lang="en-US" altLang="en-US" sz="1800" b="1" dirty="0" err="1">
                <a:latin typeface="Courier New" panose="02070609020205020404" pitchFamily="49" charset="0"/>
              </a:rPr>
              <a:t>regs</a:t>
            </a:r>
            <a:endParaRPr lang="en-US" altLang="en-US" sz="1800" b="1" dirty="0">
              <a:latin typeface="Courier New" panose="02070609020205020404" pitchFamily="49" charset="0"/>
            </a:endParaRPr>
          </a:p>
          <a:p>
            <a:pPr eaLnBrk="1" hangingPunct="1">
              <a:lnSpc>
                <a:spcPct val="60000"/>
              </a:lnSpc>
              <a:spcBef>
                <a:spcPct val="50000"/>
              </a:spcBef>
            </a:pPr>
            <a:endParaRPr lang="en-US" altLang="en-US" sz="1800" b="1" dirty="0">
              <a:latin typeface="Courier New" panose="02070609020205020404" pitchFamily="49" charset="0"/>
            </a:endParaRPr>
          </a:p>
          <a:p>
            <a:pPr eaLnBrk="1" hangingPunct="1">
              <a:lnSpc>
                <a:spcPct val="60000"/>
              </a:lnSpc>
              <a:spcBef>
                <a:spcPct val="50000"/>
              </a:spcBef>
            </a:pPr>
            <a:r>
              <a:rPr lang="en-US" altLang="en-US" sz="1800" b="1" dirty="0" err="1">
                <a:solidFill>
                  <a:schemeClr val="tx2"/>
                </a:solidFill>
                <a:latin typeface="Courier New" panose="02070609020205020404" pitchFamily="49" charset="0"/>
              </a:rPr>
              <a:t>xchg</a:t>
            </a:r>
            <a:r>
              <a:rPr lang="en-US" altLang="en-US" sz="1800" b="1" dirty="0">
                <a:solidFill>
                  <a:schemeClr val="tx2"/>
                </a:solidFill>
                <a:latin typeface="Courier New" panose="02070609020205020404" pitchFamily="49" charset="0"/>
              </a:rPr>
              <a:t> var1,var2	; error: two memory operands</a:t>
            </a:r>
          </a:p>
        </p:txBody>
      </p:sp>
      <p:sp>
        <p:nvSpPr>
          <p:cNvPr id="17414" name="Text Box 4"/>
          <p:cNvSpPr txBox="1">
            <a:spLocks noChangeArrowheads="1"/>
          </p:cNvSpPr>
          <p:nvPr/>
        </p:nvSpPr>
        <p:spPr bwMode="auto">
          <a:xfrm>
            <a:off x="2209800" y="1555636"/>
            <a:ext cx="76962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XCHG exchanges the values of two operands. At least one operand must be a register. No immediate operands are permitted.</a:t>
            </a:r>
          </a:p>
        </p:txBody>
      </p:sp>
      <p:sp>
        <p:nvSpPr>
          <p:cNvPr id="2" name="Slide Number Placeholder 1"/>
          <p:cNvSpPr>
            <a:spLocks noGrp="1"/>
          </p:cNvSpPr>
          <p:nvPr>
            <p:ph type="sldNum" sz="quarter" idx="12"/>
          </p:nvPr>
        </p:nvSpPr>
        <p:spPr/>
        <p:txBody>
          <a:bodyPr/>
          <a:lstStyle/>
          <a:p>
            <a:fld id="{F51B45BB-47DD-4FFE-AFAF-9A1D2EB112A2}"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en-US" altLang="en-US"/>
              <a:t>INC and DEC Instructions</a:t>
            </a:r>
            <a:endParaRPr lang="en-US" altLang="en-US" sz="2400"/>
          </a:p>
        </p:txBody>
      </p:sp>
      <p:sp>
        <p:nvSpPr>
          <p:cNvPr id="25605" name="Rectangle 3"/>
          <p:cNvSpPr>
            <a:spLocks noGrp="1" noChangeArrowheads="1"/>
          </p:cNvSpPr>
          <p:nvPr>
            <p:ph type="body" idx="1"/>
          </p:nvPr>
        </p:nvSpPr>
        <p:spPr>
          <a:xfrm>
            <a:off x="2667000" y="2048778"/>
            <a:ext cx="6858000" cy="2438400"/>
          </a:xfrm>
        </p:spPr>
        <p:txBody>
          <a:bodyPr/>
          <a:lstStyle/>
          <a:p>
            <a:pPr eaLnBrk="1" hangingPunct="1">
              <a:lnSpc>
                <a:spcPct val="90000"/>
              </a:lnSpc>
            </a:pPr>
            <a:r>
              <a:rPr lang="en-US" altLang="en-US" dirty="0"/>
              <a:t>Add 1, subtract 1 from destination operand</a:t>
            </a:r>
          </a:p>
          <a:p>
            <a:pPr lvl="1" eaLnBrk="1" hangingPunct="1">
              <a:lnSpc>
                <a:spcPct val="90000"/>
              </a:lnSpc>
            </a:pPr>
            <a:r>
              <a:rPr lang="en-US" altLang="en-US" sz="2000" dirty="0"/>
              <a:t>operand may be register or memory</a:t>
            </a:r>
          </a:p>
          <a:p>
            <a:pPr eaLnBrk="1" hangingPunct="1">
              <a:lnSpc>
                <a:spcPct val="90000"/>
              </a:lnSpc>
            </a:pPr>
            <a:r>
              <a:rPr lang="en-US" altLang="en-US" sz="2200" dirty="0"/>
              <a:t>INC </a:t>
            </a:r>
            <a:r>
              <a:rPr lang="en-US" altLang="en-US" sz="2000" i="1" dirty="0"/>
              <a:t>destination</a:t>
            </a:r>
          </a:p>
          <a:p>
            <a:pPr lvl="2" eaLnBrk="1" hangingPunct="1">
              <a:lnSpc>
                <a:spcPct val="90000"/>
              </a:lnSpc>
            </a:pPr>
            <a:r>
              <a:rPr lang="en-US" altLang="en-US" sz="1800" dirty="0"/>
              <a:t>Logic: </a:t>
            </a:r>
            <a:r>
              <a:rPr lang="en-US" altLang="en-US" sz="1800" i="1" dirty="0"/>
              <a:t>destination </a:t>
            </a:r>
            <a:r>
              <a:rPr lang="en-US" altLang="en-US" dirty="0">
                <a:sym typeface="Symbol" panose="05050102010706020507" pitchFamily="18" charset="2"/>
              </a:rPr>
              <a:t> </a:t>
            </a:r>
            <a:r>
              <a:rPr lang="en-US" altLang="en-US" sz="1800" i="1" dirty="0"/>
              <a:t>destination </a:t>
            </a:r>
            <a:r>
              <a:rPr lang="en-US" altLang="en-US" sz="1800" dirty="0"/>
              <a:t>+ 1</a:t>
            </a:r>
          </a:p>
          <a:p>
            <a:pPr eaLnBrk="1" hangingPunct="1">
              <a:lnSpc>
                <a:spcPct val="90000"/>
              </a:lnSpc>
            </a:pPr>
            <a:r>
              <a:rPr lang="en-US" altLang="en-US" sz="2200" dirty="0"/>
              <a:t>DEC </a:t>
            </a:r>
            <a:r>
              <a:rPr lang="en-US" altLang="en-US" sz="2000" i="1" dirty="0"/>
              <a:t>destination</a:t>
            </a:r>
          </a:p>
          <a:p>
            <a:pPr lvl="2" eaLnBrk="1" hangingPunct="1">
              <a:lnSpc>
                <a:spcPct val="90000"/>
              </a:lnSpc>
            </a:pPr>
            <a:r>
              <a:rPr lang="en-US" altLang="en-US" sz="1800" dirty="0"/>
              <a:t>Logic: </a:t>
            </a:r>
            <a:r>
              <a:rPr lang="en-US" altLang="en-US" sz="1800" i="1" dirty="0"/>
              <a:t>destination </a:t>
            </a:r>
            <a:r>
              <a:rPr lang="en-US" altLang="en-US" dirty="0">
                <a:sym typeface="Symbol" panose="05050102010706020507" pitchFamily="18" charset="2"/>
              </a:rPr>
              <a:t> </a:t>
            </a:r>
            <a:r>
              <a:rPr lang="en-US" altLang="en-US" sz="1800" i="1" dirty="0"/>
              <a:t>destination </a:t>
            </a:r>
            <a:r>
              <a:rPr lang="en-US" altLang="en-US" sz="1800" dirty="0"/>
              <a:t>– 1</a:t>
            </a:r>
            <a:endParaRPr lang="en-US" altLang="en-US" sz="1800" i="1" dirty="0"/>
          </a:p>
        </p:txBody>
      </p:sp>
      <p:sp>
        <p:nvSpPr>
          <p:cNvPr id="2" name="Slide Number Placeholder 1"/>
          <p:cNvSpPr>
            <a:spLocks noGrp="1"/>
          </p:cNvSpPr>
          <p:nvPr>
            <p:ph type="sldNum" sz="quarter" idx="12"/>
          </p:nvPr>
        </p:nvSpPr>
        <p:spPr/>
        <p:txBody>
          <a:bodyPr/>
          <a:lstStyle/>
          <a:p>
            <a:fld id="{F51B45BB-47DD-4FFE-AFAF-9A1D2EB112A2}"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1026"/>
          <p:cNvSpPr>
            <a:spLocks noGrp="1" noChangeArrowheads="1"/>
          </p:cNvSpPr>
          <p:nvPr>
            <p:ph type="title"/>
          </p:nvPr>
        </p:nvSpPr>
        <p:spPr/>
        <p:txBody>
          <a:bodyPr/>
          <a:lstStyle/>
          <a:p>
            <a:pPr eaLnBrk="1" hangingPunct="1">
              <a:defRPr/>
            </a:pPr>
            <a:r>
              <a:rPr lang="en-US" altLang="en-US"/>
              <a:t>INC and DEC Examples</a:t>
            </a:r>
            <a:endParaRPr lang="en-US" altLang="en-US" sz="2400"/>
          </a:p>
        </p:txBody>
      </p:sp>
      <p:sp>
        <p:nvSpPr>
          <p:cNvPr id="26629" name="Text Box 1028"/>
          <p:cNvSpPr txBox="1">
            <a:spLocks noChangeArrowheads="1"/>
          </p:cNvSpPr>
          <p:nvPr/>
        </p:nvSpPr>
        <p:spPr bwMode="auto">
          <a:xfrm>
            <a:off x="2743200" y="1896378"/>
            <a:ext cx="68580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dirty="0">
                <a:latin typeface="Courier New" panose="02070609020205020404" pitchFamily="49" charset="0"/>
              </a:rPr>
              <a:t>.data</a:t>
            </a:r>
          </a:p>
          <a:p>
            <a:pPr eaLnBrk="1" hangingPunct="1">
              <a:lnSpc>
                <a:spcPct val="50000"/>
              </a:lnSpc>
              <a:spcBef>
                <a:spcPct val="50000"/>
              </a:spcBef>
            </a:pPr>
            <a:r>
              <a:rPr lang="en-US" altLang="en-US" sz="1800" b="1" dirty="0" err="1">
                <a:latin typeface="Courier New" panose="02070609020205020404" pitchFamily="49" charset="0"/>
              </a:rPr>
              <a:t>myWord</a:t>
            </a:r>
            <a:r>
              <a:rPr lang="en-US" altLang="en-US" sz="1800" b="1" dirty="0">
                <a:latin typeface="Courier New" panose="02070609020205020404" pitchFamily="49" charset="0"/>
              </a:rPr>
              <a:t>  WORD 1000h</a:t>
            </a:r>
          </a:p>
          <a:p>
            <a:pPr eaLnBrk="1" hangingPunct="1">
              <a:lnSpc>
                <a:spcPct val="50000"/>
              </a:lnSpc>
              <a:spcBef>
                <a:spcPct val="50000"/>
              </a:spcBef>
            </a:pPr>
            <a:r>
              <a:rPr lang="en-US" altLang="en-US" sz="1800" b="1" dirty="0" err="1">
                <a:latin typeface="Courier New" panose="02070609020205020404" pitchFamily="49" charset="0"/>
              </a:rPr>
              <a:t>myDword</a:t>
            </a:r>
            <a:r>
              <a:rPr lang="en-US" altLang="en-US" sz="1800" b="1" dirty="0">
                <a:latin typeface="Courier New" panose="02070609020205020404" pitchFamily="49" charset="0"/>
              </a:rPr>
              <a:t> DWORD 10000000h</a:t>
            </a:r>
          </a:p>
          <a:p>
            <a:pPr eaLnBrk="1" hangingPunct="1">
              <a:lnSpc>
                <a:spcPct val="50000"/>
              </a:lnSpc>
              <a:spcBef>
                <a:spcPct val="50000"/>
              </a:spcBef>
            </a:pPr>
            <a:r>
              <a:rPr lang="en-US" altLang="en-US" sz="1800" b="1" dirty="0">
                <a:latin typeface="Courier New" panose="02070609020205020404" pitchFamily="49" charset="0"/>
              </a:rPr>
              <a:t>.code</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inc</a:t>
            </a:r>
            <a:r>
              <a:rPr lang="en-US" altLang="en-US" sz="1800" b="1" dirty="0">
                <a:latin typeface="Courier New" panose="02070609020205020404" pitchFamily="49" charset="0"/>
              </a:rPr>
              <a:t> </a:t>
            </a:r>
            <a:r>
              <a:rPr lang="en-US" altLang="en-US" sz="1800" b="1" dirty="0" err="1">
                <a:latin typeface="Courier New" panose="02070609020205020404" pitchFamily="49" charset="0"/>
              </a:rPr>
              <a:t>myWord</a:t>
            </a:r>
            <a:r>
              <a:rPr lang="en-US" altLang="en-US" sz="1800" b="1" dirty="0">
                <a:latin typeface="Courier New" panose="02070609020205020404" pitchFamily="49" charset="0"/>
              </a:rPr>
              <a:t> 	; 1001h</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dec</a:t>
            </a:r>
            <a:r>
              <a:rPr lang="en-US" altLang="en-US" sz="1800" b="1" dirty="0">
                <a:latin typeface="Courier New" panose="02070609020205020404" pitchFamily="49" charset="0"/>
              </a:rPr>
              <a:t> </a:t>
            </a:r>
            <a:r>
              <a:rPr lang="en-US" altLang="en-US" sz="1800" b="1" dirty="0" err="1">
                <a:latin typeface="Courier New" panose="02070609020205020404" pitchFamily="49" charset="0"/>
              </a:rPr>
              <a:t>myWord</a:t>
            </a:r>
            <a:r>
              <a:rPr lang="en-US" altLang="en-US" sz="1800" b="1" dirty="0">
                <a:latin typeface="Courier New" panose="02070609020205020404" pitchFamily="49" charset="0"/>
              </a:rPr>
              <a:t>	; 1000h</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inc</a:t>
            </a:r>
            <a:r>
              <a:rPr lang="en-US" altLang="en-US" sz="1800" b="1" dirty="0">
                <a:latin typeface="Courier New" panose="02070609020205020404" pitchFamily="49" charset="0"/>
              </a:rPr>
              <a:t> </a:t>
            </a:r>
            <a:r>
              <a:rPr lang="en-US" altLang="en-US" sz="1800" b="1" dirty="0" err="1">
                <a:latin typeface="Courier New" panose="02070609020205020404" pitchFamily="49" charset="0"/>
              </a:rPr>
              <a:t>myDword</a:t>
            </a:r>
            <a:r>
              <a:rPr lang="en-US" altLang="en-US" sz="1800" b="1" dirty="0">
                <a:latin typeface="Courier New" panose="02070609020205020404" pitchFamily="49" charset="0"/>
              </a:rPr>
              <a:t>	; 10000001h</a:t>
            </a:r>
          </a:p>
          <a:p>
            <a:pPr eaLnBrk="1" hangingPunct="1">
              <a:lnSpc>
                <a:spcPct val="50000"/>
              </a:lnSpc>
              <a:spcBef>
                <a:spcPct val="50000"/>
              </a:spcBef>
            </a:pPr>
            <a:endParaRPr lang="en-US" altLang="en-US" sz="1800" b="1" dirty="0">
              <a:latin typeface="Courier New" panose="02070609020205020404" pitchFamily="49" charset="0"/>
            </a:endParaRP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ax,00FFh</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inc</a:t>
            </a:r>
            <a:r>
              <a:rPr lang="en-US" altLang="en-US" sz="1800" b="1" dirty="0">
                <a:latin typeface="Courier New" panose="02070609020205020404" pitchFamily="49" charset="0"/>
              </a:rPr>
              <a:t> ax	; AX = 0100h</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ax,00FFh</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inc</a:t>
            </a:r>
            <a:r>
              <a:rPr lang="en-US" altLang="en-US" sz="1800" b="1" dirty="0">
                <a:latin typeface="Courier New" panose="02070609020205020404" pitchFamily="49" charset="0"/>
              </a:rPr>
              <a:t> al	; AX = 0000h</a:t>
            </a:r>
          </a:p>
        </p:txBody>
      </p:sp>
      <p:sp>
        <p:nvSpPr>
          <p:cNvPr id="2" name="Slide Number Placeholder 1"/>
          <p:cNvSpPr>
            <a:spLocks noGrp="1"/>
          </p:cNvSpPr>
          <p:nvPr>
            <p:ph type="sldNum" sz="quarter" idx="12"/>
          </p:nvPr>
        </p:nvSpPr>
        <p:spPr/>
        <p:txBody>
          <a:bodyPr/>
          <a:lstStyle/>
          <a:p>
            <a:fld id="{F51B45BB-47DD-4FFE-AFAF-9A1D2EB112A2}"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lang="en-US" altLang="en-US"/>
              <a:t>Your turn...</a:t>
            </a:r>
            <a:endParaRPr lang="en-US" altLang="en-US" sz="2400"/>
          </a:p>
        </p:txBody>
      </p:sp>
      <p:sp>
        <p:nvSpPr>
          <p:cNvPr id="27653" name="Rectangle 3"/>
          <p:cNvSpPr>
            <a:spLocks noGrp="1" noChangeArrowheads="1"/>
          </p:cNvSpPr>
          <p:nvPr>
            <p:ph type="body" idx="1"/>
          </p:nvPr>
        </p:nvSpPr>
        <p:spPr>
          <a:xfrm>
            <a:off x="2209800" y="1815866"/>
            <a:ext cx="7772400" cy="609600"/>
          </a:xfrm>
        </p:spPr>
        <p:txBody>
          <a:bodyPr>
            <a:normAutofit lnSpcReduction="10000"/>
          </a:bodyPr>
          <a:lstStyle/>
          <a:p>
            <a:pPr marL="0" indent="0">
              <a:buNone/>
            </a:pPr>
            <a:r>
              <a:rPr lang="en-US" altLang="en-US" sz="2000" dirty="0"/>
              <a:t>Show the value of the destination operand after each of the following instructions executes:</a:t>
            </a:r>
          </a:p>
        </p:txBody>
      </p:sp>
      <p:sp>
        <p:nvSpPr>
          <p:cNvPr id="27654" name="Text Box 4"/>
          <p:cNvSpPr txBox="1">
            <a:spLocks noChangeArrowheads="1"/>
          </p:cNvSpPr>
          <p:nvPr/>
        </p:nvSpPr>
        <p:spPr bwMode="auto">
          <a:xfrm>
            <a:off x="2743200" y="2882666"/>
            <a:ext cx="6096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myByte BYTE 0FFh, 0</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	mov al,myByte	; AL =</a:t>
            </a:r>
          </a:p>
          <a:p>
            <a:pPr eaLnBrk="1" hangingPunct="1">
              <a:lnSpc>
                <a:spcPct val="50000"/>
              </a:lnSpc>
              <a:spcBef>
                <a:spcPct val="50000"/>
              </a:spcBef>
            </a:pPr>
            <a:r>
              <a:rPr lang="en-US" altLang="en-US" sz="1800" b="1">
                <a:latin typeface="Courier New" panose="02070609020205020404" pitchFamily="49" charset="0"/>
              </a:rPr>
              <a:t>	mov ah,[myByte+1]	; AH =</a:t>
            </a:r>
          </a:p>
          <a:p>
            <a:pPr eaLnBrk="1" hangingPunct="1">
              <a:lnSpc>
                <a:spcPct val="50000"/>
              </a:lnSpc>
              <a:spcBef>
                <a:spcPct val="50000"/>
              </a:spcBef>
            </a:pPr>
            <a:r>
              <a:rPr lang="en-US" altLang="en-US" sz="1800" b="1">
                <a:latin typeface="Courier New" panose="02070609020205020404" pitchFamily="49" charset="0"/>
              </a:rPr>
              <a:t>	dec ah	; AH =</a:t>
            </a:r>
          </a:p>
          <a:p>
            <a:pPr eaLnBrk="1" hangingPunct="1">
              <a:lnSpc>
                <a:spcPct val="50000"/>
              </a:lnSpc>
              <a:spcBef>
                <a:spcPct val="50000"/>
              </a:spcBef>
            </a:pPr>
            <a:r>
              <a:rPr lang="en-US" altLang="en-US" sz="1800" b="1">
                <a:latin typeface="Courier New" panose="02070609020205020404" pitchFamily="49" charset="0"/>
              </a:rPr>
              <a:t>	inc al	; AL =</a:t>
            </a:r>
          </a:p>
          <a:p>
            <a:pPr eaLnBrk="1" hangingPunct="1">
              <a:lnSpc>
                <a:spcPct val="50000"/>
              </a:lnSpc>
              <a:spcBef>
                <a:spcPct val="50000"/>
              </a:spcBef>
            </a:pPr>
            <a:r>
              <a:rPr lang="en-US" altLang="en-US" sz="1800" b="1">
                <a:latin typeface="Courier New" panose="02070609020205020404" pitchFamily="49" charset="0"/>
              </a:rPr>
              <a:t>	dec ax	; AX = </a:t>
            </a:r>
          </a:p>
        </p:txBody>
      </p:sp>
      <p:sp>
        <p:nvSpPr>
          <p:cNvPr id="104453" name="Text Box 5"/>
          <p:cNvSpPr txBox="1">
            <a:spLocks noChangeArrowheads="1"/>
          </p:cNvSpPr>
          <p:nvPr/>
        </p:nvSpPr>
        <p:spPr bwMode="auto">
          <a:xfrm>
            <a:off x="7315200" y="2882666"/>
            <a:ext cx="1828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endParaRPr lang="en-US" altLang="en-US" sz="1800" b="1">
              <a:latin typeface="Courier" pitchFamily="49" charset="0"/>
            </a:endParaRPr>
          </a:p>
          <a:p>
            <a:pPr eaLnBrk="1" hangingPunct="1">
              <a:lnSpc>
                <a:spcPct val="50000"/>
              </a:lnSpc>
              <a:spcBef>
                <a:spcPct val="50000"/>
              </a:spcBef>
            </a:pPr>
            <a:endParaRPr lang="en-US" altLang="en-US" sz="1800" b="1">
              <a:latin typeface="Courier" pitchFamily="49" charset="0"/>
            </a:endParaRPr>
          </a:p>
          <a:p>
            <a:pPr eaLnBrk="1" hangingPunct="1">
              <a:lnSpc>
                <a:spcPct val="50000"/>
              </a:lnSpc>
              <a:spcBef>
                <a:spcPct val="50000"/>
              </a:spcBef>
            </a:pPr>
            <a:endParaRPr lang="en-US" altLang="en-US" sz="1800" b="1">
              <a:latin typeface="Courier" pitchFamily="49" charset="0"/>
            </a:endParaRPr>
          </a:p>
          <a:p>
            <a:pPr eaLnBrk="1" hangingPunct="1">
              <a:lnSpc>
                <a:spcPct val="50000"/>
              </a:lnSpc>
              <a:spcBef>
                <a:spcPct val="50000"/>
              </a:spcBef>
            </a:pPr>
            <a:r>
              <a:rPr lang="en-US" altLang="en-US" sz="1800" b="1">
                <a:solidFill>
                  <a:schemeClr val="tx2"/>
                </a:solidFill>
                <a:latin typeface="Courier" pitchFamily="49" charset="0"/>
              </a:rPr>
              <a:t>FFh</a:t>
            </a:r>
          </a:p>
          <a:p>
            <a:pPr eaLnBrk="1" hangingPunct="1">
              <a:lnSpc>
                <a:spcPct val="50000"/>
              </a:lnSpc>
              <a:spcBef>
                <a:spcPct val="50000"/>
              </a:spcBef>
            </a:pPr>
            <a:r>
              <a:rPr lang="en-US" altLang="en-US" sz="1800" b="1">
                <a:solidFill>
                  <a:schemeClr val="tx2"/>
                </a:solidFill>
                <a:latin typeface="Courier" pitchFamily="49" charset="0"/>
              </a:rPr>
              <a:t>00h</a:t>
            </a:r>
          </a:p>
          <a:p>
            <a:pPr eaLnBrk="1" hangingPunct="1">
              <a:lnSpc>
                <a:spcPct val="50000"/>
              </a:lnSpc>
              <a:spcBef>
                <a:spcPct val="50000"/>
              </a:spcBef>
            </a:pPr>
            <a:r>
              <a:rPr lang="en-US" altLang="en-US" sz="1800" b="1">
                <a:solidFill>
                  <a:schemeClr val="tx2"/>
                </a:solidFill>
                <a:latin typeface="Courier" pitchFamily="49" charset="0"/>
              </a:rPr>
              <a:t>FFh</a:t>
            </a:r>
          </a:p>
          <a:p>
            <a:pPr eaLnBrk="1" hangingPunct="1">
              <a:lnSpc>
                <a:spcPct val="50000"/>
              </a:lnSpc>
              <a:spcBef>
                <a:spcPct val="50000"/>
              </a:spcBef>
            </a:pPr>
            <a:r>
              <a:rPr lang="en-US" altLang="en-US" sz="1800" b="1">
                <a:solidFill>
                  <a:schemeClr val="tx2"/>
                </a:solidFill>
                <a:latin typeface="Courier" pitchFamily="49" charset="0"/>
              </a:rPr>
              <a:t>00h</a:t>
            </a:r>
          </a:p>
          <a:p>
            <a:pPr eaLnBrk="1" hangingPunct="1">
              <a:lnSpc>
                <a:spcPct val="50000"/>
              </a:lnSpc>
              <a:spcBef>
                <a:spcPct val="50000"/>
              </a:spcBef>
            </a:pPr>
            <a:r>
              <a:rPr lang="en-US" altLang="en-US" sz="1800" b="1">
                <a:solidFill>
                  <a:schemeClr val="tx2"/>
                </a:solidFill>
                <a:latin typeface="Courier" pitchFamily="49" charset="0"/>
              </a:rPr>
              <a:t>FEFF </a:t>
            </a:r>
          </a:p>
        </p:txBody>
      </p:sp>
      <p:sp>
        <p:nvSpPr>
          <p:cNvPr id="2" name="Slide Number Placeholder 1"/>
          <p:cNvSpPr>
            <a:spLocks noGrp="1"/>
          </p:cNvSpPr>
          <p:nvPr>
            <p:ph type="sldNum" sz="quarter" idx="12"/>
          </p:nvPr>
        </p:nvSpPr>
        <p:spPr/>
        <p:txBody>
          <a:bodyPr/>
          <a:lstStyle/>
          <a:p>
            <a:fld id="{F51B45BB-47DD-4FFE-AFAF-9A1D2EB112A2}" type="slidenum">
              <a:rPr lang="en-US" smtClean="0"/>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defRPr/>
            </a:pPr>
            <a:r>
              <a:rPr lang="en-US" altLang="en-US"/>
              <a:t>ADD and SUB Instructions</a:t>
            </a:r>
          </a:p>
        </p:txBody>
      </p:sp>
      <p:sp>
        <p:nvSpPr>
          <p:cNvPr id="28677" name="Text Box 4"/>
          <p:cNvSpPr txBox="1">
            <a:spLocks noChangeArrowheads="1"/>
          </p:cNvSpPr>
          <p:nvPr/>
        </p:nvSpPr>
        <p:spPr bwMode="auto">
          <a:xfrm>
            <a:off x="2667000" y="2077533"/>
            <a:ext cx="7010400" cy="255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685800" indent="-22860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60000"/>
              </a:lnSpc>
              <a:spcBef>
                <a:spcPct val="50000"/>
              </a:spcBef>
              <a:buFontTx/>
              <a:buChar char="•"/>
            </a:pPr>
            <a:r>
              <a:rPr lang="en-US" altLang="en-US" sz="2500" dirty="0"/>
              <a:t>ADD destination, source</a:t>
            </a:r>
          </a:p>
          <a:p>
            <a:pPr lvl="1" eaLnBrk="1" hangingPunct="1">
              <a:lnSpc>
                <a:spcPct val="90000"/>
              </a:lnSpc>
              <a:spcBef>
                <a:spcPct val="20000"/>
              </a:spcBef>
              <a:buClr>
                <a:schemeClr val="tx1"/>
              </a:buClr>
              <a:buFontTx/>
              <a:buChar char="•"/>
            </a:pPr>
            <a:r>
              <a:rPr lang="en-US" altLang="en-US" sz="2000" dirty="0"/>
              <a:t>Logic: </a:t>
            </a:r>
            <a:r>
              <a:rPr lang="en-US" altLang="en-US" sz="2000" i="1" dirty="0"/>
              <a:t>destination </a:t>
            </a:r>
            <a:r>
              <a:rPr lang="en-US" altLang="en-US" sz="2400" dirty="0">
                <a:sym typeface="Symbol" panose="05050102010706020507" pitchFamily="18" charset="2"/>
              </a:rPr>
              <a:t> </a:t>
            </a:r>
            <a:r>
              <a:rPr lang="en-US" altLang="en-US" sz="2000" i="1" dirty="0"/>
              <a:t>destination </a:t>
            </a:r>
            <a:r>
              <a:rPr lang="en-US" altLang="en-US" sz="2000" dirty="0"/>
              <a:t>+ source</a:t>
            </a:r>
          </a:p>
          <a:p>
            <a:pPr eaLnBrk="1" hangingPunct="1">
              <a:lnSpc>
                <a:spcPct val="60000"/>
              </a:lnSpc>
              <a:spcBef>
                <a:spcPct val="50000"/>
              </a:spcBef>
              <a:buFontTx/>
              <a:buChar char="•"/>
            </a:pPr>
            <a:r>
              <a:rPr lang="en-US" altLang="en-US" sz="2500" dirty="0"/>
              <a:t>SUB destination, source</a:t>
            </a:r>
          </a:p>
          <a:p>
            <a:pPr lvl="1" eaLnBrk="1" hangingPunct="1">
              <a:lnSpc>
                <a:spcPct val="90000"/>
              </a:lnSpc>
              <a:spcBef>
                <a:spcPct val="20000"/>
              </a:spcBef>
              <a:buClr>
                <a:schemeClr val="tx1"/>
              </a:buClr>
              <a:buFontTx/>
              <a:buChar char="•"/>
            </a:pPr>
            <a:r>
              <a:rPr lang="en-US" altLang="en-US" sz="2000" dirty="0"/>
              <a:t>Logic: </a:t>
            </a:r>
            <a:r>
              <a:rPr lang="en-US" altLang="en-US" sz="2000" i="1" dirty="0"/>
              <a:t>destination </a:t>
            </a:r>
            <a:r>
              <a:rPr lang="en-US" altLang="en-US" sz="2400" dirty="0">
                <a:sym typeface="Symbol" panose="05050102010706020507" pitchFamily="18" charset="2"/>
              </a:rPr>
              <a:t> </a:t>
            </a:r>
            <a:r>
              <a:rPr lang="en-US" altLang="en-US" sz="2000" i="1" dirty="0"/>
              <a:t>destination </a:t>
            </a:r>
            <a:r>
              <a:rPr lang="en-US" altLang="en-US" sz="2000" dirty="0"/>
              <a:t>– source</a:t>
            </a:r>
          </a:p>
          <a:p>
            <a:pPr eaLnBrk="1" hangingPunct="1">
              <a:lnSpc>
                <a:spcPct val="80000"/>
              </a:lnSpc>
              <a:spcBef>
                <a:spcPct val="50000"/>
              </a:spcBef>
              <a:buFontTx/>
              <a:buChar char="•"/>
            </a:pPr>
            <a:r>
              <a:rPr lang="en-US" altLang="en-US" sz="2500" dirty="0"/>
              <a:t>Same operand rules as for the MOV instruction</a:t>
            </a:r>
          </a:p>
        </p:txBody>
      </p:sp>
      <p:sp>
        <p:nvSpPr>
          <p:cNvPr id="2" name="Slide Number Placeholder 1"/>
          <p:cNvSpPr>
            <a:spLocks noGrp="1"/>
          </p:cNvSpPr>
          <p:nvPr>
            <p:ph type="sldNum" sz="quarter" idx="12"/>
          </p:nvPr>
        </p:nvSpPr>
        <p:spPr/>
        <p:txBody>
          <a:bodyPr/>
          <a:lstStyle/>
          <a:p>
            <a:fld id="{F51B45BB-47DD-4FFE-AFAF-9A1D2EB112A2}"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defRPr/>
            </a:pPr>
            <a:r>
              <a:rPr lang="en-US" altLang="en-US"/>
              <a:t>ADD and SUB Examples</a:t>
            </a:r>
          </a:p>
        </p:txBody>
      </p:sp>
      <p:sp>
        <p:nvSpPr>
          <p:cNvPr id="29701" name="Text Box 3"/>
          <p:cNvSpPr txBox="1">
            <a:spLocks noChangeArrowheads="1"/>
          </p:cNvSpPr>
          <p:nvPr/>
        </p:nvSpPr>
        <p:spPr bwMode="auto">
          <a:xfrm>
            <a:off x="2667000" y="1752600"/>
            <a:ext cx="66294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var1 DWORD 10000h</a:t>
            </a:r>
          </a:p>
          <a:p>
            <a:pPr eaLnBrk="1" hangingPunct="1">
              <a:lnSpc>
                <a:spcPct val="50000"/>
              </a:lnSpc>
              <a:spcBef>
                <a:spcPct val="50000"/>
              </a:spcBef>
            </a:pPr>
            <a:r>
              <a:rPr lang="en-US" altLang="en-US" sz="1800" b="1">
                <a:latin typeface="Courier New" panose="02070609020205020404" pitchFamily="49" charset="0"/>
              </a:rPr>
              <a:t>var2 DWORD 20000h</a:t>
            </a:r>
          </a:p>
          <a:p>
            <a:pPr eaLnBrk="1" hangingPunct="1">
              <a:lnSpc>
                <a:spcPct val="50000"/>
              </a:lnSpc>
              <a:spcBef>
                <a:spcPct val="50000"/>
              </a:spcBef>
            </a:pPr>
            <a:r>
              <a:rPr lang="en-US" altLang="en-US" sz="1800" b="1">
                <a:latin typeface="Courier New" panose="02070609020205020404" pitchFamily="49" charset="0"/>
              </a:rPr>
              <a:t>.code	; ---EAX---</a:t>
            </a:r>
          </a:p>
          <a:p>
            <a:pPr eaLnBrk="1" hangingPunct="1">
              <a:lnSpc>
                <a:spcPct val="50000"/>
              </a:lnSpc>
              <a:spcBef>
                <a:spcPct val="50000"/>
              </a:spcBef>
            </a:pPr>
            <a:r>
              <a:rPr lang="en-US" altLang="en-US" sz="1800" b="1">
                <a:latin typeface="Courier New" panose="02070609020205020404" pitchFamily="49" charset="0"/>
              </a:rPr>
              <a:t>	mov eax,var1	; 00010000h</a:t>
            </a:r>
          </a:p>
          <a:p>
            <a:pPr eaLnBrk="1" hangingPunct="1">
              <a:lnSpc>
                <a:spcPct val="50000"/>
              </a:lnSpc>
              <a:spcBef>
                <a:spcPct val="50000"/>
              </a:spcBef>
            </a:pPr>
            <a:r>
              <a:rPr lang="en-US" altLang="en-US" sz="1800" b="1">
                <a:latin typeface="Courier New" panose="02070609020205020404" pitchFamily="49" charset="0"/>
              </a:rPr>
              <a:t>	add eax,var2 	; 00030000h</a:t>
            </a:r>
          </a:p>
          <a:p>
            <a:pPr eaLnBrk="1" hangingPunct="1">
              <a:lnSpc>
                <a:spcPct val="50000"/>
              </a:lnSpc>
              <a:spcBef>
                <a:spcPct val="50000"/>
              </a:spcBef>
            </a:pPr>
            <a:r>
              <a:rPr lang="en-US" altLang="en-US" sz="1800" b="1">
                <a:latin typeface="Courier New" panose="02070609020205020404" pitchFamily="49" charset="0"/>
              </a:rPr>
              <a:t>	add ax,0FFFFh	; 0003FFFFh</a:t>
            </a:r>
          </a:p>
          <a:p>
            <a:pPr eaLnBrk="1" hangingPunct="1">
              <a:lnSpc>
                <a:spcPct val="50000"/>
              </a:lnSpc>
              <a:spcBef>
                <a:spcPct val="50000"/>
              </a:spcBef>
            </a:pPr>
            <a:r>
              <a:rPr lang="en-US" altLang="en-US" sz="1800" b="1">
                <a:latin typeface="Courier New" panose="02070609020205020404" pitchFamily="49" charset="0"/>
              </a:rPr>
              <a:t>	add eax,1	; 00040000h</a:t>
            </a:r>
          </a:p>
          <a:p>
            <a:pPr eaLnBrk="1" hangingPunct="1">
              <a:lnSpc>
                <a:spcPct val="50000"/>
              </a:lnSpc>
              <a:spcBef>
                <a:spcPct val="50000"/>
              </a:spcBef>
            </a:pPr>
            <a:r>
              <a:rPr lang="en-US" altLang="en-US" sz="1800" b="1">
                <a:latin typeface="Courier New" panose="02070609020205020404" pitchFamily="49" charset="0"/>
              </a:rPr>
              <a:t>	sub ax,1	; 0004FFFFh</a:t>
            </a:r>
          </a:p>
          <a:p>
            <a:pPr eaLnBrk="1" hangingPunct="1">
              <a:lnSpc>
                <a:spcPct val="50000"/>
              </a:lnSpc>
              <a:spcBef>
                <a:spcPct val="50000"/>
              </a:spcBef>
            </a:pPr>
            <a:endParaRPr lang="en-US" altLang="en-US" sz="1800" b="1">
              <a:latin typeface="Courier New" panose="02070609020205020404" pitchFamily="49" charset="0"/>
            </a:endParaRPr>
          </a:p>
        </p:txBody>
      </p:sp>
      <p:sp>
        <p:nvSpPr>
          <p:cNvPr id="2" name="Slide Number Placeholder 1"/>
          <p:cNvSpPr>
            <a:spLocks noGrp="1"/>
          </p:cNvSpPr>
          <p:nvPr>
            <p:ph type="sldNum" sz="quarter" idx="12"/>
          </p:nvPr>
        </p:nvSpPr>
        <p:spPr/>
        <p:txBody>
          <a:bodyPr/>
          <a:lstStyle/>
          <a:p>
            <a:fld id="{F51B45BB-47DD-4FFE-AFAF-9A1D2EB112A2}"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defRPr/>
            </a:pPr>
            <a:r>
              <a:rPr lang="en-US" altLang="en-US"/>
              <a:t>NEG (negate) Instruction</a:t>
            </a:r>
          </a:p>
        </p:txBody>
      </p:sp>
      <p:sp>
        <p:nvSpPr>
          <p:cNvPr id="30725" name="Text Box 3"/>
          <p:cNvSpPr txBox="1">
            <a:spLocks noChangeArrowheads="1"/>
          </p:cNvSpPr>
          <p:nvPr/>
        </p:nvSpPr>
        <p:spPr bwMode="auto">
          <a:xfrm>
            <a:off x="2895600" y="2618121"/>
            <a:ext cx="6477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valB BYTE -1</a:t>
            </a:r>
          </a:p>
          <a:p>
            <a:pPr eaLnBrk="1" hangingPunct="1">
              <a:lnSpc>
                <a:spcPct val="50000"/>
              </a:lnSpc>
              <a:spcBef>
                <a:spcPct val="50000"/>
              </a:spcBef>
            </a:pPr>
            <a:r>
              <a:rPr lang="en-US" altLang="en-US" sz="1800" b="1">
                <a:latin typeface="Courier New" panose="02070609020205020404" pitchFamily="49" charset="0"/>
              </a:rPr>
              <a:t>valW WORD +32767</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	mov al,valB	; AL = -1</a:t>
            </a:r>
          </a:p>
          <a:p>
            <a:pPr eaLnBrk="1" hangingPunct="1">
              <a:lnSpc>
                <a:spcPct val="50000"/>
              </a:lnSpc>
              <a:spcBef>
                <a:spcPct val="50000"/>
              </a:spcBef>
            </a:pPr>
            <a:r>
              <a:rPr lang="en-US" altLang="en-US" sz="1800" b="1">
                <a:latin typeface="Courier New" panose="02070609020205020404" pitchFamily="49" charset="0"/>
              </a:rPr>
              <a:t>	neg al	; AL = +1</a:t>
            </a:r>
          </a:p>
          <a:p>
            <a:pPr eaLnBrk="1" hangingPunct="1">
              <a:lnSpc>
                <a:spcPct val="50000"/>
              </a:lnSpc>
              <a:spcBef>
                <a:spcPct val="50000"/>
              </a:spcBef>
            </a:pPr>
            <a:r>
              <a:rPr lang="en-US" altLang="en-US" sz="1800" b="1">
                <a:latin typeface="Courier New" panose="02070609020205020404" pitchFamily="49" charset="0"/>
              </a:rPr>
              <a:t>	neg valW	; valW = -32767</a:t>
            </a:r>
          </a:p>
        </p:txBody>
      </p:sp>
      <p:sp>
        <p:nvSpPr>
          <p:cNvPr id="30726" name="Text Box 4"/>
          <p:cNvSpPr txBox="1">
            <a:spLocks noChangeArrowheads="1"/>
          </p:cNvSpPr>
          <p:nvPr/>
        </p:nvSpPr>
        <p:spPr bwMode="auto">
          <a:xfrm>
            <a:off x="2209800" y="1475121"/>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Reverses the sign of an operand. Operand can be a register or memory operand.</a:t>
            </a:r>
          </a:p>
        </p:txBody>
      </p:sp>
      <p:sp>
        <p:nvSpPr>
          <p:cNvPr id="91141" name="Text Box 5"/>
          <p:cNvSpPr txBox="1">
            <a:spLocks noChangeArrowheads="1"/>
          </p:cNvSpPr>
          <p:nvPr/>
        </p:nvSpPr>
        <p:spPr bwMode="auto">
          <a:xfrm>
            <a:off x="2286000" y="5132721"/>
            <a:ext cx="7543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Suppose AX contains –32,768 and we apply NEG to it. Will the result be valid?</a:t>
            </a:r>
          </a:p>
        </p:txBody>
      </p:sp>
      <p:sp>
        <p:nvSpPr>
          <p:cNvPr id="2" name="Slide Number Placeholder 1"/>
          <p:cNvSpPr>
            <a:spLocks noGrp="1"/>
          </p:cNvSpPr>
          <p:nvPr>
            <p:ph type="sldNum" sz="quarter" idx="12"/>
          </p:nvPr>
        </p:nvSpPr>
        <p:spPr/>
        <p:txBody>
          <a:bodyPr/>
          <a:lstStyle/>
          <a:p>
            <a:fld id="{F51B45BB-47DD-4FFE-AFAF-9A1D2EB112A2}" type="slidenum">
              <a:rPr lang="en-US" smtClean="0"/>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 calcmode="lin" valueType="num">
                                      <p:cBhvr additive="base">
                                        <p:cTn id="7" dur="500" fill="hold"/>
                                        <p:tgtEl>
                                          <p:spTgt spid="91141"/>
                                        </p:tgtEl>
                                        <p:attrNameLst>
                                          <p:attrName>ppt_x</p:attrName>
                                        </p:attrNameLst>
                                      </p:cBhvr>
                                      <p:tavLst>
                                        <p:tav tm="0">
                                          <p:val>
                                            <p:strVal val="0-#ppt_w/2"/>
                                          </p:val>
                                        </p:tav>
                                        <p:tav tm="100000">
                                          <p:val>
                                            <p:strVal val="#ppt_x"/>
                                          </p:val>
                                        </p:tav>
                                      </p:tavLst>
                                    </p:anim>
                                    <p:anim calcmode="lin" valueType="num">
                                      <p:cBhvr additive="base">
                                        <p:cTn id="8"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26"/>
          <p:cNvSpPr>
            <a:spLocks noGrp="1" noChangeArrowheads="1"/>
          </p:cNvSpPr>
          <p:nvPr>
            <p:ph type="title"/>
          </p:nvPr>
        </p:nvSpPr>
        <p:spPr/>
        <p:txBody>
          <a:bodyPr/>
          <a:lstStyle/>
          <a:p>
            <a:pPr eaLnBrk="1" hangingPunct="1">
              <a:defRPr/>
            </a:pPr>
            <a:r>
              <a:rPr lang="en-US" altLang="en-US"/>
              <a:t>NEG Instruction and the Flags</a:t>
            </a:r>
          </a:p>
        </p:txBody>
      </p:sp>
      <p:sp>
        <p:nvSpPr>
          <p:cNvPr id="31749" name="Text Box 1027"/>
          <p:cNvSpPr txBox="1">
            <a:spLocks noChangeArrowheads="1"/>
          </p:cNvSpPr>
          <p:nvPr/>
        </p:nvSpPr>
        <p:spPr bwMode="auto">
          <a:xfrm>
            <a:off x="2514600" y="3617346"/>
            <a:ext cx="7162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valB BYTE 1,0</a:t>
            </a:r>
          </a:p>
          <a:p>
            <a:pPr eaLnBrk="1" hangingPunct="1">
              <a:lnSpc>
                <a:spcPct val="50000"/>
              </a:lnSpc>
              <a:spcBef>
                <a:spcPct val="50000"/>
              </a:spcBef>
            </a:pPr>
            <a:r>
              <a:rPr lang="en-US" altLang="en-US" sz="1800" b="1">
                <a:latin typeface="Courier New" panose="02070609020205020404" pitchFamily="49" charset="0"/>
              </a:rPr>
              <a:t>valC SBYTE -128</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	neg valB	; CF = 1, OF = 0</a:t>
            </a:r>
          </a:p>
          <a:p>
            <a:pPr eaLnBrk="1" hangingPunct="1">
              <a:lnSpc>
                <a:spcPct val="50000"/>
              </a:lnSpc>
              <a:spcBef>
                <a:spcPct val="50000"/>
              </a:spcBef>
            </a:pPr>
            <a:r>
              <a:rPr lang="en-US" altLang="en-US" sz="1800" b="1">
                <a:latin typeface="Courier New" panose="02070609020205020404" pitchFamily="49" charset="0"/>
              </a:rPr>
              <a:t>	neg [valB + 1]	; CF = 0, OF = 0</a:t>
            </a:r>
          </a:p>
          <a:p>
            <a:pPr eaLnBrk="1" hangingPunct="1">
              <a:lnSpc>
                <a:spcPct val="50000"/>
              </a:lnSpc>
              <a:spcBef>
                <a:spcPct val="50000"/>
              </a:spcBef>
            </a:pPr>
            <a:r>
              <a:rPr lang="en-US" altLang="en-US" sz="1800" b="1">
                <a:latin typeface="Courier New" panose="02070609020205020404" pitchFamily="49" charset="0"/>
              </a:rPr>
              <a:t>	neg valC	; CF = 1, OF = 1</a:t>
            </a:r>
          </a:p>
        </p:txBody>
      </p:sp>
      <p:sp>
        <p:nvSpPr>
          <p:cNvPr id="31750" name="Text Box 1031"/>
          <p:cNvSpPr txBox="1">
            <a:spLocks noChangeArrowheads="1"/>
          </p:cNvSpPr>
          <p:nvPr/>
        </p:nvSpPr>
        <p:spPr bwMode="auto">
          <a:xfrm>
            <a:off x="2286000" y="1559947"/>
            <a:ext cx="76200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processor implements  NEG using the following internal operation:</a:t>
            </a:r>
          </a:p>
          <a:p>
            <a:pPr eaLnBrk="1" hangingPunct="1">
              <a:spcBef>
                <a:spcPct val="50000"/>
              </a:spcBef>
            </a:pPr>
            <a:r>
              <a:rPr lang="en-US" altLang="en-US" dirty="0"/>
              <a:t>	</a:t>
            </a:r>
            <a:r>
              <a:rPr lang="en-US" altLang="en-US" sz="1800" b="1" dirty="0">
                <a:latin typeface="Courier New" panose="02070609020205020404" pitchFamily="49" charset="0"/>
              </a:rPr>
              <a:t>SUB 0,</a:t>
            </a:r>
            <a:r>
              <a:rPr lang="en-US" altLang="en-US" sz="1800" b="1" i="1" dirty="0">
                <a:latin typeface="Courier New" panose="02070609020205020404" pitchFamily="49" charset="0"/>
              </a:rPr>
              <a:t>operand</a:t>
            </a:r>
          </a:p>
          <a:p>
            <a:pPr eaLnBrk="1" hangingPunct="1">
              <a:spcBef>
                <a:spcPct val="50000"/>
              </a:spcBef>
            </a:pPr>
            <a:r>
              <a:rPr lang="en-US" altLang="en-US" dirty="0"/>
              <a:t>Any nonzero operand causes the Carry flag to be set.</a:t>
            </a:r>
          </a:p>
        </p:txBody>
      </p:sp>
      <p:sp>
        <p:nvSpPr>
          <p:cNvPr id="2" name="Slide Number Placeholder 1"/>
          <p:cNvSpPr>
            <a:spLocks noGrp="1"/>
          </p:cNvSpPr>
          <p:nvPr>
            <p:ph type="sldNum" sz="quarter" idx="12"/>
          </p:nvPr>
        </p:nvSpPr>
        <p:spPr/>
        <p:txBody>
          <a:bodyPr/>
          <a:lstStyle/>
          <a:p>
            <a:fld id="{F51B45BB-47DD-4FFE-AFAF-9A1D2EB112A2}"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defRPr/>
            </a:pPr>
            <a:r>
              <a:rPr lang="en-US" altLang="en-US"/>
              <a:t>Implementing Arithmetic Expressions</a:t>
            </a:r>
          </a:p>
        </p:txBody>
      </p:sp>
      <p:sp>
        <p:nvSpPr>
          <p:cNvPr id="32773" name="Text Box 3"/>
          <p:cNvSpPr txBox="1">
            <a:spLocks noChangeArrowheads="1"/>
          </p:cNvSpPr>
          <p:nvPr/>
        </p:nvSpPr>
        <p:spPr bwMode="auto">
          <a:xfrm>
            <a:off x="2895600" y="2974680"/>
            <a:ext cx="6019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Rval DWORD ?</a:t>
            </a:r>
          </a:p>
          <a:p>
            <a:pPr eaLnBrk="1" hangingPunct="1">
              <a:lnSpc>
                <a:spcPct val="50000"/>
              </a:lnSpc>
              <a:spcBef>
                <a:spcPct val="50000"/>
              </a:spcBef>
            </a:pPr>
            <a:r>
              <a:rPr lang="en-US" altLang="en-US" sz="1800" b="1">
                <a:latin typeface="Courier New" panose="02070609020205020404" pitchFamily="49" charset="0"/>
              </a:rPr>
              <a:t>Xval DWORD 26</a:t>
            </a:r>
          </a:p>
          <a:p>
            <a:pPr eaLnBrk="1" hangingPunct="1">
              <a:lnSpc>
                <a:spcPct val="50000"/>
              </a:lnSpc>
              <a:spcBef>
                <a:spcPct val="50000"/>
              </a:spcBef>
            </a:pPr>
            <a:r>
              <a:rPr lang="en-US" altLang="en-US" sz="1800" b="1">
                <a:latin typeface="Courier New" panose="02070609020205020404" pitchFamily="49" charset="0"/>
              </a:rPr>
              <a:t>Yval DWORD 30</a:t>
            </a:r>
          </a:p>
          <a:p>
            <a:pPr eaLnBrk="1" hangingPunct="1">
              <a:lnSpc>
                <a:spcPct val="50000"/>
              </a:lnSpc>
              <a:spcBef>
                <a:spcPct val="50000"/>
              </a:spcBef>
            </a:pPr>
            <a:r>
              <a:rPr lang="en-US" altLang="en-US" sz="1800" b="1">
                <a:latin typeface="Courier New" panose="02070609020205020404" pitchFamily="49" charset="0"/>
              </a:rPr>
              <a:t>Zval DWORD 40</a:t>
            </a:r>
          </a:p>
          <a:p>
            <a:pPr eaLnBrk="1" hangingPunct="1">
              <a:lnSpc>
                <a:spcPct val="50000"/>
              </a:lnSpc>
              <a:spcBef>
                <a:spcPct val="50000"/>
              </a:spcBef>
            </a:pPr>
            <a:r>
              <a:rPr lang="en-US" altLang="en-US" sz="1800" b="1">
                <a:latin typeface="Courier" pitchFamily="49" charset="0"/>
              </a:rPr>
              <a:t>.code</a:t>
            </a:r>
          </a:p>
          <a:p>
            <a:pPr eaLnBrk="1" hangingPunct="1">
              <a:lnSpc>
                <a:spcPct val="50000"/>
              </a:lnSpc>
              <a:spcBef>
                <a:spcPct val="50000"/>
              </a:spcBef>
            </a:pPr>
            <a:r>
              <a:rPr lang="en-US" altLang="en-US" sz="1800" b="1">
                <a:latin typeface="Courier" pitchFamily="49" charset="0"/>
              </a:rPr>
              <a:t>	mov eax,Xval		</a:t>
            </a:r>
          </a:p>
          <a:p>
            <a:pPr eaLnBrk="1" hangingPunct="1">
              <a:lnSpc>
                <a:spcPct val="50000"/>
              </a:lnSpc>
              <a:spcBef>
                <a:spcPct val="50000"/>
              </a:spcBef>
            </a:pPr>
            <a:r>
              <a:rPr lang="en-US" altLang="en-US" sz="1800" b="1">
                <a:latin typeface="Courier" pitchFamily="49" charset="0"/>
              </a:rPr>
              <a:t>	neg eax 	; EAX = -26</a:t>
            </a:r>
          </a:p>
          <a:p>
            <a:pPr eaLnBrk="1" hangingPunct="1">
              <a:lnSpc>
                <a:spcPct val="50000"/>
              </a:lnSpc>
              <a:spcBef>
                <a:spcPct val="50000"/>
              </a:spcBef>
            </a:pPr>
            <a:r>
              <a:rPr lang="en-US" altLang="en-US" sz="1800" b="1">
                <a:latin typeface="Courier" pitchFamily="49" charset="0"/>
              </a:rPr>
              <a:t>	mov ebx,Yval</a:t>
            </a:r>
          </a:p>
          <a:p>
            <a:pPr eaLnBrk="1" hangingPunct="1">
              <a:lnSpc>
                <a:spcPct val="50000"/>
              </a:lnSpc>
              <a:spcBef>
                <a:spcPct val="50000"/>
              </a:spcBef>
            </a:pPr>
            <a:r>
              <a:rPr lang="en-US" altLang="en-US" sz="1800" b="1">
                <a:latin typeface="Courier" pitchFamily="49" charset="0"/>
              </a:rPr>
              <a:t>	sub ebx,Zval 	; EBX = -10</a:t>
            </a:r>
          </a:p>
          <a:p>
            <a:pPr eaLnBrk="1" hangingPunct="1">
              <a:lnSpc>
                <a:spcPct val="50000"/>
              </a:lnSpc>
              <a:spcBef>
                <a:spcPct val="50000"/>
              </a:spcBef>
            </a:pPr>
            <a:r>
              <a:rPr lang="en-US" altLang="en-US" sz="1800" b="1">
                <a:latin typeface="Courier" pitchFamily="49" charset="0"/>
              </a:rPr>
              <a:t>	add eax,ebx</a:t>
            </a:r>
          </a:p>
          <a:p>
            <a:pPr eaLnBrk="1" hangingPunct="1">
              <a:lnSpc>
                <a:spcPct val="50000"/>
              </a:lnSpc>
              <a:spcBef>
                <a:spcPct val="50000"/>
              </a:spcBef>
            </a:pPr>
            <a:r>
              <a:rPr lang="en-US" altLang="en-US" sz="1800" b="1">
                <a:latin typeface="Courier" pitchFamily="49" charset="0"/>
              </a:rPr>
              <a:t>	mov Rval,eax 	; -36</a:t>
            </a:r>
            <a:endParaRPr lang="en-US" altLang="en-US" sz="1800" b="1">
              <a:latin typeface="Courier New" panose="02070609020205020404" pitchFamily="49" charset="0"/>
            </a:endParaRPr>
          </a:p>
        </p:txBody>
      </p:sp>
      <p:sp>
        <p:nvSpPr>
          <p:cNvPr id="32774" name="Text Box 4"/>
          <p:cNvSpPr txBox="1">
            <a:spLocks noChangeArrowheads="1"/>
          </p:cNvSpPr>
          <p:nvPr/>
        </p:nvSpPr>
        <p:spPr bwMode="auto">
          <a:xfrm>
            <a:off x="2209800" y="1526881"/>
            <a:ext cx="7696200"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HLL compilers translate mathematical expressions into assembly language. You can do it also. For example: </a:t>
            </a:r>
          </a:p>
          <a:p>
            <a:pPr eaLnBrk="1" hangingPunct="1">
              <a:lnSpc>
                <a:spcPct val="80000"/>
              </a:lnSpc>
              <a:spcBef>
                <a:spcPct val="50000"/>
              </a:spcBef>
            </a:pPr>
            <a:r>
              <a:rPr lang="en-US" altLang="en-US" dirty="0"/>
              <a:t>	</a:t>
            </a:r>
            <a:r>
              <a:rPr lang="en-US" altLang="en-US" sz="1800" b="1" dirty="0" err="1">
                <a:latin typeface="Courier New" panose="02070609020205020404" pitchFamily="49" charset="0"/>
              </a:rPr>
              <a:t>Rval</a:t>
            </a:r>
            <a:r>
              <a:rPr lang="en-US" altLang="en-US" sz="1800" b="1" dirty="0">
                <a:latin typeface="Courier New" panose="02070609020205020404" pitchFamily="49" charset="0"/>
              </a:rPr>
              <a:t> = -</a:t>
            </a:r>
            <a:r>
              <a:rPr lang="en-US" altLang="en-US" sz="1800" b="1" dirty="0" err="1">
                <a:latin typeface="Courier New" panose="02070609020205020404" pitchFamily="49" charset="0"/>
              </a:rPr>
              <a:t>Xval</a:t>
            </a:r>
            <a:r>
              <a:rPr lang="en-US" altLang="en-US" sz="1800" b="1" dirty="0">
                <a:latin typeface="Courier New" panose="02070609020205020404" pitchFamily="49" charset="0"/>
              </a:rPr>
              <a:t> + (</a:t>
            </a:r>
            <a:r>
              <a:rPr lang="en-US" altLang="en-US" sz="1800" b="1" dirty="0" err="1">
                <a:latin typeface="Courier New" panose="02070609020205020404" pitchFamily="49" charset="0"/>
              </a:rPr>
              <a:t>Yval</a:t>
            </a:r>
            <a:r>
              <a:rPr lang="en-US" altLang="en-US" sz="1800" b="1" dirty="0">
                <a:latin typeface="Courier New" panose="02070609020205020404" pitchFamily="49" charset="0"/>
              </a:rPr>
              <a:t> – </a:t>
            </a:r>
            <a:r>
              <a:rPr lang="en-US" altLang="en-US" sz="1800" b="1" dirty="0" err="1">
                <a:latin typeface="Courier New" panose="02070609020205020404" pitchFamily="49" charset="0"/>
              </a:rPr>
              <a:t>Zval</a:t>
            </a:r>
            <a:r>
              <a:rPr lang="en-US" altLang="en-US" sz="1800" b="1" dirty="0">
                <a:latin typeface="Courier New" panose="02070609020205020404" pitchFamily="49" charset="0"/>
              </a:rPr>
              <a:t>)</a:t>
            </a:r>
            <a:endParaRPr lang="en-US" altLang="en-US" dirty="0"/>
          </a:p>
        </p:txBody>
      </p:sp>
      <p:sp>
        <p:nvSpPr>
          <p:cNvPr id="2" name="Slide Number Placeholder 1"/>
          <p:cNvSpPr>
            <a:spLocks noGrp="1"/>
          </p:cNvSpPr>
          <p:nvPr>
            <p:ph type="sldNum" sz="quarter" idx="12"/>
          </p:nvPr>
        </p:nvSpPr>
        <p:spPr/>
        <p:txBody>
          <a:bodyPr/>
          <a:lstStyle/>
          <a:p>
            <a:fld id="{F51B45BB-47DD-4FFE-AFAF-9A1D2EB112A2}"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lang="en-US" altLang="en-US"/>
              <a:t>Flags Affected by Arithmetic</a:t>
            </a:r>
          </a:p>
        </p:txBody>
      </p:sp>
      <p:sp>
        <p:nvSpPr>
          <p:cNvPr id="34821" name="Rectangle 3"/>
          <p:cNvSpPr>
            <a:spLocks noGrp="1" noChangeArrowheads="1"/>
          </p:cNvSpPr>
          <p:nvPr>
            <p:ph type="body" idx="1"/>
          </p:nvPr>
        </p:nvSpPr>
        <p:spPr>
          <a:xfrm>
            <a:off x="2209800" y="1670652"/>
            <a:ext cx="8153400" cy="4114800"/>
          </a:xfrm>
        </p:spPr>
        <p:txBody>
          <a:bodyPr/>
          <a:lstStyle/>
          <a:p>
            <a:pPr eaLnBrk="1" hangingPunct="1"/>
            <a:r>
              <a:rPr lang="en-US" altLang="en-US" dirty="0"/>
              <a:t>The ALU has a number of status flags that reflect the outcome of arithmetic (and bitwise) operations</a:t>
            </a:r>
          </a:p>
          <a:p>
            <a:pPr lvl="1" eaLnBrk="1" hangingPunct="1"/>
            <a:r>
              <a:rPr lang="en-US" altLang="en-US" dirty="0"/>
              <a:t>based on the contents of the destination operand</a:t>
            </a:r>
          </a:p>
          <a:p>
            <a:pPr eaLnBrk="1" hangingPunct="1"/>
            <a:r>
              <a:rPr lang="en-US" altLang="en-US" dirty="0"/>
              <a:t>Essential flags:</a:t>
            </a:r>
          </a:p>
          <a:p>
            <a:pPr lvl="1" eaLnBrk="1" hangingPunct="1"/>
            <a:r>
              <a:rPr lang="en-US" altLang="en-US" dirty="0"/>
              <a:t>Zero flag – set when destination equals zero</a:t>
            </a:r>
          </a:p>
          <a:p>
            <a:pPr lvl="1" eaLnBrk="1" hangingPunct="1"/>
            <a:r>
              <a:rPr lang="en-US" altLang="en-US" dirty="0"/>
              <a:t>Sign flag – set when destination is negative</a:t>
            </a:r>
          </a:p>
          <a:p>
            <a:pPr lvl="1" eaLnBrk="1" hangingPunct="1"/>
            <a:r>
              <a:rPr lang="en-US" altLang="en-US" dirty="0"/>
              <a:t>Carry flag – set when unsigned value is out of range</a:t>
            </a:r>
          </a:p>
          <a:p>
            <a:pPr lvl="1" eaLnBrk="1" hangingPunct="1"/>
            <a:r>
              <a:rPr lang="en-US" altLang="en-US" dirty="0"/>
              <a:t>Overflow flag – set when signed value is out of range</a:t>
            </a:r>
          </a:p>
          <a:p>
            <a:pPr eaLnBrk="1" hangingPunct="1"/>
            <a:r>
              <a:rPr lang="en-US" altLang="en-US" dirty="0"/>
              <a:t>The MOV instruction never affects the flags.</a:t>
            </a:r>
          </a:p>
        </p:txBody>
      </p:sp>
      <p:sp>
        <p:nvSpPr>
          <p:cNvPr id="2" name="Slide Number Placeholder 1"/>
          <p:cNvSpPr>
            <a:spLocks noGrp="1"/>
          </p:cNvSpPr>
          <p:nvPr>
            <p:ph type="sldNum" sz="quarter" idx="12"/>
          </p:nvPr>
        </p:nvSpPr>
        <p:spPr/>
        <p:txBody>
          <a:bodyPr/>
          <a:lstStyle/>
          <a:p>
            <a:fld id="{F51B45BB-47DD-4FFE-AFAF-9A1D2EB112A2}"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defRPr/>
            </a:pPr>
            <a:r>
              <a:rPr lang="en-US" altLang="en-US"/>
              <a:t>Concept Map</a:t>
            </a:r>
          </a:p>
        </p:txBody>
      </p:sp>
      <p:sp>
        <p:nvSpPr>
          <p:cNvPr id="35845" name="Text Box 3"/>
          <p:cNvSpPr txBox="1">
            <a:spLocks noChangeArrowheads="1"/>
          </p:cNvSpPr>
          <p:nvPr/>
        </p:nvSpPr>
        <p:spPr bwMode="auto">
          <a:xfrm>
            <a:off x="5257800" y="4337653"/>
            <a:ext cx="1447800" cy="390525"/>
          </a:xfrm>
          <a:prstGeom prst="rect">
            <a:avLst/>
          </a:prstGeom>
          <a:solidFill>
            <a:schemeClr val="accent1"/>
          </a:solidFill>
          <a:ln w="9525">
            <a:solidFill>
              <a:schemeClr val="tx1"/>
            </a:solidFill>
            <a:miter lim="800000"/>
          </a:ln>
        </p:spPr>
        <p:txBody>
          <a:bodyPr lIns="45720" rIns="4572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900">
                <a:solidFill>
                  <a:schemeClr val="bg2"/>
                </a:solidFill>
              </a:rPr>
              <a:t>status flags</a:t>
            </a:r>
          </a:p>
        </p:txBody>
      </p:sp>
      <p:sp>
        <p:nvSpPr>
          <p:cNvPr id="35846" name="Text Box 4"/>
          <p:cNvSpPr txBox="1">
            <a:spLocks noChangeArrowheads="1"/>
          </p:cNvSpPr>
          <p:nvPr/>
        </p:nvSpPr>
        <p:spPr bwMode="auto">
          <a:xfrm>
            <a:off x="5486400" y="2727928"/>
            <a:ext cx="914400" cy="390525"/>
          </a:xfrm>
          <a:prstGeom prst="rect">
            <a:avLst/>
          </a:prstGeom>
          <a:solidFill>
            <a:schemeClr val="accent1"/>
          </a:solidFill>
          <a:ln w="9525">
            <a:solidFill>
              <a:schemeClr val="tx1"/>
            </a:solidFill>
            <a:miter lim="800000"/>
          </a:ln>
        </p:spPr>
        <p:txBody>
          <a:bodyPr lIns="45720" rIns="4572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900">
                <a:solidFill>
                  <a:schemeClr val="bg2"/>
                </a:solidFill>
              </a:rPr>
              <a:t>ALU</a:t>
            </a:r>
          </a:p>
        </p:txBody>
      </p:sp>
      <p:sp>
        <p:nvSpPr>
          <p:cNvPr id="35847" name="Text Box 5"/>
          <p:cNvSpPr txBox="1">
            <a:spLocks noChangeArrowheads="1"/>
          </p:cNvSpPr>
          <p:nvPr/>
        </p:nvSpPr>
        <p:spPr bwMode="auto">
          <a:xfrm>
            <a:off x="7924800" y="2966053"/>
            <a:ext cx="2057400" cy="390525"/>
          </a:xfrm>
          <a:prstGeom prst="rect">
            <a:avLst/>
          </a:prstGeom>
          <a:solidFill>
            <a:schemeClr val="accent1"/>
          </a:solidFill>
          <a:ln w="9525">
            <a:solidFill>
              <a:schemeClr val="tx1"/>
            </a:solidFill>
            <a:miter lim="800000"/>
          </a:ln>
        </p:spPr>
        <p:txBody>
          <a:bodyPr lIns="45720" rIns="4572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900">
                <a:solidFill>
                  <a:schemeClr val="bg2"/>
                </a:solidFill>
              </a:rPr>
              <a:t>conditional jumps</a:t>
            </a:r>
          </a:p>
        </p:txBody>
      </p:sp>
      <p:sp>
        <p:nvSpPr>
          <p:cNvPr id="35848" name="Text Box 6"/>
          <p:cNvSpPr txBox="1">
            <a:spLocks noChangeArrowheads="1"/>
          </p:cNvSpPr>
          <p:nvPr/>
        </p:nvSpPr>
        <p:spPr bwMode="auto">
          <a:xfrm>
            <a:off x="8077200" y="4642453"/>
            <a:ext cx="1828800" cy="390525"/>
          </a:xfrm>
          <a:prstGeom prst="rect">
            <a:avLst/>
          </a:prstGeom>
          <a:solidFill>
            <a:schemeClr val="accent1"/>
          </a:solidFill>
          <a:ln w="9525">
            <a:solidFill>
              <a:schemeClr val="tx1"/>
            </a:solidFill>
            <a:miter lim="800000"/>
          </a:ln>
        </p:spPr>
        <p:txBody>
          <a:bodyPr lIns="45720" rIns="4572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900">
                <a:solidFill>
                  <a:schemeClr val="bg2"/>
                </a:solidFill>
              </a:rPr>
              <a:t>branching logic</a:t>
            </a:r>
          </a:p>
        </p:txBody>
      </p:sp>
      <p:sp>
        <p:nvSpPr>
          <p:cNvPr id="35849" name="Text Box 8"/>
          <p:cNvSpPr txBox="1">
            <a:spLocks noChangeArrowheads="1"/>
          </p:cNvSpPr>
          <p:nvPr/>
        </p:nvSpPr>
        <p:spPr bwMode="auto">
          <a:xfrm>
            <a:off x="2057400" y="3277202"/>
            <a:ext cx="2362200" cy="679450"/>
          </a:xfrm>
          <a:prstGeom prst="rect">
            <a:avLst/>
          </a:prstGeom>
          <a:solidFill>
            <a:schemeClr val="accent1"/>
          </a:solidFill>
          <a:ln w="9525">
            <a:solidFill>
              <a:schemeClr val="tx1"/>
            </a:solidFill>
            <a:miter lim="800000"/>
          </a:ln>
        </p:spPr>
        <p:txBody>
          <a:bodyPr lIns="45720" rIns="4572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900">
                <a:solidFill>
                  <a:schemeClr val="bg2"/>
                </a:solidFill>
              </a:rPr>
              <a:t>arithmetic &amp; bitwise operations</a:t>
            </a:r>
          </a:p>
        </p:txBody>
      </p:sp>
      <p:sp>
        <p:nvSpPr>
          <p:cNvPr id="35850" name="Line 9"/>
          <p:cNvSpPr>
            <a:spLocks noChangeShapeType="1"/>
          </p:cNvSpPr>
          <p:nvPr/>
        </p:nvSpPr>
        <p:spPr bwMode="auto">
          <a:xfrm flipH="1" flipV="1">
            <a:off x="5943600" y="1823052"/>
            <a:ext cx="0" cy="9144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51" name="Line 10"/>
          <p:cNvSpPr>
            <a:spLocks noChangeShapeType="1"/>
          </p:cNvSpPr>
          <p:nvPr/>
        </p:nvSpPr>
        <p:spPr bwMode="auto">
          <a:xfrm>
            <a:off x="4419600" y="3956652"/>
            <a:ext cx="838200" cy="3810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52" name="Line 11"/>
          <p:cNvSpPr>
            <a:spLocks noChangeShapeType="1"/>
          </p:cNvSpPr>
          <p:nvPr/>
        </p:nvSpPr>
        <p:spPr bwMode="auto">
          <a:xfrm flipH="1" flipV="1">
            <a:off x="5943600" y="3194652"/>
            <a:ext cx="0" cy="11430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53" name="Line 12"/>
          <p:cNvSpPr>
            <a:spLocks noChangeShapeType="1"/>
          </p:cNvSpPr>
          <p:nvPr/>
        </p:nvSpPr>
        <p:spPr bwMode="auto">
          <a:xfrm flipV="1">
            <a:off x="6781800" y="3347052"/>
            <a:ext cx="1066800" cy="990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54" name="Line 14"/>
          <p:cNvSpPr>
            <a:spLocks noChangeShapeType="1"/>
          </p:cNvSpPr>
          <p:nvPr/>
        </p:nvSpPr>
        <p:spPr bwMode="auto">
          <a:xfrm flipH="1">
            <a:off x="8991600" y="3423252"/>
            <a:ext cx="0" cy="11430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55" name="Text Box 15"/>
          <p:cNvSpPr txBox="1">
            <a:spLocks noChangeArrowheads="1"/>
          </p:cNvSpPr>
          <p:nvPr/>
        </p:nvSpPr>
        <p:spPr bwMode="auto">
          <a:xfrm>
            <a:off x="5486400" y="1975453"/>
            <a:ext cx="9906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 part of</a:t>
            </a:r>
          </a:p>
        </p:txBody>
      </p:sp>
      <p:sp>
        <p:nvSpPr>
          <p:cNvPr id="35856" name="Text Box 16"/>
          <p:cNvSpPr txBox="1">
            <a:spLocks noChangeArrowheads="1"/>
          </p:cNvSpPr>
          <p:nvPr/>
        </p:nvSpPr>
        <p:spPr bwMode="auto">
          <a:xfrm>
            <a:off x="6248400" y="3575653"/>
            <a:ext cx="18288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used by</a:t>
            </a:r>
          </a:p>
        </p:txBody>
      </p:sp>
      <p:sp>
        <p:nvSpPr>
          <p:cNvPr id="35857" name="Text Box 17"/>
          <p:cNvSpPr txBox="1">
            <a:spLocks noChangeArrowheads="1"/>
          </p:cNvSpPr>
          <p:nvPr/>
        </p:nvSpPr>
        <p:spPr bwMode="auto">
          <a:xfrm>
            <a:off x="8153400" y="3651853"/>
            <a:ext cx="18288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 provide</a:t>
            </a:r>
          </a:p>
        </p:txBody>
      </p:sp>
      <p:sp>
        <p:nvSpPr>
          <p:cNvPr id="35858" name="Text Box 19"/>
          <p:cNvSpPr txBox="1">
            <a:spLocks noChangeArrowheads="1"/>
          </p:cNvSpPr>
          <p:nvPr/>
        </p:nvSpPr>
        <p:spPr bwMode="auto">
          <a:xfrm>
            <a:off x="5029200" y="3499453"/>
            <a:ext cx="18288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attached to</a:t>
            </a:r>
          </a:p>
        </p:txBody>
      </p:sp>
      <p:sp>
        <p:nvSpPr>
          <p:cNvPr id="35859" name="Text Box 20"/>
          <p:cNvSpPr txBox="1">
            <a:spLocks noChangeArrowheads="1"/>
          </p:cNvSpPr>
          <p:nvPr/>
        </p:nvSpPr>
        <p:spPr bwMode="auto">
          <a:xfrm>
            <a:off x="3657600" y="4109053"/>
            <a:ext cx="18288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affect</a:t>
            </a:r>
          </a:p>
        </p:txBody>
      </p:sp>
      <p:sp>
        <p:nvSpPr>
          <p:cNvPr id="35860" name="Text Box 21"/>
          <p:cNvSpPr txBox="1">
            <a:spLocks noChangeArrowheads="1"/>
          </p:cNvSpPr>
          <p:nvPr/>
        </p:nvSpPr>
        <p:spPr bwMode="auto">
          <a:xfrm>
            <a:off x="5486400" y="1365853"/>
            <a:ext cx="914400" cy="390525"/>
          </a:xfrm>
          <a:prstGeom prst="rect">
            <a:avLst/>
          </a:prstGeom>
          <a:solidFill>
            <a:schemeClr val="accent1"/>
          </a:solidFill>
          <a:ln w="9525">
            <a:solidFill>
              <a:schemeClr val="tx1"/>
            </a:solidFill>
            <a:miter lim="800000"/>
          </a:ln>
        </p:spPr>
        <p:txBody>
          <a:bodyPr lIns="45720" rIns="4572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900">
                <a:solidFill>
                  <a:schemeClr val="bg2"/>
                </a:solidFill>
              </a:rPr>
              <a:t>CPU</a:t>
            </a:r>
          </a:p>
        </p:txBody>
      </p:sp>
      <p:sp>
        <p:nvSpPr>
          <p:cNvPr id="110614" name="Text Box 22"/>
          <p:cNvSpPr txBox="1">
            <a:spLocks noChangeArrowheads="1"/>
          </p:cNvSpPr>
          <p:nvPr/>
        </p:nvSpPr>
        <p:spPr bwMode="auto">
          <a:xfrm>
            <a:off x="2286000" y="5480653"/>
            <a:ext cx="7391400" cy="7397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1500"/>
              <a:t>You can use diagrams such as these to express the relationships between assembly language concepts.</a:t>
            </a:r>
          </a:p>
        </p:txBody>
      </p:sp>
      <p:sp>
        <p:nvSpPr>
          <p:cNvPr id="35862" name="Line 23"/>
          <p:cNvSpPr>
            <a:spLocks noChangeShapeType="1"/>
          </p:cNvSpPr>
          <p:nvPr/>
        </p:nvSpPr>
        <p:spPr bwMode="auto">
          <a:xfrm>
            <a:off x="6400800" y="1746852"/>
            <a:ext cx="1447800" cy="11430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63" name="Text Box 24"/>
          <p:cNvSpPr txBox="1">
            <a:spLocks noChangeArrowheads="1"/>
          </p:cNvSpPr>
          <p:nvPr/>
        </p:nvSpPr>
        <p:spPr bwMode="auto">
          <a:xfrm>
            <a:off x="6629400" y="1975453"/>
            <a:ext cx="18288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executes</a:t>
            </a:r>
          </a:p>
        </p:txBody>
      </p:sp>
      <p:sp>
        <p:nvSpPr>
          <p:cNvPr id="35864" name="Line 25"/>
          <p:cNvSpPr>
            <a:spLocks noChangeShapeType="1"/>
          </p:cNvSpPr>
          <p:nvPr/>
        </p:nvSpPr>
        <p:spPr bwMode="auto">
          <a:xfrm flipH="1">
            <a:off x="4495800" y="2966052"/>
            <a:ext cx="99060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tIns="137160" bIns="137160">
            <a:spAutoFit/>
          </a:bodyPr>
          <a:lstStyle/>
          <a:p>
            <a:endParaRPr lang="en-US"/>
          </a:p>
        </p:txBody>
      </p:sp>
      <p:sp>
        <p:nvSpPr>
          <p:cNvPr id="35865" name="Text Box 26"/>
          <p:cNvSpPr txBox="1">
            <a:spLocks noChangeArrowheads="1"/>
          </p:cNvSpPr>
          <p:nvPr/>
        </p:nvSpPr>
        <p:spPr bwMode="auto">
          <a:xfrm>
            <a:off x="4419600" y="2585053"/>
            <a:ext cx="1143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algn="ctr" eaLnBrk="1" hangingPunct="1">
              <a:spcBef>
                <a:spcPct val="50000"/>
              </a:spcBef>
            </a:pPr>
            <a:r>
              <a:rPr lang="en-US" altLang="en-US" sz="1500"/>
              <a:t>executes</a:t>
            </a:r>
          </a:p>
        </p:txBody>
      </p:sp>
      <p:sp>
        <p:nvSpPr>
          <p:cNvPr id="2" name="Slide Number Placeholder 1"/>
          <p:cNvSpPr>
            <a:spLocks noGrp="1"/>
          </p:cNvSpPr>
          <p:nvPr>
            <p:ph type="sldNum" sz="quarter" idx="12"/>
          </p:nvPr>
        </p:nvSpPr>
        <p:spPr/>
        <p:txBody>
          <a:bodyPr/>
          <a:lstStyle/>
          <a:p>
            <a:fld id="{F51B45BB-47DD-4FFE-AFAF-9A1D2EB112A2}" type="slidenum">
              <a:rPr lang="en-US" smtClean="0"/>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614"/>
                                        </p:tgtEl>
                                        <p:attrNameLst>
                                          <p:attrName>style.visibility</p:attrName>
                                        </p:attrNameLst>
                                      </p:cBhvr>
                                      <p:to>
                                        <p:strVal val="visible"/>
                                      </p:to>
                                    </p:set>
                                    <p:anim calcmode="lin" valueType="num">
                                      <p:cBhvr additive="base">
                                        <p:cTn id="7" dur="500" fill="hold"/>
                                        <p:tgtEl>
                                          <p:spTgt spid="110614"/>
                                        </p:tgtEl>
                                        <p:attrNameLst>
                                          <p:attrName>ppt_x</p:attrName>
                                        </p:attrNameLst>
                                      </p:cBhvr>
                                      <p:tavLst>
                                        <p:tav tm="0">
                                          <p:val>
                                            <p:strVal val="0-#ppt_w/2"/>
                                          </p:val>
                                        </p:tav>
                                        <p:tav tm="100000">
                                          <p:val>
                                            <p:strVal val="#ppt_x"/>
                                          </p:val>
                                        </p:tav>
                                      </p:tavLst>
                                    </p:anim>
                                    <p:anim calcmode="lin" valueType="num">
                                      <p:cBhvr additive="base">
                                        <p:cTn id="8" dur="500" fill="hold"/>
                                        <p:tgtEl>
                                          <p:spTgt spid="1106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14"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en-US" altLang="en-US"/>
              <a:t>Zero Flag (ZF)</a:t>
            </a:r>
          </a:p>
        </p:txBody>
      </p:sp>
      <p:sp>
        <p:nvSpPr>
          <p:cNvPr id="36869" name="Text Box 3"/>
          <p:cNvSpPr txBox="1">
            <a:spLocks noChangeArrowheads="1"/>
          </p:cNvSpPr>
          <p:nvPr/>
        </p:nvSpPr>
        <p:spPr bwMode="auto">
          <a:xfrm>
            <a:off x="3276600" y="2694321"/>
            <a:ext cx="5562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2743200" algn="l"/>
              </a:tabLst>
              <a:defRPr sz="2100">
                <a:solidFill>
                  <a:schemeClr val="tx1"/>
                </a:solidFill>
                <a:latin typeface="Arial" panose="020B0704020202020204" pitchFamily="34" charset="0"/>
              </a:defRPr>
            </a:lvl1pPr>
            <a:lvl2pPr marL="742950" indent="-285750" eaLnBrk="0" hangingPunct="0">
              <a:tabLst>
                <a:tab pos="457200" algn="l"/>
                <a:tab pos="2743200" algn="l"/>
              </a:tabLst>
              <a:defRPr sz="2100">
                <a:solidFill>
                  <a:schemeClr val="tx1"/>
                </a:solidFill>
                <a:latin typeface="Arial" panose="020B0704020202020204" pitchFamily="34" charset="0"/>
              </a:defRPr>
            </a:lvl2pPr>
            <a:lvl3pPr marL="1143000" indent="-228600" eaLnBrk="0" hangingPunct="0">
              <a:tabLst>
                <a:tab pos="457200" algn="l"/>
                <a:tab pos="2743200" algn="l"/>
              </a:tabLst>
              <a:defRPr sz="2100">
                <a:solidFill>
                  <a:schemeClr val="tx1"/>
                </a:solidFill>
                <a:latin typeface="Arial" panose="020B0704020202020204" pitchFamily="34" charset="0"/>
              </a:defRPr>
            </a:lvl3pPr>
            <a:lvl4pPr marL="1600200" indent="-228600" eaLnBrk="0" hangingPunct="0">
              <a:tabLst>
                <a:tab pos="457200" algn="l"/>
                <a:tab pos="2743200" algn="l"/>
              </a:tabLst>
              <a:defRPr sz="2100">
                <a:solidFill>
                  <a:schemeClr val="tx1"/>
                </a:solidFill>
                <a:latin typeface="Arial" panose="020B0704020202020204" pitchFamily="34" charset="0"/>
              </a:defRPr>
            </a:lvl4pPr>
            <a:lvl5pPr marL="2057400" indent="-228600" eaLnBrk="0" hangingPunct="0">
              <a:tabLst>
                <a:tab pos="457200" algn="l"/>
                <a:tab pos="27432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7432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7432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7432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7432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cx,1</a:t>
            </a:r>
          </a:p>
          <a:p>
            <a:pPr eaLnBrk="1" hangingPunct="1">
              <a:lnSpc>
                <a:spcPct val="50000"/>
              </a:lnSpc>
              <a:spcBef>
                <a:spcPct val="50000"/>
              </a:spcBef>
            </a:pPr>
            <a:r>
              <a:rPr lang="en-US" altLang="en-US" sz="1800" b="1">
                <a:latin typeface="Courier New" panose="02070609020205020404" pitchFamily="49" charset="0"/>
              </a:rPr>
              <a:t>sub cx,1 	; CX = 0, ZF = 1</a:t>
            </a:r>
          </a:p>
          <a:p>
            <a:pPr eaLnBrk="1" hangingPunct="1">
              <a:lnSpc>
                <a:spcPct val="50000"/>
              </a:lnSpc>
              <a:spcBef>
                <a:spcPct val="50000"/>
              </a:spcBef>
            </a:pPr>
            <a:r>
              <a:rPr lang="en-US" altLang="en-US" sz="1800" b="1">
                <a:latin typeface="Courier New" panose="02070609020205020404" pitchFamily="49" charset="0"/>
              </a:rPr>
              <a:t>mov ax,0FFFFh</a:t>
            </a:r>
          </a:p>
          <a:p>
            <a:pPr eaLnBrk="1" hangingPunct="1">
              <a:lnSpc>
                <a:spcPct val="50000"/>
              </a:lnSpc>
              <a:spcBef>
                <a:spcPct val="50000"/>
              </a:spcBef>
            </a:pPr>
            <a:r>
              <a:rPr lang="en-US" altLang="en-US" sz="1800" b="1">
                <a:latin typeface="Courier New" panose="02070609020205020404" pitchFamily="49" charset="0"/>
              </a:rPr>
              <a:t>inc ax 	; AX = 0, ZF = 1</a:t>
            </a:r>
          </a:p>
          <a:p>
            <a:pPr eaLnBrk="1" hangingPunct="1">
              <a:lnSpc>
                <a:spcPct val="50000"/>
              </a:lnSpc>
              <a:spcBef>
                <a:spcPct val="50000"/>
              </a:spcBef>
            </a:pPr>
            <a:r>
              <a:rPr lang="en-US" altLang="en-US" sz="1800" b="1">
                <a:latin typeface="Courier New" panose="02070609020205020404" pitchFamily="49" charset="0"/>
              </a:rPr>
              <a:t>inc ax 	; AX = 1, ZF = 0</a:t>
            </a:r>
          </a:p>
        </p:txBody>
      </p:sp>
      <p:sp>
        <p:nvSpPr>
          <p:cNvPr id="36870" name="Text Box 4"/>
          <p:cNvSpPr txBox="1">
            <a:spLocks noChangeArrowheads="1"/>
          </p:cNvSpPr>
          <p:nvPr/>
        </p:nvSpPr>
        <p:spPr bwMode="auto">
          <a:xfrm>
            <a:off x="2209800" y="1627521"/>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Zero flag is set when the result of an operation produces zero in the destination operand.  </a:t>
            </a:r>
          </a:p>
        </p:txBody>
      </p:sp>
      <p:sp>
        <p:nvSpPr>
          <p:cNvPr id="36871" name="Text Box 5"/>
          <p:cNvSpPr txBox="1">
            <a:spLocks noChangeArrowheads="1"/>
          </p:cNvSpPr>
          <p:nvPr/>
        </p:nvSpPr>
        <p:spPr bwMode="auto">
          <a:xfrm>
            <a:off x="3200400" y="4827921"/>
            <a:ext cx="4572000" cy="13081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marL="225425" indent="-225425"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Remember...</a:t>
            </a:r>
          </a:p>
          <a:p>
            <a:pPr eaLnBrk="1" hangingPunct="1">
              <a:lnSpc>
                <a:spcPct val="60000"/>
              </a:lnSpc>
              <a:spcBef>
                <a:spcPct val="50000"/>
              </a:spcBef>
              <a:buFontTx/>
              <a:buChar char="•"/>
            </a:pPr>
            <a:r>
              <a:rPr lang="en-US" altLang="en-US"/>
              <a:t>A flag is </a:t>
            </a:r>
            <a:r>
              <a:rPr lang="en-US" altLang="en-US">
                <a:solidFill>
                  <a:schemeClr val="tx2"/>
                </a:solidFill>
              </a:rPr>
              <a:t>set</a:t>
            </a:r>
            <a:r>
              <a:rPr lang="en-US" altLang="en-US"/>
              <a:t> when it equals 1. </a:t>
            </a:r>
          </a:p>
          <a:p>
            <a:pPr eaLnBrk="1" hangingPunct="1">
              <a:lnSpc>
                <a:spcPct val="60000"/>
              </a:lnSpc>
              <a:spcBef>
                <a:spcPct val="50000"/>
              </a:spcBef>
              <a:buFontTx/>
              <a:buChar char="•"/>
            </a:pPr>
            <a:r>
              <a:rPr lang="en-US" altLang="en-US"/>
              <a:t>A flag is </a:t>
            </a:r>
            <a:r>
              <a:rPr lang="en-US" altLang="en-US">
                <a:solidFill>
                  <a:schemeClr val="tx2"/>
                </a:solidFill>
              </a:rPr>
              <a:t>clear</a:t>
            </a:r>
            <a:r>
              <a:rPr lang="en-US" altLang="en-US"/>
              <a:t> when it equals 0.</a:t>
            </a:r>
          </a:p>
        </p:txBody>
      </p:sp>
      <p:sp>
        <p:nvSpPr>
          <p:cNvPr id="2" name="Slide Number Placeholder 1"/>
          <p:cNvSpPr>
            <a:spLocks noGrp="1"/>
          </p:cNvSpPr>
          <p:nvPr>
            <p:ph type="sldNum" sz="quarter" idx="12"/>
          </p:nvPr>
        </p:nvSpPr>
        <p:spPr/>
        <p:txBody>
          <a:bodyPr/>
          <a:lstStyle/>
          <a:p>
            <a:fld id="{F51B45BB-47DD-4FFE-AFAF-9A1D2EB112A2}"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defRPr/>
            </a:pPr>
            <a:r>
              <a:rPr lang="en-US" altLang="en-US"/>
              <a:t>Sign Flag (SF)</a:t>
            </a:r>
          </a:p>
        </p:txBody>
      </p:sp>
      <p:sp>
        <p:nvSpPr>
          <p:cNvPr id="37893" name="Text Box 3"/>
          <p:cNvSpPr txBox="1">
            <a:spLocks noChangeArrowheads="1"/>
          </p:cNvSpPr>
          <p:nvPr/>
        </p:nvSpPr>
        <p:spPr bwMode="auto">
          <a:xfrm>
            <a:off x="2743200" y="2638251"/>
            <a:ext cx="6553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cx,0</a:t>
            </a:r>
          </a:p>
          <a:p>
            <a:pPr eaLnBrk="1" hangingPunct="1">
              <a:lnSpc>
                <a:spcPct val="50000"/>
              </a:lnSpc>
              <a:spcBef>
                <a:spcPct val="50000"/>
              </a:spcBef>
            </a:pPr>
            <a:r>
              <a:rPr lang="en-US" altLang="en-US" sz="1800" b="1">
                <a:latin typeface="Courier New" panose="02070609020205020404" pitchFamily="49" charset="0"/>
              </a:rPr>
              <a:t>sub cx,1 	; CX = -1, SF = 1</a:t>
            </a:r>
          </a:p>
          <a:p>
            <a:pPr eaLnBrk="1" hangingPunct="1">
              <a:lnSpc>
                <a:spcPct val="50000"/>
              </a:lnSpc>
              <a:spcBef>
                <a:spcPct val="50000"/>
              </a:spcBef>
            </a:pPr>
            <a:r>
              <a:rPr lang="en-US" altLang="en-US" sz="1800" b="1">
                <a:latin typeface="Courier New" panose="02070609020205020404" pitchFamily="49" charset="0"/>
              </a:rPr>
              <a:t>add cx,2 	; CX = 1, SF = 0</a:t>
            </a:r>
          </a:p>
        </p:txBody>
      </p:sp>
      <p:sp>
        <p:nvSpPr>
          <p:cNvPr id="37894" name="Text Box 4"/>
          <p:cNvSpPr txBox="1">
            <a:spLocks noChangeArrowheads="1"/>
          </p:cNvSpPr>
          <p:nvPr/>
        </p:nvSpPr>
        <p:spPr bwMode="auto">
          <a:xfrm>
            <a:off x="2209800" y="1647651"/>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Sign flag is set when the destination operand is negative. The flag is clear when the destination is positive. </a:t>
            </a:r>
          </a:p>
        </p:txBody>
      </p:sp>
      <p:sp>
        <p:nvSpPr>
          <p:cNvPr id="37895" name="Rectangle 7"/>
          <p:cNvSpPr>
            <a:spLocks noChangeArrowheads="1"/>
          </p:cNvSpPr>
          <p:nvPr/>
        </p:nvSpPr>
        <p:spPr bwMode="auto">
          <a:xfrm>
            <a:off x="1981201" y="3933651"/>
            <a:ext cx="6543779"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sign flag is a copy of the destination's highest bit:</a:t>
            </a:r>
          </a:p>
        </p:txBody>
      </p:sp>
      <p:sp>
        <p:nvSpPr>
          <p:cNvPr id="37896" name="Text Box 8"/>
          <p:cNvSpPr txBox="1">
            <a:spLocks noChangeArrowheads="1"/>
          </p:cNvSpPr>
          <p:nvPr/>
        </p:nvSpPr>
        <p:spPr bwMode="auto">
          <a:xfrm>
            <a:off x="2743200" y="4619451"/>
            <a:ext cx="6553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al,0</a:t>
            </a:r>
          </a:p>
          <a:p>
            <a:pPr eaLnBrk="1" hangingPunct="1">
              <a:lnSpc>
                <a:spcPct val="50000"/>
              </a:lnSpc>
              <a:spcBef>
                <a:spcPct val="50000"/>
              </a:spcBef>
            </a:pPr>
            <a:r>
              <a:rPr lang="en-US" altLang="en-US" sz="1800" b="1">
                <a:latin typeface="Courier New" panose="02070609020205020404" pitchFamily="49" charset="0"/>
              </a:rPr>
              <a:t>sub al,1            ; AL = 11111111b, SF = 1</a:t>
            </a:r>
          </a:p>
          <a:p>
            <a:pPr eaLnBrk="1" hangingPunct="1">
              <a:lnSpc>
                <a:spcPct val="50000"/>
              </a:lnSpc>
              <a:spcBef>
                <a:spcPct val="50000"/>
              </a:spcBef>
            </a:pPr>
            <a:r>
              <a:rPr lang="en-US" altLang="en-US" sz="1800" b="1">
                <a:latin typeface="Courier New" panose="02070609020205020404" pitchFamily="49" charset="0"/>
              </a:rPr>
              <a:t>add al,2            ; AL = 00000001b, SF = 0</a:t>
            </a:r>
          </a:p>
        </p:txBody>
      </p:sp>
      <p:sp>
        <p:nvSpPr>
          <p:cNvPr id="2" name="Slide Number Placeholder 1"/>
          <p:cNvSpPr>
            <a:spLocks noGrp="1"/>
          </p:cNvSpPr>
          <p:nvPr>
            <p:ph type="sldNum" sz="quarter" idx="12"/>
          </p:nvPr>
        </p:nvSpPr>
        <p:spPr/>
        <p:txBody>
          <a:bodyPr/>
          <a:lstStyle/>
          <a:p>
            <a:fld id="{F51B45BB-47DD-4FFE-AFAF-9A1D2EB112A2}"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defRPr/>
            </a:pPr>
            <a:r>
              <a:rPr lang="en-US" altLang="en-US"/>
              <a:t>OFFSET Operator</a:t>
            </a:r>
          </a:p>
        </p:txBody>
      </p:sp>
      <p:sp>
        <p:nvSpPr>
          <p:cNvPr id="3078" name="Rectangle 3"/>
          <p:cNvSpPr>
            <a:spLocks noGrp="1" noChangeArrowheads="1"/>
          </p:cNvSpPr>
          <p:nvPr>
            <p:ph type="body" idx="1"/>
          </p:nvPr>
        </p:nvSpPr>
        <p:spPr>
          <a:xfrm>
            <a:off x="2286000" y="1384542"/>
            <a:ext cx="7696200" cy="1676400"/>
          </a:xfrm>
        </p:spPr>
        <p:txBody>
          <a:bodyPr>
            <a:normAutofit lnSpcReduction="10000"/>
          </a:bodyPr>
          <a:lstStyle/>
          <a:p>
            <a:pPr eaLnBrk="1" hangingPunct="1">
              <a:lnSpc>
                <a:spcPct val="110000"/>
              </a:lnSpc>
            </a:pPr>
            <a:r>
              <a:rPr lang="en-US" altLang="en-US" sz="2000" dirty="0"/>
              <a:t>OFFSET returns </a:t>
            </a:r>
            <a:r>
              <a:rPr lang="en-US" altLang="en-US" sz="2200" dirty="0"/>
              <a:t>the distance in bytes, of a label from the beginning of its enclosing segment</a:t>
            </a:r>
          </a:p>
          <a:p>
            <a:pPr lvl="1" eaLnBrk="1" hangingPunct="1">
              <a:lnSpc>
                <a:spcPct val="110000"/>
              </a:lnSpc>
            </a:pPr>
            <a:r>
              <a:rPr lang="en-US" altLang="en-US" dirty="0"/>
              <a:t>Protected mode: 32 bits</a:t>
            </a:r>
          </a:p>
          <a:p>
            <a:pPr lvl="1" eaLnBrk="1" hangingPunct="1">
              <a:lnSpc>
                <a:spcPct val="110000"/>
              </a:lnSpc>
            </a:pPr>
            <a:r>
              <a:rPr lang="en-US" altLang="en-US" dirty="0"/>
              <a:t>Real mode: 16 bits</a:t>
            </a:r>
          </a:p>
        </p:txBody>
      </p:sp>
      <p:graphicFrame>
        <p:nvGraphicFramePr>
          <p:cNvPr id="3074" name="Object 4"/>
          <p:cNvGraphicFramePr>
            <a:graphicFrameLocks noChangeAspect="1"/>
          </p:cNvGraphicFramePr>
          <p:nvPr/>
        </p:nvGraphicFramePr>
        <p:xfrm>
          <a:off x="3810000" y="3289542"/>
          <a:ext cx="4800600" cy="1447800"/>
        </p:xfrm>
        <a:graphic>
          <a:graphicData uri="http://schemas.openxmlformats.org/presentationml/2006/ole">
            <mc:AlternateContent xmlns:mc="http://schemas.openxmlformats.org/markup-compatibility/2006">
              <mc:Choice xmlns:v="urn:schemas-microsoft-com:vml" Requires="v">
                <p:oleObj name="VISIO" r:id="rId2" imgW="2901950" imgH="772795" progId="Visio.Drawing.6">
                  <p:embed/>
                </p:oleObj>
              </mc:Choice>
              <mc:Fallback>
                <p:oleObj name="VISIO" r:id="rId2" imgW="2901950" imgH="772795"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4688" t="-5861" r="-3125" b="-5495"/>
                      <a:stretch>
                        <a:fillRect/>
                      </a:stretch>
                    </p:blipFill>
                    <p:spPr bwMode="auto">
                      <a:xfrm>
                        <a:off x="3810000" y="3289542"/>
                        <a:ext cx="4800600" cy="14478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65" name="Text Box 5"/>
          <p:cNvSpPr txBox="1">
            <a:spLocks noChangeArrowheads="1"/>
          </p:cNvSpPr>
          <p:nvPr/>
        </p:nvSpPr>
        <p:spPr bwMode="auto">
          <a:xfrm>
            <a:off x="2438400" y="5118343"/>
            <a:ext cx="7239000" cy="923925"/>
          </a:xfrm>
          <a:prstGeom prst="rect">
            <a:avLst/>
          </a:prstGeom>
          <a:noFill/>
          <a:ln w="9525">
            <a:solidFill>
              <a:srgbClr val="B2B2B2"/>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Protected-mode programs we write use only a single segment (</a:t>
            </a:r>
            <a:r>
              <a:rPr lang="en-US" altLang="en-US">
                <a:solidFill>
                  <a:schemeClr val="tx2"/>
                </a:solidFill>
              </a:rPr>
              <a:t>flat memory model</a:t>
            </a:r>
            <a:r>
              <a:rPr lang="en-US" altLang="en-US"/>
              <a:t>).</a:t>
            </a:r>
          </a:p>
        </p:txBody>
      </p:sp>
      <p:sp>
        <p:nvSpPr>
          <p:cNvPr id="2" name="Slide Number Placeholder 1"/>
          <p:cNvSpPr>
            <a:spLocks noGrp="1"/>
          </p:cNvSpPr>
          <p:nvPr>
            <p:ph type="sldNum" sz="quarter" idx="12"/>
          </p:nvPr>
        </p:nvSpPr>
        <p:spPr/>
        <p:txBody>
          <a:bodyPr/>
          <a:lstStyle/>
          <a:p>
            <a:fld id="{F51B45BB-47DD-4FFE-AFAF-9A1D2EB112A2}" type="slidenum">
              <a:rPr lang="en-US" smtClean="0"/>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765"/>
                                        </p:tgtEl>
                                        <p:attrNameLst>
                                          <p:attrName>style.visibility</p:attrName>
                                        </p:attrNameLst>
                                      </p:cBhvr>
                                      <p:to>
                                        <p:strVal val="visible"/>
                                      </p:to>
                                    </p:set>
                                    <p:anim calcmode="lin" valueType="num">
                                      <p:cBhvr additive="base">
                                        <p:cTn id="7" dur="500" fill="hold"/>
                                        <p:tgtEl>
                                          <p:spTgt spid="117765"/>
                                        </p:tgtEl>
                                        <p:attrNameLst>
                                          <p:attrName>ppt_x</p:attrName>
                                        </p:attrNameLst>
                                      </p:cBhvr>
                                      <p:tavLst>
                                        <p:tav tm="0">
                                          <p:val>
                                            <p:strVal val="0-#ppt_w/2"/>
                                          </p:val>
                                        </p:tav>
                                        <p:tav tm="100000">
                                          <p:val>
                                            <p:strVal val="#ppt_x"/>
                                          </p:val>
                                        </p:tav>
                                      </p:tavLst>
                                    </p:anim>
                                    <p:anim calcmode="lin" valueType="num">
                                      <p:cBhvr additive="base">
                                        <p:cTn id="8" dur="500" fill="hold"/>
                                        <p:tgtEl>
                                          <p:spTgt spid="1177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5"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en-US" altLang="en-US"/>
              <a:t>OFFSET Examples</a:t>
            </a:r>
          </a:p>
        </p:txBody>
      </p:sp>
      <p:sp>
        <p:nvSpPr>
          <p:cNvPr id="48133" name="Text Box 3"/>
          <p:cNvSpPr txBox="1">
            <a:spLocks noChangeArrowheads="1"/>
          </p:cNvSpPr>
          <p:nvPr/>
        </p:nvSpPr>
        <p:spPr bwMode="auto">
          <a:xfrm>
            <a:off x="2895600" y="2314758"/>
            <a:ext cx="6477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bVal BYTE ?</a:t>
            </a:r>
          </a:p>
          <a:p>
            <a:pPr eaLnBrk="1" hangingPunct="1">
              <a:lnSpc>
                <a:spcPct val="50000"/>
              </a:lnSpc>
              <a:spcBef>
                <a:spcPct val="50000"/>
              </a:spcBef>
            </a:pPr>
            <a:r>
              <a:rPr lang="en-US" altLang="en-US" sz="1800" b="1">
                <a:latin typeface="Courier New" panose="02070609020205020404" pitchFamily="49" charset="0"/>
              </a:rPr>
              <a:t>wVal WORD ?</a:t>
            </a:r>
          </a:p>
          <a:p>
            <a:pPr eaLnBrk="1" hangingPunct="1">
              <a:lnSpc>
                <a:spcPct val="50000"/>
              </a:lnSpc>
              <a:spcBef>
                <a:spcPct val="50000"/>
              </a:spcBef>
            </a:pPr>
            <a:r>
              <a:rPr lang="en-US" altLang="en-US" sz="1800" b="1">
                <a:latin typeface="Courier New" panose="02070609020205020404" pitchFamily="49" charset="0"/>
              </a:rPr>
              <a:t>dVal DWORD ?</a:t>
            </a:r>
          </a:p>
          <a:p>
            <a:pPr eaLnBrk="1" hangingPunct="1">
              <a:lnSpc>
                <a:spcPct val="50000"/>
              </a:lnSpc>
              <a:spcBef>
                <a:spcPct val="50000"/>
              </a:spcBef>
            </a:pPr>
            <a:r>
              <a:rPr lang="en-US" altLang="en-US" sz="1800" b="1">
                <a:latin typeface="Courier New" panose="02070609020205020404" pitchFamily="49" charset="0"/>
              </a:rPr>
              <a:t>dVal2 DWORD ?</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esi,OFFSET bVal 	; ESI = 00404000</a:t>
            </a:r>
          </a:p>
          <a:p>
            <a:pPr eaLnBrk="1" hangingPunct="1">
              <a:lnSpc>
                <a:spcPct val="50000"/>
              </a:lnSpc>
              <a:spcBef>
                <a:spcPct val="50000"/>
              </a:spcBef>
            </a:pPr>
            <a:r>
              <a:rPr lang="en-US" altLang="en-US" sz="1800" b="1">
                <a:latin typeface="Courier New" panose="02070609020205020404" pitchFamily="49" charset="0"/>
              </a:rPr>
              <a:t>mov esi,OFFSET wVal 	; ESI = 00404001</a:t>
            </a:r>
          </a:p>
          <a:p>
            <a:pPr eaLnBrk="1" hangingPunct="1">
              <a:lnSpc>
                <a:spcPct val="50000"/>
              </a:lnSpc>
              <a:spcBef>
                <a:spcPct val="50000"/>
              </a:spcBef>
            </a:pPr>
            <a:r>
              <a:rPr lang="en-US" altLang="en-US" sz="1800" b="1">
                <a:latin typeface="Courier New" panose="02070609020205020404" pitchFamily="49" charset="0"/>
              </a:rPr>
              <a:t>mov esi,OFFSET dVal 	; ESI = 00404003</a:t>
            </a:r>
          </a:p>
          <a:p>
            <a:pPr eaLnBrk="1" hangingPunct="1">
              <a:lnSpc>
                <a:spcPct val="50000"/>
              </a:lnSpc>
              <a:spcBef>
                <a:spcPct val="50000"/>
              </a:spcBef>
            </a:pPr>
            <a:r>
              <a:rPr lang="en-US" altLang="en-US" sz="1800" b="1">
                <a:latin typeface="Courier New" panose="02070609020205020404" pitchFamily="49" charset="0"/>
              </a:rPr>
              <a:t>mov esi,OFFSET dVal2	; ESI = 00404007</a:t>
            </a:r>
          </a:p>
        </p:txBody>
      </p:sp>
      <p:sp>
        <p:nvSpPr>
          <p:cNvPr id="48134" name="Text Box 4"/>
          <p:cNvSpPr txBox="1">
            <a:spLocks noChangeArrowheads="1"/>
          </p:cNvSpPr>
          <p:nvPr/>
        </p:nvSpPr>
        <p:spPr bwMode="auto">
          <a:xfrm>
            <a:off x="2209800" y="1476558"/>
            <a:ext cx="76962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Let's assume that the data segment begins at 00404000h:</a:t>
            </a:r>
          </a:p>
        </p:txBody>
      </p:sp>
      <p:sp>
        <p:nvSpPr>
          <p:cNvPr id="2" name="Slide Number Placeholder 1"/>
          <p:cNvSpPr>
            <a:spLocks noGrp="1"/>
          </p:cNvSpPr>
          <p:nvPr>
            <p:ph type="sldNum" sz="quarter" idx="12"/>
          </p:nvPr>
        </p:nvSpPr>
        <p:spPr/>
        <p:txBody>
          <a:bodyPr/>
          <a:lstStyle/>
          <a:p>
            <a:fld id="{F51B45BB-47DD-4FFE-AFAF-9A1D2EB112A2}"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defRPr/>
            </a:pPr>
            <a:r>
              <a:rPr lang="en-US" altLang="en-US"/>
              <a:t>Relating to C/C++</a:t>
            </a:r>
          </a:p>
        </p:txBody>
      </p:sp>
      <p:sp>
        <p:nvSpPr>
          <p:cNvPr id="49157" name="Text Box 3"/>
          <p:cNvSpPr txBox="1">
            <a:spLocks noChangeArrowheads="1"/>
          </p:cNvSpPr>
          <p:nvPr/>
        </p:nvSpPr>
        <p:spPr bwMode="auto">
          <a:xfrm>
            <a:off x="2362200" y="3144333"/>
            <a:ext cx="2819400" cy="1295400"/>
          </a:xfrm>
          <a:prstGeom prst="rect">
            <a:avLst/>
          </a:prstGeom>
          <a:noFill/>
          <a:ln w="9525">
            <a:solidFill>
              <a:srgbClr val="B2B2B2"/>
            </a:solidFill>
            <a:miter lim="800000"/>
          </a:ln>
          <a:extLst>
            <a:ext uri="{909E8E84-426E-40DD-AFC4-6F175D3DCCD1}">
              <a14:hiddenFill xmlns:a14="http://schemas.microsoft.com/office/drawing/2010/main">
                <a:solidFill>
                  <a:srgbClr val="FFFFFF"/>
                </a:solidFill>
              </a14:hiddenFill>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 C++ version:</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char array[1000];</a:t>
            </a:r>
          </a:p>
          <a:p>
            <a:pPr eaLnBrk="1" hangingPunct="1">
              <a:lnSpc>
                <a:spcPct val="50000"/>
              </a:lnSpc>
              <a:spcBef>
                <a:spcPct val="50000"/>
              </a:spcBef>
            </a:pPr>
            <a:r>
              <a:rPr lang="en-US" altLang="en-US" sz="1800" b="1">
                <a:latin typeface="Courier New" panose="02070609020205020404" pitchFamily="49" charset="0"/>
              </a:rPr>
              <a:t>char * p = array;</a:t>
            </a:r>
          </a:p>
        </p:txBody>
      </p:sp>
      <p:sp>
        <p:nvSpPr>
          <p:cNvPr id="49158" name="Text Box 4"/>
          <p:cNvSpPr txBox="1">
            <a:spLocks noChangeArrowheads="1"/>
          </p:cNvSpPr>
          <p:nvPr/>
        </p:nvSpPr>
        <p:spPr bwMode="auto">
          <a:xfrm>
            <a:off x="2209800" y="1848933"/>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value returned by OFFSET is a pointer. Compare the following code written for both C++ and assembly language:</a:t>
            </a:r>
          </a:p>
        </p:txBody>
      </p:sp>
      <p:sp>
        <p:nvSpPr>
          <p:cNvPr id="49159" name="Text Box 5"/>
          <p:cNvSpPr txBox="1">
            <a:spLocks noChangeArrowheads="1"/>
          </p:cNvSpPr>
          <p:nvPr/>
        </p:nvSpPr>
        <p:spPr bwMode="auto">
          <a:xfrm>
            <a:off x="5715000" y="3144333"/>
            <a:ext cx="4114800" cy="1905000"/>
          </a:xfrm>
          <a:prstGeom prst="rect">
            <a:avLst/>
          </a:prstGeom>
          <a:noFill/>
          <a:ln w="9525">
            <a:solidFill>
              <a:srgbClr val="B2B2B2"/>
            </a:solidFill>
            <a:miter lim="800000"/>
          </a:ln>
          <a:extLst>
            <a:ext uri="{909E8E84-426E-40DD-AFC4-6F175D3DCCD1}">
              <a14:hiddenFill xmlns:a14="http://schemas.microsoft.com/office/drawing/2010/main">
                <a:solidFill>
                  <a:srgbClr val="FFFFFF"/>
                </a:solidFill>
              </a14:hiddenFill>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 Assembly language:</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array BYTE 1000 DUP(?)</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esi,OFFSET array</a:t>
            </a:r>
          </a:p>
        </p:txBody>
      </p:sp>
      <p:sp>
        <p:nvSpPr>
          <p:cNvPr id="2" name="Slide Number Placeholder 1"/>
          <p:cNvSpPr>
            <a:spLocks noGrp="1"/>
          </p:cNvSpPr>
          <p:nvPr>
            <p:ph type="sldNum" sz="quarter" idx="12"/>
          </p:nvPr>
        </p:nvSpPr>
        <p:spPr/>
        <p:txBody>
          <a:bodyPr/>
          <a:lstStyle/>
          <a:p>
            <a:fld id="{F51B45BB-47DD-4FFE-AFAF-9A1D2EB112A2}"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en-US" altLang="en-US"/>
              <a:t>TYPE Operator</a:t>
            </a:r>
          </a:p>
        </p:txBody>
      </p:sp>
      <p:sp>
        <p:nvSpPr>
          <p:cNvPr id="53253" name="Rectangle 3"/>
          <p:cNvSpPr>
            <a:spLocks noGrp="1" noChangeArrowheads="1"/>
          </p:cNvSpPr>
          <p:nvPr>
            <p:ph type="body" idx="1"/>
          </p:nvPr>
        </p:nvSpPr>
        <p:spPr>
          <a:xfrm>
            <a:off x="2209800" y="1591578"/>
            <a:ext cx="7772400" cy="838200"/>
          </a:xfrm>
        </p:spPr>
        <p:txBody>
          <a:bodyPr>
            <a:normAutofit lnSpcReduction="10000"/>
          </a:bodyPr>
          <a:lstStyle/>
          <a:p>
            <a:pPr marL="0" indent="0">
              <a:buNone/>
            </a:pPr>
            <a:r>
              <a:rPr lang="en-US" altLang="en-US" dirty="0"/>
              <a:t>The TYPE operator returns the size, in bytes, of a single element of a data declaration.</a:t>
            </a:r>
          </a:p>
        </p:txBody>
      </p:sp>
      <p:sp>
        <p:nvSpPr>
          <p:cNvPr id="53254" name="Text Box 5"/>
          <p:cNvSpPr txBox="1">
            <a:spLocks noChangeArrowheads="1"/>
          </p:cNvSpPr>
          <p:nvPr/>
        </p:nvSpPr>
        <p:spPr bwMode="auto">
          <a:xfrm>
            <a:off x="3657600" y="2734578"/>
            <a:ext cx="4953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var1 BYTE ?</a:t>
            </a:r>
          </a:p>
          <a:p>
            <a:pPr eaLnBrk="1" hangingPunct="1">
              <a:lnSpc>
                <a:spcPct val="50000"/>
              </a:lnSpc>
              <a:spcBef>
                <a:spcPct val="50000"/>
              </a:spcBef>
            </a:pPr>
            <a:r>
              <a:rPr lang="en-US" altLang="en-US" sz="1800" b="1">
                <a:latin typeface="Courier New" panose="02070609020205020404" pitchFamily="49" charset="0"/>
              </a:rPr>
              <a:t>var2 WORD ?</a:t>
            </a:r>
          </a:p>
          <a:p>
            <a:pPr eaLnBrk="1" hangingPunct="1">
              <a:lnSpc>
                <a:spcPct val="50000"/>
              </a:lnSpc>
              <a:spcBef>
                <a:spcPct val="50000"/>
              </a:spcBef>
            </a:pPr>
            <a:r>
              <a:rPr lang="en-US" altLang="en-US" sz="1800" b="1">
                <a:latin typeface="Courier New" panose="02070609020205020404" pitchFamily="49" charset="0"/>
              </a:rPr>
              <a:t>var3 DWORD ?</a:t>
            </a:r>
          </a:p>
          <a:p>
            <a:pPr eaLnBrk="1" hangingPunct="1">
              <a:lnSpc>
                <a:spcPct val="50000"/>
              </a:lnSpc>
              <a:spcBef>
                <a:spcPct val="50000"/>
              </a:spcBef>
            </a:pPr>
            <a:r>
              <a:rPr lang="en-US" altLang="en-US" sz="1800" b="1">
                <a:latin typeface="Courier New" panose="02070609020205020404" pitchFamily="49" charset="0"/>
              </a:rPr>
              <a:t>var4 QWORD ?</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eax,TYPE var1	; 1</a:t>
            </a:r>
          </a:p>
          <a:p>
            <a:pPr eaLnBrk="1" hangingPunct="1">
              <a:lnSpc>
                <a:spcPct val="50000"/>
              </a:lnSpc>
              <a:spcBef>
                <a:spcPct val="50000"/>
              </a:spcBef>
            </a:pPr>
            <a:r>
              <a:rPr lang="en-US" altLang="en-US" sz="1800" b="1">
                <a:latin typeface="Courier New" panose="02070609020205020404" pitchFamily="49" charset="0"/>
              </a:rPr>
              <a:t>mov eax,TYPE var2	; 2</a:t>
            </a:r>
          </a:p>
          <a:p>
            <a:pPr eaLnBrk="1" hangingPunct="1">
              <a:lnSpc>
                <a:spcPct val="50000"/>
              </a:lnSpc>
              <a:spcBef>
                <a:spcPct val="50000"/>
              </a:spcBef>
            </a:pPr>
            <a:r>
              <a:rPr lang="en-US" altLang="en-US" sz="1800" b="1">
                <a:latin typeface="Courier New" panose="02070609020205020404" pitchFamily="49" charset="0"/>
              </a:rPr>
              <a:t>mov eax,TYPE var3	; 4</a:t>
            </a:r>
          </a:p>
          <a:p>
            <a:pPr eaLnBrk="1" hangingPunct="1">
              <a:lnSpc>
                <a:spcPct val="50000"/>
              </a:lnSpc>
              <a:spcBef>
                <a:spcPct val="50000"/>
              </a:spcBef>
            </a:pPr>
            <a:r>
              <a:rPr lang="en-US" altLang="en-US" sz="1800" b="1">
                <a:latin typeface="Courier New" panose="02070609020205020404" pitchFamily="49" charset="0"/>
              </a:rPr>
              <a:t>mov eax,TYPE var4	; 8</a:t>
            </a:r>
          </a:p>
        </p:txBody>
      </p:sp>
      <p:sp>
        <p:nvSpPr>
          <p:cNvPr id="2" name="Slide Number Placeholder 1"/>
          <p:cNvSpPr>
            <a:spLocks noGrp="1"/>
          </p:cNvSpPr>
          <p:nvPr>
            <p:ph type="sldNum" sz="quarter" idx="12"/>
          </p:nvPr>
        </p:nvSpPr>
        <p:spPr/>
        <p:txBody>
          <a:bodyPr/>
          <a:lstStyle/>
          <a:p>
            <a:fld id="{F51B45BB-47DD-4FFE-AFAF-9A1D2EB112A2}"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defRPr/>
            </a:pPr>
            <a:r>
              <a:rPr lang="en-US" altLang="en-US"/>
              <a:t>LENGTHOF Operator</a:t>
            </a:r>
          </a:p>
        </p:txBody>
      </p:sp>
      <p:sp>
        <p:nvSpPr>
          <p:cNvPr id="54277" name="Text Box 3"/>
          <p:cNvSpPr txBox="1">
            <a:spLocks noChangeArrowheads="1"/>
          </p:cNvSpPr>
          <p:nvPr/>
        </p:nvSpPr>
        <p:spPr bwMode="auto">
          <a:xfrm>
            <a:off x="2514600" y="2866851"/>
            <a:ext cx="6934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5205095" algn="l"/>
              </a:tabLst>
              <a:defRPr sz="2100">
                <a:solidFill>
                  <a:schemeClr val="tx1"/>
                </a:solidFill>
                <a:latin typeface="Arial" panose="020B0704020202020204" pitchFamily="34" charset="0"/>
              </a:defRPr>
            </a:lvl1pPr>
            <a:lvl2pPr marL="742950" indent="-285750" eaLnBrk="0" hangingPunct="0">
              <a:tabLst>
                <a:tab pos="5205095" algn="l"/>
              </a:tabLst>
              <a:defRPr sz="2100">
                <a:solidFill>
                  <a:schemeClr val="tx1"/>
                </a:solidFill>
                <a:latin typeface="Arial" panose="020B0704020202020204" pitchFamily="34" charset="0"/>
              </a:defRPr>
            </a:lvl2pPr>
            <a:lvl3pPr marL="1143000" indent="-228600" eaLnBrk="0" hangingPunct="0">
              <a:tabLst>
                <a:tab pos="5205095" algn="l"/>
              </a:tabLst>
              <a:defRPr sz="2100">
                <a:solidFill>
                  <a:schemeClr val="tx1"/>
                </a:solidFill>
                <a:latin typeface="Arial" panose="020B0704020202020204" pitchFamily="34" charset="0"/>
              </a:defRPr>
            </a:lvl3pPr>
            <a:lvl4pPr marL="1600200" indent="-228600" eaLnBrk="0" hangingPunct="0">
              <a:tabLst>
                <a:tab pos="5205095" algn="l"/>
              </a:tabLst>
              <a:defRPr sz="2100">
                <a:solidFill>
                  <a:schemeClr val="tx1"/>
                </a:solidFill>
                <a:latin typeface="Arial" panose="020B0704020202020204" pitchFamily="34" charset="0"/>
              </a:defRPr>
            </a:lvl4pPr>
            <a:lvl5pPr marL="2057400" indent="-228600" eaLnBrk="0" hangingPunct="0">
              <a:tabLst>
                <a:tab pos="5205095"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5205095"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5205095"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5205095"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5205095"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	</a:t>
            </a:r>
            <a:r>
              <a:rPr lang="en-US" altLang="en-US" sz="1800">
                <a:solidFill>
                  <a:schemeClr val="tx2"/>
                </a:solidFill>
              </a:rPr>
              <a:t>LENGTHOF</a:t>
            </a:r>
          </a:p>
          <a:p>
            <a:pPr eaLnBrk="1" hangingPunct="1">
              <a:lnSpc>
                <a:spcPct val="50000"/>
              </a:lnSpc>
              <a:spcBef>
                <a:spcPct val="50000"/>
              </a:spcBef>
            </a:pPr>
            <a:r>
              <a:rPr lang="en-US" altLang="en-US" sz="1800" b="1">
                <a:latin typeface="Courier New" panose="02070609020205020404" pitchFamily="49" charset="0"/>
              </a:rPr>
              <a:t>byte1  BYTE 10,20,30	; 3</a:t>
            </a:r>
          </a:p>
          <a:p>
            <a:pPr eaLnBrk="1" hangingPunct="1">
              <a:lnSpc>
                <a:spcPct val="50000"/>
              </a:lnSpc>
              <a:spcBef>
                <a:spcPct val="50000"/>
              </a:spcBef>
            </a:pPr>
            <a:r>
              <a:rPr lang="en-US" altLang="en-US" sz="1800" b="1">
                <a:latin typeface="Courier New" panose="02070609020205020404" pitchFamily="49" charset="0"/>
              </a:rPr>
              <a:t>array1 WORD 30 DUP(?),0,0	; 32</a:t>
            </a:r>
          </a:p>
          <a:p>
            <a:pPr eaLnBrk="1" hangingPunct="1">
              <a:lnSpc>
                <a:spcPct val="50000"/>
              </a:lnSpc>
              <a:spcBef>
                <a:spcPct val="50000"/>
              </a:spcBef>
            </a:pPr>
            <a:r>
              <a:rPr lang="en-US" altLang="en-US" sz="1800" b="1">
                <a:latin typeface="Courier New" panose="02070609020205020404" pitchFamily="49" charset="0"/>
              </a:rPr>
              <a:t>array2 WORD 5 DUP(3 DUP(?))	; 15</a:t>
            </a:r>
          </a:p>
          <a:p>
            <a:pPr eaLnBrk="1" hangingPunct="1">
              <a:lnSpc>
                <a:spcPct val="50000"/>
              </a:lnSpc>
              <a:spcBef>
                <a:spcPct val="50000"/>
              </a:spcBef>
            </a:pPr>
            <a:r>
              <a:rPr lang="en-US" altLang="en-US" sz="1800" b="1">
                <a:latin typeface="Courier New" panose="02070609020205020404" pitchFamily="49" charset="0"/>
              </a:rPr>
              <a:t>array3 DWORD 1,2,3,4	; 4</a:t>
            </a:r>
          </a:p>
          <a:p>
            <a:pPr eaLnBrk="1" hangingPunct="1">
              <a:lnSpc>
                <a:spcPct val="50000"/>
              </a:lnSpc>
              <a:spcBef>
                <a:spcPct val="50000"/>
              </a:spcBef>
            </a:pPr>
            <a:r>
              <a:rPr lang="en-US" altLang="en-US" sz="1800" b="1">
                <a:latin typeface="Courier New" panose="02070609020205020404" pitchFamily="49" charset="0"/>
              </a:rPr>
              <a:t>digitStr BYTE "12345678",0	; 9</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ecx,LENGTHOF array1	; 32</a:t>
            </a:r>
          </a:p>
        </p:txBody>
      </p:sp>
      <p:sp>
        <p:nvSpPr>
          <p:cNvPr id="54278" name="Text Box 4"/>
          <p:cNvSpPr txBox="1">
            <a:spLocks noChangeArrowheads="1"/>
          </p:cNvSpPr>
          <p:nvPr/>
        </p:nvSpPr>
        <p:spPr bwMode="auto">
          <a:xfrm>
            <a:off x="2286000" y="1647651"/>
            <a:ext cx="7162800"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2500"/>
              <a:t>The LENGTHOF operator counts the number of elements in a single data declaration.</a:t>
            </a:r>
          </a:p>
        </p:txBody>
      </p:sp>
      <p:sp>
        <p:nvSpPr>
          <p:cNvPr id="2" name="Slide Number Placeholder 1"/>
          <p:cNvSpPr>
            <a:spLocks noGrp="1"/>
          </p:cNvSpPr>
          <p:nvPr>
            <p:ph type="sldNum" sz="quarter" idx="12"/>
          </p:nvPr>
        </p:nvSpPr>
        <p:spPr/>
        <p:txBody>
          <a:bodyPr/>
          <a:lstStyle/>
          <a:p>
            <a:fld id="{F51B45BB-47DD-4FFE-AFAF-9A1D2EB112A2}"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defRPr/>
            </a:pPr>
            <a:r>
              <a:rPr lang="en-US" altLang="en-US"/>
              <a:t>SIZEOF Operator</a:t>
            </a:r>
          </a:p>
        </p:txBody>
      </p:sp>
      <p:sp>
        <p:nvSpPr>
          <p:cNvPr id="55301" name="Text Box 3"/>
          <p:cNvSpPr txBox="1">
            <a:spLocks noChangeArrowheads="1"/>
          </p:cNvSpPr>
          <p:nvPr/>
        </p:nvSpPr>
        <p:spPr bwMode="auto">
          <a:xfrm>
            <a:off x="2514600" y="2803590"/>
            <a:ext cx="6934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228600"/>
          <a:lstStyle>
            <a:lvl1pPr eaLnBrk="0" hangingPunct="0">
              <a:tabLst>
                <a:tab pos="457200" algn="l"/>
                <a:tab pos="5146675" algn="l"/>
              </a:tabLst>
              <a:defRPr sz="2100">
                <a:solidFill>
                  <a:schemeClr val="tx1"/>
                </a:solidFill>
                <a:latin typeface="Arial" panose="020B0704020202020204" pitchFamily="34" charset="0"/>
              </a:defRPr>
            </a:lvl1pPr>
            <a:lvl2pPr marL="742950" indent="-285750" eaLnBrk="0" hangingPunct="0">
              <a:tabLst>
                <a:tab pos="457200" algn="l"/>
                <a:tab pos="5146675" algn="l"/>
              </a:tabLst>
              <a:defRPr sz="2100">
                <a:solidFill>
                  <a:schemeClr val="tx1"/>
                </a:solidFill>
                <a:latin typeface="Arial" panose="020B0704020202020204" pitchFamily="34" charset="0"/>
              </a:defRPr>
            </a:lvl2pPr>
            <a:lvl3pPr marL="1143000" indent="-228600" eaLnBrk="0" hangingPunct="0">
              <a:tabLst>
                <a:tab pos="457200" algn="l"/>
                <a:tab pos="5146675" algn="l"/>
              </a:tabLst>
              <a:defRPr sz="2100">
                <a:solidFill>
                  <a:schemeClr val="tx1"/>
                </a:solidFill>
                <a:latin typeface="Arial" panose="020B0704020202020204" pitchFamily="34" charset="0"/>
              </a:defRPr>
            </a:lvl3pPr>
            <a:lvl4pPr marL="1600200" indent="-228600" eaLnBrk="0" hangingPunct="0">
              <a:tabLst>
                <a:tab pos="457200" algn="l"/>
                <a:tab pos="5146675" algn="l"/>
              </a:tabLst>
              <a:defRPr sz="2100">
                <a:solidFill>
                  <a:schemeClr val="tx1"/>
                </a:solidFill>
                <a:latin typeface="Arial" panose="020B0704020202020204" pitchFamily="34" charset="0"/>
              </a:defRPr>
            </a:lvl4pPr>
            <a:lvl5pPr marL="2057400" indent="-228600" eaLnBrk="0" hangingPunct="0">
              <a:tabLst>
                <a:tab pos="457200" algn="l"/>
                <a:tab pos="5146675"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5146675"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5146675"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5146675"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5146675"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	</a:t>
            </a:r>
            <a:r>
              <a:rPr lang="en-US" altLang="en-US" sz="1800">
                <a:solidFill>
                  <a:schemeClr val="tx2"/>
                </a:solidFill>
              </a:rPr>
              <a:t>SIZEOF</a:t>
            </a:r>
          </a:p>
          <a:p>
            <a:pPr eaLnBrk="1" hangingPunct="1">
              <a:lnSpc>
                <a:spcPct val="50000"/>
              </a:lnSpc>
              <a:spcBef>
                <a:spcPct val="50000"/>
              </a:spcBef>
            </a:pPr>
            <a:r>
              <a:rPr lang="en-US" altLang="en-US" sz="1800" b="1">
                <a:latin typeface="Courier New" panose="02070609020205020404" pitchFamily="49" charset="0"/>
              </a:rPr>
              <a:t>byte1  BYTE 10,20,30	; 3</a:t>
            </a:r>
          </a:p>
          <a:p>
            <a:pPr eaLnBrk="1" hangingPunct="1">
              <a:lnSpc>
                <a:spcPct val="50000"/>
              </a:lnSpc>
              <a:spcBef>
                <a:spcPct val="50000"/>
              </a:spcBef>
            </a:pPr>
            <a:r>
              <a:rPr lang="en-US" altLang="en-US" sz="1800" b="1">
                <a:latin typeface="Courier New" panose="02070609020205020404" pitchFamily="49" charset="0"/>
              </a:rPr>
              <a:t>array1 WORD 30 DUP(?),0,0	; 64</a:t>
            </a:r>
          </a:p>
          <a:p>
            <a:pPr eaLnBrk="1" hangingPunct="1">
              <a:lnSpc>
                <a:spcPct val="50000"/>
              </a:lnSpc>
              <a:spcBef>
                <a:spcPct val="50000"/>
              </a:spcBef>
            </a:pPr>
            <a:r>
              <a:rPr lang="en-US" altLang="en-US" sz="1800" b="1">
                <a:latin typeface="Courier New" panose="02070609020205020404" pitchFamily="49" charset="0"/>
              </a:rPr>
              <a:t>array2 WORD 5 DUP(3 DUP(?))	; 30</a:t>
            </a:r>
          </a:p>
          <a:p>
            <a:pPr eaLnBrk="1" hangingPunct="1">
              <a:lnSpc>
                <a:spcPct val="50000"/>
              </a:lnSpc>
              <a:spcBef>
                <a:spcPct val="50000"/>
              </a:spcBef>
            </a:pPr>
            <a:r>
              <a:rPr lang="en-US" altLang="en-US" sz="1800" b="1">
                <a:latin typeface="Courier New" panose="02070609020205020404" pitchFamily="49" charset="0"/>
              </a:rPr>
              <a:t>array3 DWORD 1,2,3,4	; 16</a:t>
            </a:r>
          </a:p>
          <a:p>
            <a:pPr eaLnBrk="1" hangingPunct="1">
              <a:lnSpc>
                <a:spcPct val="50000"/>
              </a:lnSpc>
              <a:spcBef>
                <a:spcPct val="50000"/>
              </a:spcBef>
            </a:pPr>
            <a:r>
              <a:rPr lang="en-US" altLang="en-US" sz="1800" b="1">
                <a:latin typeface="Courier New" panose="02070609020205020404" pitchFamily="49" charset="0"/>
              </a:rPr>
              <a:t>digitStr BYTE "12345678",0	; 9</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ecx,SIZEOF array1	; 64</a:t>
            </a:r>
          </a:p>
        </p:txBody>
      </p:sp>
      <p:sp>
        <p:nvSpPr>
          <p:cNvPr id="55302" name="Text Box 4"/>
          <p:cNvSpPr txBox="1">
            <a:spLocks noChangeArrowheads="1"/>
          </p:cNvSpPr>
          <p:nvPr/>
        </p:nvSpPr>
        <p:spPr bwMode="auto">
          <a:xfrm>
            <a:off x="2286000" y="1660590"/>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SIZEOF operator returns a value that is equivalent to multiplying LENGTHOF by TYPE.</a:t>
            </a:r>
          </a:p>
        </p:txBody>
      </p:sp>
      <p:sp>
        <p:nvSpPr>
          <p:cNvPr id="2" name="Slide Number Placeholder 1"/>
          <p:cNvSpPr>
            <a:spLocks noGrp="1"/>
          </p:cNvSpPr>
          <p:nvPr>
            <p:ph type="sldNum" sz="quarter" idx="12"/>
          </p:nvPr>
        </p:nvSpPr>
        <p:spPr/>
        <p:txBody>
          <a:bodyPr/>
          <a:lstStyle/>
          <a:p>
            <a:fld id="{F51B45BB-47DD-4FFE-AFAF-9A1D2EB112A2}"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pPr eaLnBrk="1" hangingPunct="1">
              <a:defRPr/>
            </a:pPr>
            <a:r>
              <a:rPr lang="en-US" altLang="en-US"/>
              <a:t>Spanning Multiple Lines </a:t>
            </a:r>
            <a:r>
              <a:rPr lang="en-US" altLang="en-US" sz="2400"/>
              <a:t>(1 of 2)</a:t>
            </a:r>
            <a:endParaRPr lang="en-US" altLang="en-US"/>
          </a:p>
        </p:txBody>
      </p:sp>
      <p:sp>
        <p:nvSpPr>
          <p:cNvPr id="56325" name="Text Box 3"/>
          <p:cNvSpPr txBox="1">
            <a:spLocks noChangeArrowheads="1"/>
          </p:cNvSpPr>
          <p:nvPr/>
        </p:nvSpPr>
        <p:spPr bwMode="auto">
          <a:xfrm>
            <a:off x="3048000" y="3037941"/>
            <a:ext cx="5638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880" tIns="137160" rIns="182880" bIns="228600"/>
          <a:lstStyle>
            <a:lvl1pPr eaLnBrk="0" hangingPunct="0">
              <a:tabLst>
                <a:tab pos="454025" algn="l"/>
                <a:tab pos="4514850" algn="l"/>
              </a:tabLst>
              <a:defRPr sz="2100">
                <a:solidFill>
                  <a:schemeClr val="tx1"/>
                </a:solidFill>
                <a:latin typeface="Arial" panose="020B0704020202020204" pitchFamily="34" charset="0"/>
              </a:defRPr>
            </a:lvl1pPr>
            <a:lvl2pPr marL="742950" indent="-285750" eaLnBrk="0" hangingPunct="0">
              <a:tabLst>
                <a:tab pos="454025" algn="l"/>
                <a:tab pos="4514850" algn="l"/>
              </a:tabLst>
              <a:defRPr sz="2100">
                <a:solidFill>
                  <a:schemeClr val="tx1"/>
                </a:solidFill>
                <a:latin typeface="Arial" panose="020B0704020202020204" pitchFamily="34" charset="0"/>
              </a:defRPr>
            </a:lvl2pPr>
            <a:lvl3pPr marL="1143000" indent="-228600" eaLnBrk="0" hangingPunct="0">
              <a:tabLst>
                <a:tab pos="454025" algn="l"/>
                <a:tab pos="4514850" algn="l"/>
              </a:tabLst>
              <a:defRPr sz="2100">
                <a:solidFill>
                  <a:schemeClr val="tx1"/>
                </a:solidFill>
                <a:latin typeface="Arial" panose="020B0704020202020204" pitchFamily="34" charset="0"/>
              </a:defRPr>
            </a:lvl3pPr>
            <a:lvl4pPr marL="1600200" indent="-228600" eaLnBrk="0" hangingPunct="0">
              <a:tabLst>
                <a:tab pos="454025" algn="l"/>
                <a:tab pos="4514850" algn="l"/>
              </a:tabLst>
              <a:defRPr sz="2100">
                <a:solidFill>
                  <a:schemeClr val="tx1"/>
                </a:solidFill>
                <a:latin typeface="Arial" panose="020B0704020202020204" pitchFamily="34" charset="0"/>
              </a:defRPr>
            </a:lvl4pPr>
            <a:lvl5pPr marL="2057400" indent="-228600" eaLnBrk="0" hangingPunct="0">
              <a:tabLst>
                <a:tab pos="454025" algn="l"/>
                <a:tab pos="451485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4025" algn="l"/>
                <a:tab pos="451485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4025" algn="l"/>
                <a:tab pos="451485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4025" algn="l"/>
                <a:tab pos="451485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4025" algn="l"/>
                <a:tab pos="451485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array WORD 10,20,</a:t>
            </a:r>
          </a:p>
          <a:p>
            <a:pPr eaLnBrk="1" hangingPunct="1">
              <a:lnSpc>
                <a:spcPct val="50000"/>
              </a:lnSpc>
              <a:spcBef>
                <a:spcPct val="50000"/>
              </a:spcBef>
            </a:pPr>
            <a:r>
              <a:rPr lang="en-US" altLang="en-US" sz="1800" b="1">
                <a:latin typeface="Courier New" panose="02070609020205020404" pitchFamily="49" charset="0"/>
              </a:rPr>
              <a:t>	30,40,</a:t>
            </a:r>
          </a:p>
          <a:p>
            <a:pPr eaLnBrk="1" hangingPunct="1">
              <a:lnSpc>
                <a:spcPct val="50000"/>
              </a:lnSpc>
              <a:spcBef>
                <a:spcPct val="50000"/>
              </a:spcBef>
            </a:pPr>
            <a:r>
              <a:rPr lang="en-US" altLang="en-US" sz="1800" b="1">
                <a:latin typeface="Courier New" panose="02070609020205020404" pitchFamily="49" charset="0"/>
              </a:rPr>
              <a:t>	50,60</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eax,LENGTHOF array	; 6</a:t>
            </a:r>
          </a:p>
          <a:p>
            <a:pPr eaLnBrk="1" hangingPunct="1">
              <a:lnSpc>
                <a:spcPct val="50000"/>
              </a:lnSpc>
              <a:spcBef>
                <a:spcPct val="50000"/>
              </a:spcBef>
            </a:pPr>
            <a:r>
              <a:rPr lang="en-US" altLang="en-US" sz="1800" b="1">
                <a:latin typeface="Courier New" panose="02070609020205020404" pitchFamily="49" charset="0"/>
              </a:rPr>
              <a:t>mov ebx,SIZEOF array	; 12</a:t>
            </a:r>
          </a:p>
        </p:txBody>
      </p:sp>
      <p:sp>
        <p:nvSpPr>
          <p:cNvPr id="56326" name="Text Box 4"/>
          <p:cNvSpPr txBox="1">
            <a:spLocks noChangeArrowheads="1"/>
          </p:cNvSpPr>
          <p:nvPr/>
        </p:nvSpPr>
        <p:spPr bwMode="auto">
          <a:xfrm>
            <a:off x="2209800" y="1590142"/>
            <a:ext cx="76962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A data declaration spans multiple lines if each line (except the last) ends with a comma. The LENGTHOF and SIZEOF operators include all lines belonging to the declaration:</a:t>
            </a:r>
          </a:p>
        </p:txBody>
      </p:sp>
      <p:sp>
        <p:nvSpPr>
          <p:cNvPr id="2" name="Slide Number Placeholder 1"/>
          <p:cNvSpPr>
            <a:spLocks noGrp="1"/>
          </p:cNvSpPr>
          <p:nvPr>
            <p:ph type="sldNum" sz="quarter" idx="12"/>
          </p:nvPr>
        </p:nvSpPr>
        <p:spPr/>
        <p:txBody>
          <a:bodyPr/>
          <a:lstStyle/>
          <a:p>
            <a:fld id="{F51B45BB-47DD-4FFE-AFAF-9A1D2EB112A2}"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eaLnBrk="1" hangingPunct="1">
              <a:defRPr/>
            </a:pPr>
            <a:r>
              <a:rPr lang="en-US" altLang="en-US"/>
              <a:t>Spanning Multiple Lines </a:t>
            </a:r>
            <a:r>
              <a:rPr lang="en-US" altLang="en-US" sz="2400"/>
              <a:t>(2 of 2)</a:t>
            </a:r>
            <a:endParaRPr lang="en-US" altLang="en-US"/>
          </a:p>
        </p:txBody>
      </p:sp>
      <p:sp>
        <p:nvSpPr>
          <p:cNvPr id="57349" name="Text Box 3"/>
          <p:cNvSpPr txBox="1">
            <a:spLocks noChangeArrowheads="1"/>
          </p:cNvSpPr>
          <p:nvPr/>
        </p:nvSpPr>
        <p:spPr bwMode="auto">
          <a:xfrm>
            <a:off x="3048000" y="3141459"/>
            <a:ext cx="5867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880" tIns="137160" rIns="182880" bIns="228600"/>
          <a:lstStyle>
            <a:lvl1pPr eaLnBrk="0" hangingPunct="0">
              <a:tabLst>
                <a:tab pos="915670" algn="l"/>
                <a:tab pos="4514850" algn="l"/>
              </a:tabLst>
              <a:defRPr sz="2100">
                <a:solidFill>
                  <a:schemeClr val="tx1"/>
                </a:solidFill>
                <a:latin typeface="Arial" panose="020B0704020202020204" pitchFamily="34" charset="0"/>
              </a:defRPr>
            </a:lvl1pPr>
            <a:lvl2pPr marL="742950" indent="-285750" eaLnBrk="0" hangingPunct="0">
              <a:tabLst>
                <a:tab pos="915670" algn="l"/>
                <a:tab pos="4514850" algn="l"/>
              </a:tabLst>
              <a:defRPr sz="2100">
                <a:solidFill>
                  <a:schemeClr val="tx1"/>
                </a:solidFill>
                <a:latin typeface="Arial" panose="020B0704020202020204" pitchFamily="34" charset="0"/>
              </a:defRPr>
            </a:lvl2pPr>
            <a:lvl3pPr marL="1143000" indent="-228600" eaLnBrk="0" hangingPunct="0">
              <a:tabLst>
                <a:tab pos="915670" algn="l"/>
                <a:tab pos="4514850" algn="l"/>
              </a:tabLst>
              <a:defRPr sz="2100">
                <a:solidFill>
                  <a:schemeClr val="tx1"/>
                </a:solidFill>
                <a:latin typeface="Arial" panose="020B0704020202020204" pitchFamily="34" charset="0"/>
              </a:defRPr>
            </a:lvl3pPr>
            <a:lvl4pPr marL="1600200" indent="-228600" eaLnBrk="0" hangingPunct="0">
              <a:tabLst>
                <a:tab pos="915670" algn="l"/>
                <a:tab pos="4514850" algn="l"/>
              </a:tabLst>
              <a:defRPr sz="2100">
                <a:solidFill>
                  <a:schemeClr val="tx1"/>
                </a:solidFill>
                <a:latin typeface="Arial" panose="020B0704020202020204" pitchFamily="34" charset="0"/>
              </a:defRPr>
            </a:lvl4pPr>
            <a:lvl5pPr marL="2057400" indent="-228600" eaLnBrk="0" hangingPunct="0">
              <a:tabLst>
                <a:tab pos="915670" algn="l"/>
                <a:tab pos="451485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915670" algn="l"/>
                <a:tab pos="451485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915670" algn="l"/>
                <a:tab pos="451485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915670" algn="l"/>
                <a:tab pos="451485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915670" algn="l"/>
                <a:tab pos="451485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array	WORD 10,20</a:t>
            </a:r>
          </a:p>
          <a:p>
            <a:pPr eaLnBrk="1" hangingPunct="1">
              <a:lnSpc>
                <a:spcPct val="50000"/>
              </a:lnSpc>
              <a:spcBef>
                <a:spcPct val="50000"/>
              </a:spcBef>
            </a:pPr>
            <a:r>
              <a:rPr lang="en-US" altLang="en-US" sz="1800" b="1">
                <a:latin typeface="Courier New" panose="02070609020205020404" pitchFamily="49" charset="0"/>
              </a:rPr>
              <a:t>	WORD 30,40</a:t>
            </a:r>
          </a:p>
          <a:p>
            <a:pPr eaLnBrk="1" hangingPunct="1">
              <a:lnSpc>
                <a:spcPct val="50000"/>
              </a:lnSpc>
              <a:spcBef>
                <a:spcPct val="50000"/>
              </a:spcBef>
            </a:pPr>
            <a:r>
              <a:rPr lang="en-US" altLang="en-US" sz="1800" b="1">
                <a:latin typeface="Courier New" panose="02070609020205020404" pitchFamily="49" charset="0"/>
              </a:rPr>
              <a:t>	WORD 50,60</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eax,LENGTHOF array	; 2</a:t>
            </a:r>
          </a:p>
          <a:p>
            <a:pPr eaLnBrk="1" hangingPunct="1">
              <a:lnSpc>
                <a:spcPct val="50000"/>
              </a:lnSpc>
              <a:spcBef>
                <a:spcPct val="50000"/>
              </a:spcBef>
            </a:pPr>
            <a:r>
              <a:rPr lang="en-US" altLang="en-US" sz="1800" b="1">
                <a:latin typeface="Courier New" panose="02070609020205020404" pitchFamily="49" charset="0"/>
              </a:rPr>
              <a:t>mov ebx,SIZEOF array	; 4</a:t>
            </a:r>
          </a:p>
        </p:txBody>
      </p:sp>
      <p:sp>
        <p:nvSpPr>
          <p:cNvPr id="57350" name="Text Box 4"/>
          <p:cNvSpPr txBox="1">
            <a:spLocks noChangeArrowheads="1"/>
          </p:cNvSpPr>
          <p:nvPr/>
        </p:nvSpPr>
        <p:spPr bwMode="auto">
          <a:xfrm>
            <a:off x="2438400" y="1693660"/>
            <a:ext cx="73914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In the following example, array identifies only the first WORD declaration. Compare the values returned by LENGTHOF and SIZEOF here to those in the previous slide:</a:t>
            </a:r>
          </a:p>
        </p:txBody>
      </p:sp>
      <p:sp>
        <p:nvSpPr>
          <p:cNvPr id="2" name="Slide Number Placeholder 1"/>
          <p:cNvSpPr>
            <a:spLocks noGrp="1"/>
          </p:cNvSpPr>
          <p:nvPr>
            <p:ph type="sldNum" sz="quarter" idx="12"/>
          </p:nvPr>
        </p:nvSpPr>
        <p:spPr/>
        <p:txBody>
          <a:bodyPr/>
          <a:lstStyle/>
          <a:p>
            <a:fld id="{F51B45BB-47DD-4FFE-AFAF-9A1D2EB112A2}"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eaLnBrk="1" hangingPunct="1">
              <a:defRPr/>
            </a:pPr>
            <a:r>
              <a:rPr lang="en-US" altLang="en-US"/>
              <a:t>LABEL Directive</a:t>
            </a:r>
          </a:p>
        </p:txBody>
      </p:sp>
      <p:sp>
        <p:nvSpPr>
          <p:cNvPr id="58373" name="Rectangle 3"/>
          <p:cNvSpPr>
            <a:spLocks noGrp="1" noChangeArrowheads="1"/>
          </p:cNvSpPr>
          <p:nvPr>
            <p:ph type="body" idx="1"/>
          </p:nvPr>
        </p:nvSpPr>
        <p:spPr>
          <a:xfrm>
            <a:off x="2209800" y="1677843"/>
            <a:ext cx="7772400" cy="1828800"/>
          </a:xfrm>
        </p:spPr>
        <p:txBody>
          <a:bodyPr>
            <a:normAutofit lnSpcReduction="10000"/>
          </a:bodyPr>
          <a:lstStyle/>
          <a:p>
            <a:pPr eaLnBrk="1" hangingPunct="1"/>
            <a:r>
              <a:rPr lang="en-US" altLang="en-US" dirty="0"/>
              <a:t>Assigns an alternate label name and type to an existing storage location</a:t>
            </a:r>
          </a:p>
          <a:p>
            <a:pPr eaLnBrk="1" hangingPunct="1"/>
            <a:r>
              <a:rPr lang="en-US" altLang="en-US" dirty="0"/>
              <a:t>LABEL does not allocate any storage of its own</a:t>
            </a:r>
          </a:p>
          <a:p>
            <a:pPr eaLnBrk="1" hangingPunct="1"/>
            <a:r>
              <a:rPr lang="en-US" altLang="en-US" dirty="0"/>
              <a:t>Removes the need for the PTR operator</a:t>
            </a:r>
          </a:p>
        </p:txBody>
      </p:sp>
      <p:sp>
        <p:nvSpPr>
          <p:cNvPr id="58374" name="Text Box 4"/>
          <p:cNvSpPr txBox="1">
            <a:spLocks noChangeArrowheads="1"/>
          </p:cNvSpPr>
          <p:nvPr/>
        </p:nvSpPr>
        <p:spPr bwMode="auto">
          <a:xfrm>
            <a:off x="3200400" y="3659043"/>
            <a:ext cx="5791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880" tIns="137160" rIns="182880" bIns="228600"/>
          <a:lstStyle>
            <a:lvl1pPr eaLnBrk="0" hangingPunct="0">
              <a:tabLst>
                <a:tab pos="915670" algn="l"/>
                <a:tab pos="3541395" algn="l"/>
              </a:tabLst>
              <a:defRPr sz="2100">
                <a:solidFill>
                  <a:schemeClr val="tx1"/>
                </a:solidFill>
                <a:latin typeface="Arial" panose="020B0704020202020204" pitchFamily="34" charset="0"/>
              </a:defRPr>
            </a:lvl1pPr>
            <a:lvl2pPr marL="742950" indent="-285750" eaLnBrk="0" hangingPunct="0">
              <a:tabLst>
                <a:tab pos="915670" algn="l"/>
                <a:tab pos="3541395" algn="l"/>
              </a:tabLst>
              <a:defRPr sz="2100">
                <a:solidFill>
                  <a:schemeClr val="tx1"/>
                </a:solidFill>
                <a:latin typeface="Arial" panose="020B0704020202020204" pitchFamily="34" charset="0"/>
              </a:defRPr>
            </a:lvl2pPr>
            <a:lvl3pPr marL="1143000" indent="-228600" eaLnBrk="0" hangingPunct="0">
              <a:tabLst>
                <a:tab pos="915670" algn="l"/>
                <a:tab pos="3541395" algn="l"/>
              </a:tabLst>
              <a:defRPr sz="2100">
                <a:solidFill>
                  <a:schemeClr val="tx1"/>
                </a:solidFill>
                <a:latin typeface="Arial" panose="020B0704020202020204" pitchFamily="34" charset="0"/>
              </a:defRPr>
            </a:lvl3pPr>
            <a:lvl4pPr marL="1600200" indent="-228600" eaLnBrk="0" hangingPunct="0">
              <a:tabLst>
                <a:tab pos="915670" algn="l"/>
                <a:tab pos="3541395" algn="l"/>
              </a:tabLst>
              <a:defRPr sz="2100">
                <a:solidFill>
                  <a:schemeClr val="tx1"/>
                </a:solidFill>
                <a:latin typeface="Arial" panose="020B0704020202020204" pitchFamily="34" charset="0"/>
              </a:defRPr>
            </a:lvl4pPr>
            <a:lvl5pPr marL="2057400" indent="-228600" eaLnBrk="0" hangingPunct="0">
              <a:tabLst>
                <a:tab pos="915670" algn="l"/>
                <a:tab pos="3541395"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915670" algn="l"/>
                <a:tab pos="3541395"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915670" algn="l"/>
                <a:tab pos="3541395"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915670" algn="l"/>
                <a:tab pos="3541395"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915670" algn="l"/>
                <a:tab pos="3541395"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dwList   LABEL DWORD</a:t>
            </a:r>
          </a:p>
          <a:p>
            <a:pPr eaLnBrk="1" hangingPunct="1">
              <a:lnSpc>
                <a:spcPct val="50000"/>
              </a:lnSpc>
              <a:spcBef>
                <a:spcPct val="50000"/>
              </a:spcBef>
            </a:pPr>
            <a:r>
              <a:rPr lang="en-US" altLang="en-US" sz="1800" b="1">
                <a:latin typeface="Courier New" panose="02070609020205020404" pitchFamily="49" charset="0"/>
              </a:rPr>
              <a:t>wordList LABEL WORD</a:t>
            </a:r>
          </a:p>
          <a:p>
            <a:pPr eaLnBrk="1" hangingPunct="1">
              <a:lnSpc>
                <a:spcPct val="50000"/>
              </a:lnSpc>
              <a:spcBef>
                <a:spcPct val="50000"/>
              </a:spcBef>
            </a:pPr>
            <a:r>
              <a:rPr lang="en-US" altLang="en-US" sz="1800" b="1">
                <a:latin typeface="Courier New" panose="02070609020205020404" pitchFamily="49" charset="0"/>
              </a:rPr>
              <a:t>intList  BYTE 00h,10h,00h,20h</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eax,dwList	; 20001000h</a:t>
            </a:r>
          </a:p>
          <a:p>
            <a:pPr eaLnBrk="1" hangingPunct="1">
              <a:lnSpc>
                <a:spcPct val="50000"/>
              </a:lnSpc>
              <a:spcBef>
                <a:spcPct val="50000"/>
              </a:spcBef>
            </a:pPr>
            <a:r>
              <a:rPr lang="en-US" altLang="en-US" sz="1800" b="1">
                <a:latin typeface="Courier New" panose="02070609020205020404" pitchFamily="49" charset="0"/>
              </a:rPr>
              <a:t>mov cx,wordList	; 1000h</a:t>
            </a:r>
          </a:p>
          <a:p>
            <a:pPr eaLnBrk="1" hangingPunct="1">
              <a:lnSpc>
                <a:spcPct val="50000"/>
              </a:lnSpc>
              <a:spcBef>
                <a:spcPct val="50000"/>
              </a:spcBef>
            </a:pPr>
            <a:r>
              <a:rPr lang="en-US" altLang="en-US" sz="1800" b="1">
                <a:latin typeface="Courier New" panose="02070609020205020404" pitchFamily="49" charset="0"/>
              </a:rPr>
              <a:t>mov dl,intList	; 00h</a:t>
            </a:r>
          </a:p>
        </p:txBody>
      </p:sp>
      <p:sp>
        <p:nvSpPr>
          <p:cNvPr id="2" name="Slide Number Placeholder 1"/>
          <p:cNvSpPr>
            <a:spLocks noGrp="1"/>
          </p:cNvSpPr>
          <p:nvPr>
            <p:ph type="sldNum" sz="quarter" idx="12"/>
          </p:nvPr>
        </p:nvSpPr>
        <p:spPr/>
        <p:txBody>
          <a:bodyPr/>
          <a:lstStyle/>
          <a:p>
            <a:fld id="{F51B45BB-47DD-4FFE-AFAF-9A1D2EB112A2}"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defRPr/>
            </a:pPr>
            <a:r>
              <a:rPr lang="en-US" altLang="en-US"/>
              <a:t>JMP Instruction</a:t>
            </a:r>
          </a:p>
        </p:txBody>
      </p:sp>
      <p:sp>
        <p:nvSpPr>
          <p:cNvPr id="69637" name="Text Box 3"/>
          <p:cNvSpPr txBox="1">
            <a:spLocks noChangeArrowheads="1"/>
          </p:cNvSpPr>
          <p:nvPr/>
        </p:nvSpPr>
        <p:spPr bwMode="auto">
          <a:xfrm>
            <a:off x="4343400" y="3863202"/>
            <a:ext cx="4191000" cy="1524000"/>
          </a:xfrm>
          <a:prstGeom prst="rect">
            <a:avLst/>
          </a:prstGeom>
          <a:noFill/>
          <a:ln w="9525">
            <a:solidFill>
              <a:srgbClr val="B2B2B2"/>
            </a:solidFill>
            <a:miter lim="800000"/>
          </a:ln>
          <a:extLst>
            <a:ext uri="{909E8E84-426E-40DD-AFC4-6F175D3DCCD1}">
              <a14:hiddenFill xmlns:a14="http://schemas.microsoft.com/office/drawing/2010/main">
                <a:solidFill>
                  <a:srgbClr val="FFFFFF"/>
                </a:solidFill>
              </a14:hiddenFill>
            </a:ext>
          </a:extLst>
        </p:spPr>
        <p:txBody>
          <a:bodyPr tIns="228600" bIns="22860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60000"/>
              </a:lnSpc>
              <a:spcBef>
                <a:spcPct val="50000"/>
              </a:spcBef>
            </a:pPr>
            <a:r>
              <a:rPr lang="en-US" altLang="en-US" sz="1800" b="1">
                <a:latin typeface="Courier New" panose="02070609020205020404" pitchFamily="49" charset="0"/>
              </a:rPr>
              <a:t>top:</a:t>
            </a:r>
          </a:p>
          <a:p>
            <a:pPr eaLnBrk="1" hangingPunct="1">
              <a:lnSpc>
                <a:spcPct val="60000"/>
              </a:lnSpc>
              <a:spcBef>
                <a:spcPct val="50000"/>
              </a:spcBef>
            </a:pPr>
            <a:r>
              <a:rPr lang="en-US" altLang="en-US" sz="1800" b="1">
                <a:latin typeface="Courier New" panose="02070609020205020404" pitchFamily="49" charset="0"/>
              </a:rPr>
              <a:t>	.</a:t>
            </a:r>
          </a:p>
          <a:p>
            <a:pPr eaLnBrk="1" hangingPunct="1">
              <a:lnSpc>
                <a:spcPct val="60000"/>
              </a:lnSpc>
              <a:spcBef>
                <a:spcPct val="50000"/>
              </a:spcBef>
            </a:pPr>
            <a:r>
              <a:rPr lang="en-US" altLang="en-US" sz="1800" b="1">
                <a:latin typeface="Courier New" panose="02070609020205020404" pitchFamily="49" charset="0"/>
              </a:rPr>
              <a:t>	.</a:t>
            </a:r>
          </a:p>
          <a:p>
            <a:pPr eaLnBrk="1" hangingPunct="1">
              <a:lnSpc>
                <a:spcPct val="60000"/>
              </a:lnSpc>
              <a:spcBef>
                <a:spcPct val="50000"/>
              </a:spcBef>
            </a:pPr>
            <a:r>
              <a:rPr lang="en-US" altLang="en-US" sz="1800" b="1">
                <a:latin typeface="Courier New" panose="02070609020205020404" pitchFamily="49" charset="0"/>
              </a:rPr>
              <a:t>	jmp top</a:t>
            </a:r>
          </a:p>
        </p:txBody>
      </p:sp>
      <p:sp>
        <p:nvSpPr>
          <p:cNvPr id="69638" name="Text Box 4"/>
          <p:cNvSpPr txBox="1">
            <a:spLocks noChangeArrowheads="1"/>
          </p:cNvSpPr>
          <p:nvPr/>
        </p:nvSpPr>
        <p:spPr bwMode="auto">
          <a:xfrm>
            <a:off x="2209800" y="1653402"/>
            <a:ext cx="7696200"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dirty="0"/>
              <a:t>JMP is an unconditional jump to a label that is usually within the  same procedure.</a:t>
            </a:r>
          </a:p>
          <a:p>
            <a:pPr eaLnBrk="1" hangingPunct="1">
              <a:spcBef>
                <a:spcPct val="50000"/>
              </a:spcBef>
              <a:buFontTx/>
              <a:buChar char="•"/>
            </a:pPr>
            <a:r>
              <a:rPr lang="en-US" altLang="en-US" dirty="0"/>
              <a:t>Syntax: </a:t>
            </a:r>
            <a:r>
              <a:rPr lang="en-US" altLang="en-US" dirty="0">
                <a:solidFill>
                  <a:schemeClr val="tx2"/>
                </a:solidFill>
              </a:rPr>
              <a:t>JMP </a:t>
            </a:r>
            <a:r>
              <a:rPr lang="en-US" altLang="en-US" i="1" dirty="0">
                <a:solidFill>
                  <a:schemeClr val="tx2"/>
                </a:solidFill>
              </a:rPr>
              <a:t>target</a:t>
            </a:r>
          </a:p>
          <a:p>
            <a:pPr eaLnBrk="1" hangingPunct="1">
              <a:spcBef>
                <a:spcPct val="50000"/>
              </a:spcBef>
              <a:buFontTx/>
              <a:buChar char="•"/>
            </a:pPr>
            <a:r>
              <a:rPr lang="en-US" altLang="en-US" dirty="0"/>
              <a:t>Logic: EIP </a:t>
            </a:r>
            <a:r>
              <a:rPr lang="en-US" altLang="en-US" dirty="0">
                <a:sym typeface="Symbol" panose="05050102010706020507" pitchFamily="18" charset="2"/>
              </a:rPr>
              <a:t> </a:t>
            </a:r>
            <a:r>
              <a:rPr lang="en-US" altLang="en-US" i="1" dirty="0">
                <a:sym typeface="Symbol" panose="05050102010706020507" pitchFamily="18" charset="2"/>
              </a:rPr>
              <a:t>target</a:t>
            </a:r>
          </a:p>
          <a:p>
            <a:pPr eaLnBrk="1" hangingPunct="1">
              <a:spcBef>
                <a:spcPct val="50000"/>
              </a:spcBef>
              <a:buFontTx/>
              <a:buChar char="•"/>
            </a:pPr>
            <a:r>
              <a:rPr lang="en-US" altLang="en-US" dirty="0">
                <a:sym typeface="Symbol" panose="05050102010706020507" pitchFamily="18" charset="2"/>
              </a:rPr>
              <a:t>Example:</a:t>
            </a:r>
          </a:p>
        </p:txBody>
      </p:sp>
      <p:sp>
        <p:nvSpPr>
          <p:cNvPr id="133125" name="Text Box 5"/>
          <p:cNvSpPr txBox="1">
            <a:spLocks noChangeArrowheads="1"/>
          </p:cNvSpPr>
          <p:nvPr/>
        </p:nvSpPr>
        <p:spPr bwMode="auto">
          <a:xfrm>
            <a:off x="2286000" y="5615802"/>
            <a:ext cx="7696200" cy="920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110000"/>
              </a:lnSpc>
              <a:spcBef>
                <a:spcPct val="50000"/>
              </a:spcBef>
            </a:pPr>
            <a:r>
              <a:rPr lang="en-US" altLang="en-US" sz="1900" dirty="0"/>
              <a:t>A jump outside the current procedure must be to a special type of label called a </a:t>
            </a:r>
            <a:r>
              <a:rPr lang="en-US" altLang="en-US" sz="1900" dirty="0">
                <a:solidFill>
                  <a:schemeClr val="tx2"/>
                </a:solidFill>
              </a:rPr>
              <a:t>global label</a:t>
            </a:r>
            <a:r>
              <a:rPr lang="en-US" altLang="en-US" sz="1900" dirty="0"/>
              <a:t> (see Section 5.5.2.3 for details).</a:t>
            </a:r>
          </a:p>
        </p:txBody>
      </p:sp>
      <p:sp>
        <p:nvSpPr>
          <p:cNvPr id="2" name="Slide Number Placeholder 1"/>
          <p:cNvSpPr>
            <a:spLocks noGrp="1"/>
          </p:cNvSpPr>
          <p:nvPr>
            <p:ph type="sldNum" sz="quarter" idx="12"/>
          </p:nvPr>
        </p:nvSpPr>
        <p:spPr/>
        <p:txBody>
          <a:bodyPr/>
          <a:lstStyle/>
          <a:p>
            <a:fld id="{F51B45BB-47DD-4FFE-AFAF-9A1D2EB112A2}" type="slidenum">
              <a:rPr lang="en-US" smtClean="0"/>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25"/>
                                        </p:tgtEl>
                                        <p:attrNameLst>
                                          <p:attrName>style.visibility</p:attrName>
                                        </p:attrNameLst>
                                      </p:cBhvr>
                                      <p:to>
                                        <p:strVal val="visible"/>
                                      </p:to>
                                    </p:set>
                                    <p:animEffect transition="in" filter="dissolve">
                                      <p:cBhvr>
                                        <p:cTn id="7" dur="500"/>
                                        <p:tgtEl>
                                          <p:spTgt spid="133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eaLnBrk="1" hangingPunct="1">
              <a:defRPr/>
            </a:pPr>
            <a:r>
              <a:rPr lang="en-US" altLang="en-US"/>
              <a:t>LOOP Instruction</a:t>
            </a:r>
          </a:p>
        </p:txBody>
      </p:sp>
      <p:sp>
        <p:nvSpPr>
          <p:cNvPr id="70661" name="Text Box 4"/>
          <p:cNvSpPr txBox="1">
            <a:spLocks noChangeArrowheads="1"/>
          </p:cNvSpPr>
          <p:nvPr/>
        </p:nvSpPr>
        <p:spPr bwMode="auto">
          <a:xfrm>
            <a:off x="2209800" y="1647652"/>
            <a:ext cx="7696200"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685800" indent="-22860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80000"/>
              </a:lnSpc>
              <a:spcBef>
                <a:spcPct val="50000"/>
              </a:spcBef>
              <a:buFontTx/>
              <a:buChar char="•"/>
            </a:pPr>
            <a:r>
              <a:rPr lang="en-US" altLang="en-US" dirty="0"/>
              <a:t>The LOOP instruction creates a counting loop</a:t>
            </a:r>
          </a:p>
          <a:p>
            <a:pPr eaLnBrk="1" hangingPunct="1">
              <a:lnSpc>
                <a:spcPct val="80000"/>
              </a:lnSpc>
              <a:spcBef>
                <a:spcPct val="50000"/>
              </a:spcBef>
              <a:buFontTx/>
              <a:buChar char="•"/>
            </a:pPr>
            <a:r>
              <a:rPr lang="en-US" altLang="en-US" dirty="0"/>
              <a:t>Syntax: </a:t>
            </a:r>
            <a:r>
              <a:rPr lang="en-US" altLang="en-US" dirty="0">
                <a:solidFill>
                  <a:schemeClr val="tx2"/>
                </a:solidFill>
              </a:rPr>
              <a:t>LOOP </a:t>
            </a:r>
            <a:r>
              <a:rPr lang="en-US" altLang="en-US" i="1" dirty="0">
                <a:solidFill>
                  <a:schemeClr val="tx2"/>
                </a:solidFill>
              </a:rPr>
              <a:t>target</a:t>
            </a:r>
          </a:p>
          <a:p>
            <a:pPr eaLnBrk="1" hangingPunct="1">
              <a:lnSpc>
                <a:spcPct val="80000"/>
              </a:lnSpc>
              <a:spcBef>
                <a:spcPct val="50000"/>
              </a:spcBef>
              <a:buFontTx/>
              <a:buChar char="•"/>
            </a:pPr>
            <a:r>
              <a:rPr lang="en-US" altLang="en-US" dirty="0"/>
              <a:t>Logic:</a:t>
            </a:r>
          </a:p>
          <a:p>
            <a:pPr lvl="1" eaLnBrk="1" hangingPunct="1">
              <a:lnSpc>
                <a:spcPct val="80000"/>
              </a:lnSpc>
              <a:spcBef>
                <a:spcPct val="50000"/>
              </a:spcBef>
              <a:buFontTx/>
              <a:buChar char="•"/>
            </a:pPr>
            <a:r>
              <a:rPr lang="en-US" altLang="en-US" dirty="0"/>
              <a:t>ECX </a:t>
            </a:r>
            <a:r>
              <a:rPr lang="en-US" altLang="en-US" dirty="0">
                <a:sym typeface="Symbol" panose="05050102010706020507" pitchFamily="18" charset="2"/>
              </a:rPr>
              <a:t> ECX – 1</a:t>
            </a:r>
            <a:endParaRPr lang="en-US" altLang="en-US" dirty="0"/>
          </a:p>
          <a:p>
            <a:pPr lvl="1" eaLnBrk="1" hangingPunct="1">
              <a:lnSpc>
                <a:spcPct val="80000"/>
              </a:lnSpc>
              <a:spcBef>
                <a:spcPct val="50000"/>
              </a:spcBef>
              <a:buFontTx/>
              <a:buChar char="•"/>
            </a:pPr>
            <a:r>
              <a:rPr lang="en-US" altLang="en-US" dirty="0"/>
              <a:t>if ECX != 0, jump to </a:t>
            </a:r>
            <a:r>
              <a:rPr lang="en-US" altLang="en-US" i="1" dirty="0">
                <a:sym typeface="Symbol" panose="05050102010706020507" pitchFamily="18" charset="2"/>
              </a:rPr>
              <a:t>target</a:t>
            </a:r>
          </a:p>
          <a:p>
            <a:pPr eaLnBrk="1" hangingPunct="1">
              <a:lnSpc>
                <a:spcPct val="80000"/>
              </a:lnSpc>
              <a:spcBef>
                <a:spcPct val="50000"/>
              </a:spcBef>
              <a:buFontTx/>
              <a:buChar char="•"/>
            </a:pPr>
            <a:r>
              <a:rPr lang="en-US" altLang="en-US" dirty="0">
                <a:sym typeface="Symbol" panose="05050102010706020507" pitchFamily="18" charset="2"/>
              </a:rPr>
              <a:t>Implementation: </a:t>
            </a:r>
          </a:p>
          <a:p>
            <a:pPr lvl="1" eaLnBrk="1" hangingPunct="1">
              <a:spcBef>
                <a:spcPct val="50000"/>
              </a:spcBef>
              <a:buFontTx/>
              <a:buChar char="•"/>
            </a:pPr>
            <a:r>
              <a:rPr lang="en-US" altLang="en-US" dirty="0">
                <a:sym typeface="Symbol" panose="05050102010706020507" pitchFamily="18" charset="2"/>
              </a:rPr>
              <a:t>The assembler calculates the distance, in bytes, between the offset of the following instruction and the offset of the target label. It is called the </a:t>
            </a:r>
            <a:r>
              <a:rPr lang="en-US" altLang="en-US" dirty="0">
                <a:solidFill>
                  <a:schemeClr val="tx2"/>
                </a:solidFill>
                <a:sym typeface="Symbol" panose="05050102010706020507" pitchFamily="18" charset="2"/>
              </a:rPr>
              <a:t>relative offset</a:t>
            </a:r>
            <a:r>
              <a:rPr lang="en-US" altLang="en-US" dirty="0">
                <a:sym typeface="Symbol" panose="05050102010706020507" pitchFamily="18" charset="2"/>
              </a:rPr>
              <a:t>.</a:t>
            </a:r>
          </a:p>
          <a:p>
            <a:pPr lvl="1" eaLnBrk="1" hangingPunct="1">
              <a:spcBef>
                <a:spcPct val="50000"/>
              </a:spcBef>
              <a:buFontTx/>
              <a:buChar char="•"/>
            </a:pPr>
            <a:r>
              <a:rPr lang="en-US" altLang="en-US" dirty="0">
                <a:sym typeface="Symbol" panose="05050102010706020507" pitchFamily="18" charset="2"/>
              </a:rPr>
              <a:t>The relative offset is added to EIP.</a:t>
            </a:r>
          </a:p>
        </p:txBody>
      </p:sp>
      <p:sp>
        <p:nvSpPr>
          <p:cNvPr id="2" name="Slide Number Placeholder 1"/>
          <p:cNvSpPr>
            <a:spLocks noGrp="1"/>
          </p:cNvSpPr>
          <p:nvPr>
            <p:ph type="sldNum" sz="quarter" idx="12"/>
          </p:nvPr>
        </p:nvSpPr>
        <p:spPr/>
        <p:txBody>
          <a:bodyPr/>
          <a:lstStyle/>
          <a:p>
            <a:fld id="{F51B45BB-47DD-4FFE-AFAF-9A1D2EB112A2}"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US" altLang="en-US"/>
              <a:t>LOOP Example</a:t>
            </a:r>
          </a:p>
        </p:txBody>
      </p:sp>
      <p:sp>
        <p:nvSpPr>
          <p:cNvPr id="71685" name="Text Box 3"/>
          <p:cNvSpPr txBox="1">
            <a:spLocks noChangeArrowheads="1"/>
          </p:cNvSpPr>
          <p:nvPr/>
        </p:nvSpPr>
        <p:spPr bwMode="auto">
          <a:xfrm>
            <a:off x="2819400" y="2681382"/>
            <a:ext cx="6629400" cy="1828800"/>
          </a:xfrm>
          <a:prstGeom prst="rect">
            <a:avLst/>
          </a:prstGeom>
          <a:noFill/>
          <a:ln w="9525">
            <a:solidFill>
              <a:srgbClr val="B2B2B2"/>
            </a:solidFill>
            <a:miter lim="800000"/>
          </a:ln>
          <a:extLst>
            <a:ext uri="{909E8E84-426E-40DD-AFC4-6F175D3DCCD1}">
              <a14:hiddenFill xmlns:a14="http://schemas.microsoft.com/office/drawing/2010/main">
                <a:solidFill>
                  <a:srgbClr val="FFFFFF"/>
                </a:solidFill>
              </a14:hiddenFill>
            </a:ext>
          </a:extLst>
        </p:spPr>
        <p:txBody>
          <a:bodyPr tIns="137160" bIns="13716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00000000  66 B8 0000		mov  ax,0  </a:t>
            </a:r>
          </a:p>
          <a:p>
            <a:pPr eaLnBrk="1" hangingPunct="1">
              <a:lnSpc>
                <a:spcPct val="50000"/>
              </a:lnSpc>
              <a:spcBef>
                <a:spcPct val="50000"/>
              </a:spcBef>
            </a:pPr>
            <a:r>
              <a:rPr lang="en-US" altLang="en-US" sz="1800" b="1">
                <a:latin typeface="Courier New" panose="02070609020205020404" pitchFamily="49" charset="0"/>
              </a:rPr>
              <a:t>00000004  B9 00000005		mov  ecx,5</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solidFill>
                  <a:schemeClr val="tx2"/>
                </a:solidFill>
                <a:latin typeface="Courier New" panose="02070609020205020404" pitchFamily="49" charset="0"/>
              </a:rPr>
              <a:t>00000009</a:t>
            </a:r>
            <a:r>
              <a:rPr lang="en-US" altLang="en-US" sz="1800" b="1">
                <a:latin typeface="Courier New" panose="02070609020205020404" pitchFamily="49" charset="0"/>
              </a:rPr>
              <a:t>  66 03 C1	L1:	add  ax,cx</a:t>
            </a:r>
          </a:p>
          <a:p>
            <a:pPr eaLnBrk="1" hangingPunct="1">
              <a:lnSpc>
                <a:spcPct val="50000"/>
              </a:lnSpc>
              <a:spcBef>
                <a:spcPct val="50000"/>
              </a:spcBef>
            </a:pPr>
            <a:r>
              <a:rPr lang="en-US" altLang="en-US" sz="1800" b="1">
                <a:latin typeface="Courier New" panose="02070609020205020404" pitchFamily="49" charset="0"/>
              </a:rPr>
              <a:t>0000000C  E2 </a:t>
            </a:r>
            <a:r>
              <a:rPr lang="en-US" altLang="en-US" sz="1800" b="1">
                <a:solidFill>
                  <a:schemeClr val="tx2"/>
                </a:solidFill>
                <a:latin typeface="Courier New" panose="02070609020205020404" pitchFamily="49" charset="0"/>
              </a:rPr>
              <a:t>FB</a:t>
            </a:r>
            <a:r>
              <a:rPr lang="en-US" altLang="en-US" sz="1800" b="1">
                <a:latin typeface="Courier New" panose="02070609020205020404" pitchFamily="49" charset="0"/>
              </a:rPr>
              <a:t>		loop L1</a:t>
            </a:r>
          </a:p>
          <a:p>
            <a:pPr eaLnBrk="1" hangingPunct="1">
              <a:lnSpc>
                <a:spcPct val="50000"/>
              </a:lnSpc>
              <a:spcBef>
                <a:spcPct val="50000"/>
              </a:spcBef>
            </a:pPr>
            <a:r>
              <a:rPr lang="en-US" altLang="en-US" sz="1800" b="1">
                <a:solidFill>
                  <a:schemeClr val="tx2"/>
                </a:solidFill>
                <a:latin typeface="Courier New" panose="02070609020205020404" pitchFamily="49" charset="0"/>
              </a:rPr>
              <a:t>0000000E</a:t>
            </a:r>
          </a:p>
        </p:txBody>
      </p:sp>
      <p:sp>
        <p:nvSpPr>
          <p:cNvPr id="71686" name="Text Box 4"/>
          <p:cNvSpPr txBox="1">
            <a:spLocks noChangeArrowheads="1"/>
          </p:cNvSpPr>
          <p:nvPr/>
        </p:nvSpPr>
        <p:spPr bwMode="auto">
          <a:xfrm>
            <a:off x="2743200" y="1385982"/>
            <a:ext cx="655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following loop calculates the sum of the integers 5 + 4 + 3 +2 + 1:</a:t>
            </a:r>
            <a:endParaRPr lang="en-US" altLang="en-US" i="1">
              <a:sym typeface="Symbol" panose="05050102010706020507" pitchFamily="18" charset="2"/>
            </a:endParaRPr>
          </a:p>
        </p:txBody>
      </p:sp>
      <p:sp>
        <p:nvSpPr>
          <p:cNvPr id="155653" name="Text Box 5"/>
          <p:cNvSpPr txBox="1">
            <a:spLocks noChangeArrowheads="1"/>
          </p:cNvSpPr>
          <p:nvPr/>
        </p:nvSpPr>
        <p:spPr bwMode="auto">
          <a:xfrm>
            <a:off x="2057400" y="4814982"/>
            <a:ext cx="7924800" cy="1614488"/>
          </a:xfrm>
          <a:prstGeom prst="rect">
            <a:avLst/>
          </a:prstGeom>
          <a:noFill/>
          <a:ln w="9525">
            <a:solidFill>
              <a:srgbClr val="B2B2B2"/>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1900"/>
              <a:t>When LOOP is assembled, the current location = 0000000E (offset of the next instruction).  –5 (FBh) is added to the </a:t>
            </a:r>
            <a:r>
              <a:rPr lang="en-US" altLang="en-US">
                <a:sym typeface="Symbol" panose="05050102010706020507" pitchFamily="18" charset="2"/>
              </a:rPr>
              <a:t>the current location</a:t>
            </a:r>
            <a:r>
              <a:rPr lang="en-US" altLang="en-US" sz="1900"/>
              <a:t>, causing a jump to location 00000009:</a:t>
            </a:r>
          </a:p>
          <a:p>
            <a:pPr eaLnBrk="1" hangingPunct="1">
              <a:spcBef>
                <a:spcPct val="50000"/>
              </a:spcBef>
            </a:pPr>
            <a:r>
              <a:rPr lang="en-US" altLang="en-US" sz="1900"/>
              <a:t>	00000009 </a:t>
            </a:r>
            <a:r>
              <a:rPr lang="en-US" altLang="en-US" sz="1900">
                <a:sym typeface="Symbol" panose="05050102010706020507" pitchFamily="18" charset="2"/>
              </a:rPr>
              <a:t></a:t>
            </a:r>
            <a:r>
              <a:rPr lang="en-US" altLang="en-US" sz="1900"/>
              <a:t> 0000000E + FB</a:t>
            </a:r>
          </a:p>
        </p:txBody>
      </p:sp>
      <p:sp>
        <p:nvSpPr>
          <p:cNvPr id="71688" name="Text Box 6"/>
          <p:cNvSpPr txBox="1">
            <a:spLocks noChangeArrowheads="1"/>
          </p:cNvSpPr>
          <p:nvPr/>
        </p:nvSpPr>
        <p:spPr bwMode="auto">
          <a:xfrm>
            <a:off x="2819400" y="2218432"/>
            <a:ext cx="64770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tabLst>
                <a:tab pos="1371600" algn="l"/>
                <a:tab pos="4114800" algn="l"/>
              </a:tabLst>
              <a:defRPr sz="2100">
                <a:solidFill>
                  <a:schemeClr val="tx1"/>
                </a:solidFill>
                <a:latin typeface="Arial" panose="020B0704020202020204" pitchFamily="34" charset="0"/>
              </a:defRPr>
            </a:lvl1pPr>
            <a:lvl2pPr marL="742950" indent="-285750" eaLnBrk="0" hangingPunct="0">
              <a:tabLst>
                <a:tab pos="1371600" algn="l"/>
                <a:tab pos="4114800" algn="l"/>
              </a:tabLst>
              <a:defRPr sz="2100">
                <a:solidFill>
                  <a:schemeClr val="tx1"/>
                </a:solidFill>
                <a:latin typeface="Arial" panose="020B0704020202020204" pitchFamily="34" charset="0"/>
              </a:defRPr>
            </a:lvl2pPr>
            <a:lvl3pPr marL="1143000" indent="-228600" eaLnBrk="0" hangingPunct="0">
              <a:tabLst>
                <a:tab pos="1371600" algn="l"/>
                <a:tab pos="4114800" algn="l"/>
              </a:tabLst>
              <a:defRPr sz="2100">
                <a:solidFill>
                  <a:schemeClr val="tx1"/>
                </a:solidFill>
                <a:latin typeface="Arial" panose="020B0704020202020204" pitchFamily="34" charset="0"/>
              </a:defRPr>
            </a:lvl3pPr>
            <a:lvl4pPr marL="1600200" indent="-228600" eaLnBrk="0" hangingPunct="0">
              <a:tabLst>
                <a:tab pos="1371600" algn="l"/>
                <a:tab pos="4114800" algn="l"/>
              </a:tabLst>
              <a:defRPr sz="2100">
                <a:solidFill>
                  <a:schemeClr val="tx1"/>
                </a:solidFill>
                <a:latin typeface="Arial" panose="020B0704020202020204" pitchFamily="34" charset="0"/>
              </a:defRPr>
            </a:lvl4pPr>
            <a:lvl5pPr marL="2057400" indent="-228600" eaLnBrk="0" hangingPunct="0">
              <a:tabLst>
                <a:tab pos="1371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1371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1371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1371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1371600" algn="l"/>
                <a:tab pos="4114800" algn="l"/>
              </a:tabLst>
              <a:defRPr sz="2100">
                <a:solidFill>
                  <a:schemeClr val="tx1"/>
                </a:solidFill>
                <a:latin typeface="Arial" panose="020B0704020202020204" pitchFamily="34" charset="0"/>
              </a:defRPr>
            </a:lvl9pPr>
          </a:lstStyle>
          <a:p>
            <a:pPr eaLnBrk="1" hangingPunct="1">
              <a:spcBef>
                <a:spcPct val="50000"/>
              </a:spcBef>
            </a:pPr>
            <a:r>
              <a:rPr lang="en-US" altLang="en-US" sz="1900">
                <a:solidFill>
                  <a:schemeClr val="tx2"/>
                </a:solidFill>
              </a:rPr>
              <a:t>offset	machine code	source code</a:t>
            </a:r>
          </a:p>
        </p:txBody>
      </p:sp>
      <p:sp>
        <p:nvSpPr>
          <p:cNvPr id="2" name="Slide Number Placeholder 1"/>
          <p:cNvSpPr>
            <a:spLocks noGrp="1"/>
          </p:cNvSpPr>
          <p:nvPr>
            <p:ph type="sldNum" sz="quarter" idx="12"/>
          </p:nvPr>
        </p:nvSpPr>
        <p:spPr/>
        <p:txBody>
          <a:bodyPr/>
          <a:lstStyle/>
          <a:p>
            <a:fld id="{F51B45BB-47DD-4FFE-AFAF-9A1D2EB112A2}" type="slidenum">
              <a:rPr lang="en-US" smtClean="0"/>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defRPr/>
            </a:pPr>
            <a:r>
              <a:rPr lang="en-US" altLang="en-US"/>
              <a:t>Nested Loop</a:t>
            </a:r>
          </a:p>
        </p:txBody>
      </p:sp>
      <p:sp>
        <p:nvSpPr>
          <p:cNvPr id="74757" name="Text Box 3"/>
          <p:cNvSpPr txBox="1">
            <a:spLocks noChangeArrowheads="1"/>
          </p:cNvSpPr>
          <p:nvPr/>
        </p:nvSpPr>
        <p:spPr bwMode="auto">
          <a:xfrm>
            <a:off x="2209800" y="1495252"/>
            <a:ext cx="76962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If you need to code a loop within a loop, you must save the outer loop counter's ECX value. In the following example, the outer loop executes 100 times, and the inner loop 20 times.</a:t>
            </a:r>
          </a:p>
        </p:txBody>
      </p:sp>
      <p:sp>
        <p:nvSpPr>
          <p:cNvPr id="74758" name="Text Box 4"/>
          <p:cNvSpPr txBox="1">
            <a:spLocks noChangeArrowheads="1"/>
          </p:cNvSpPr>
          <p:nvPr/>
        </p:nvSpPr>
        <p:spPr bwMode="auto">
          <a:xfrm>
            <a:off x="2438400" y="2866851"/>
            <a:ext cx="72390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lstStyle>
            <a:lvl1pPr eaLnBrk="0" hangingPunct="0">
              <a:tabLst>
                <a:tab pos="457200" algn="l"/>
                <a:tab pos="3201670" algn="l"/>
              </a:tabLst>
              <a:defRPr sz="2100">
                <a:solidFill>
                  <a:schemeClr val="tx1"/>
                </a:solidFill>
                <a:latin typeface="Arial" panose="020B0704020202020204" pitchFamily="34" charset="0"/>
              </a:defRPr>
            </a:lvl1pPr>
            <a:lvl2pPr eaLnBrk="0" hangingPunct="0">
              <a:tabLst>
                <a:tab pos="457200" algn="l"/>
                <a:tab pos="3201670" algn="l"/>
              </a:tabLst>
              <a:defRPr sz="2100">
                <a:solidFill>
                  <a:schemeClr val="tx1"/>
                </a:solidFill>
                <a:latin typeface="Arial" panose="020B0704020202020204" pitchFamily="34" charset="0"/>
              </a:defRPr>
            </a:lvl2pPr>
            <a:lvl3pPr marL="1143000" indent="-228600" eaLnBrk="0" hangingPunct="0">
              <a:tabLst>
                <a:tab pos="457200" algn="l"/>
                <a:tab pos="3201670" algn="l"/>
              </a:tabLst>
              <a:defRPr sz="2100">
                <a:solidFill>
                  <a:schemeClr val="tx1"/>
                </a:solidFill>
                <a:latin typeface="Arial" panose="020B0704020202020204" pitchFamily="34" charset="0"/>
              </a:defRPr>
            </a:lvl3pPr>
            <a:lvl4pPr marL="1600200" indent="-228600" eaLnBrk="0" hangingPunct="0">
              <a:tabLst>
                <a:tab pos="457200" algn="l"/>
                <a:tab pos="3201670" algn="l"/>
              </a:tabLst>
              <a:defRPr sz="2100">
                <a:solidFill>
                  <a:schemeClr val="tx1"/>
                </a:solidFill>
                <a:latin typeface="Arial" panose="020B0704020202020204" pitchFamily="34" charset="0"/>
              </a:defRPr>
            </a:lvl4pPr>
            <a:lvl5pPr marL="2057400" indent="-228600" eaLnBrk="0" hangingPunct="0">
              <a:tabLst>
                <a:tab pos="457200" algn="l"/>
                <a:tab pos="320167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20167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20167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20167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20167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count DWORD ?</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	mov ecx,100	; set outer loop count</a:t>
            </a:r>
          </a:p>
          <a:p>
            <a:pPr eaLnBrk="1" hangingPunct="1">
              <a:lnSpc>
                <a:spcPct val="50000"/>
              </a:lnSpc>
              <a:spcBef>
                <a:spcPct val="50000"/>
              </a:spcBef>
            </a:pPr>
            <a:r>
              <a:rPr lang="en-US" altLang="en-US" sz="1800" b="1">
                <a:solidFill>
                  <a:schemeClr val="hlink"/>
                </a:solidFill>
                <a:latin typeface="Courier New" panose="02070609020205020404" pitchFamily="49" charset="0"/>
              </a:rPr>
              <a:t>L1:</a:t>
            </a:r>
          </a:p>
          <a:p>
            <a:pPr eaLnBrk="1" hangingPunct="1">
              <a:lnSpc>
                <a:spcPct val="50000"/>
              </a:lnSpc>
              <a:spcBef>
                <a:spcPct val="50000"/>
              </a:spcBef>
            </a:pPr>
            <a:r>
              <a:rPr lang="en-US" altLang="en-US" sz="1800" b="1">
                <a:solidFill>
                  <a:schemeClr val="hlink"/>
                </a:solidFill>
                <a:latin typeface="Courier New" panose="02070609020205020404" pitchFamily="49" charset="0"/>
              </a:rPr>
              <a:t>	mov count,ecx	; save outer loop count</a:t>
            </a:r>
          </a:p>
          <a:p>
            <a:pPr eaLnBrk="1" hangingPunct="1">
              <a:lnSpc>
                <a:spcPct val="50000"/>
              </a:lnSpc>
              <a:spcBef>
                <a:spcPct val="50000"/>
              </a:spcBef>
            </a:pPr>
            <a:r>
              <a:rPr lang="en-US" altLang="en-US" sz="1800" b="1">
                <a:solidFill>
                  <a:schemeClr val="hlink"/>
                </a:solidFill>
                <a:latin typeface="Courier New" panose="02070609020205020404" pitchFamily="49" charset="0"/>
              </a:rPr>
              <a:t>	</a:t>
            </a:r>
            <a:r>
              <a:rPr lang="en-US" altLang="en-US" sz="1800" b="1">
                <a:solidFill>
                  <a:schemeClr val="tx2"/>
                </a:solidFill>
                <a:latin typeface="Courier New" panose="02070609020205020404" pitchFamily="49" charset="0"/>
              </a:rPr>
              <a:t>mov ecx,20	; set inner loop count</a:t>
            </a:r>
          </a:p>
          <a:p>
            <a:pPr eaLnBrk="1" hangingPunct="1">
              <a:lnSpc>
                <a:spcPct val="50000"/>
              </a:lnSpc>
              <a:spcBef>
                <a:spcPct val="50000"/>
              </a:spcBef>
            </a:pPr>
            <a:r>
              <a:rPr lang="en-US" altLang="en-US" sz="1800" b="1">
                <a:solidFill>
                  <a:schemeClr val="tx2"/>
                </a:solidFill>
                <a:latin typeface="Courier New" panose="02070609020205020404" pitchFamily="49" charset="0"/>
              </a:rPr>
              <a:t>L2:	.</a:t>
            </a:r>
          </a:p>
          <a:p>
            <a:pPr lvl="1" eaLnBrk="1" hangingPunct="1">
              <a:lnSpc>
                <a:spcPct val="50000"/>
              </a:lnSpc>
              <a:spcBef>
                <a:spcPct val="50000"/>
              </a:spcBef>
            </a:pPr>
            <a:r>
              <a:rPr lang="en-US" altLang="en-US" sz="1800" b="1">
                <a:solidFill>
                  <a:schemeClr val="tx2"/>
                </a:solidFill>
                <a:latin typeface="Courier New" panose="02070609020205020404" pitchFamily="49" charset="0"/>
              </a:rPr>
              <a:t>.</a:t>
            </a:r>
          </a:p>
          <a:p>
            <a:pPr lvl="1" eaLnBrk="1" hangingPunct="1">
              <a:lnSpc>
                <a:spcPct val="50000"/>
              </a:lnSpc>
              <a:spcBef>
                <a:spcPct val="50000"/>
              </a:spcBef>
            </a:pPr>
            <a:r>
              <a:rPr lang="en-US" altLang="en-US" sz="1800" b="1">
                <a:solidFill>
                  <a:schemeClr val="tx2"/>
                </a:solidFill>
                <a:latin typeface="Courier New" panose="02070609020205020404" pitchFamily="49" charset="0"/>
              </a:rPr>
              <a:t>loop L2	; repeat the inner loop</a:t>
            </a:r>
          </a:p>
          <a:p>
            <a:pPr eaLnBrk="1" hangingPunct="1">
              <a:lnSpc>
                <a:spcPct val="50000"/>
              </a:lnSpc>
              <a:spcBef>
                <a:spcPct val="50000"/>
              </a:spcBef>
            </a:pPr>
            <a:r>
              <a:rPr lang="en-US" altLang="en-US" sz="1800" b="1">
                <a:latin typeface="Courier New" panose="02070609020205020404" pitchFamily="49" charset="0"/>
              </a:rPr>
              <a:t>	</a:t>
            </a:r>
            <a:r>
              <a:rPr lang="en-US" altLang="en-US" sz="1800" b="1">
                <a:solidFill>
                  <a:schemeClr val="hlink"/>
                </a:solidFill>
                <a:latin typeface="Courier New" panose="02070609020205020404" pitchFamily="49" charset="0"/>
              </a:rPr>
              <a:t>mov ecx,count	; restore outer loop count</a:t>
            </a:r>
          </a:p>
          <a:p>
            <a:pPr eaLnBrk="1" hangingPunct="1">
              <a:lnSpc>
                <a:spcPct val="50000"/>
              </a:lnSpc>
              <a:spcBef>
                <a:spcPct val="50000"/>
              </a:spcBef>
            </a:pPr>
            <a:r>
              <a:rPr lang="en-US" altLang="en-US" sz="1800" b="1">
                <a:solidFill>
                  <a:schemeClr val="hlink"/>
                </a:solidFill>
                <a:latin typeface="Courier New" panose="02070609020205020404" pitchFamily="49" charset="0"/>
              </a:rPr>
              <a:t>	loop L1	; repeat the outer loop</a:t>
            </a:r>
          </a:p>
        </p:txBody>
      </p:sp>
      <p:sp>
        <p:nvSpPr>
          <p:cNvPr id="2" name="Slide Number Placeholder 1"/>
          <p:cNvSpPr>
            <a:spLocks noGrp="1"/>
          </p:cNvSpPr>
          <p:nvPr>
            <p:ph type="sldNum" sz="quarter" idx="12"/>
          </p:nvPr>
        </p:nvSpPr>
        <p:spPr/>
        <p:txBody>
          <a:bodyPr/>
          <a:lstStyle/>
          <a:p>
            <a:fld id="{F51B45BB-47DD-4FFE-AFAF-9A1D2EB112A2}"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defRPr/>
            </a:pPr>
            <a:r>
              <a:rPr lang="en-US" altLang="en-US"/>
              <a:t>Summing an Integer Array</a:t>
            </a:r>
          </a:p>
        </p:txBody>
      </p:sp>
      <p:sp>
        <p:nvSpPr>
          <p:cNvPr id="75781" name="Text Box 4"/>
          <p:cNvSpPr txBox="1">
            <a:spLocks noChangeArrowheads="1"/>
          </p:cNvSpPr>
          <p:nvPr/>
        </p:nvSpPr>
        <p:spPr bwMode="auto">
          <a:xfrm>
            <a:off x="2362200" y="2684259"/>
            <a:ext cx="7696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lstStyle>
            <a:lvl1pPr eaLnBrk="0" hangingPunct="0">
              <a:tabLst>
                <a:tab pos="457200" algn="l"/>
                <a:tab pos="4114800" algn="l"/>
              </a:tabLst>
              <a:defRPr sz="2100">
                <a:solidFill>
                  <a:schemeClr val="tx1"/>
                </a:solidFill>
                <a:latin typeface="Arial" panose="020B0704020202020204" pitchFamily="34" charset="0"/>
              </a:defRPr>
            </a:lvl1pPr>
            <a:lvl2pPr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eaLnBrk="1" hangingPunct="1">
              <a:lnSpc>
                <a:spcPct val="70000"/>
              </a:lnSpc>
              <a:spcBef>
                <a:spcPct val="50000"/>
              </a:spcBef>
            </a:pPr>
            <a:r>
              <a:rPr lang="en-US" altLang="en-US" sz="1600" b="1">
                <a:latin typeface="Courier New" panose="02070609020205020404" pitchFamily="49" charset="0"/>
              </a:rPr>
              <a:t>.data</a:t>
            </a:r>
          </a:p>
          <a:p>
            <a:pPr eaLnBrk="1" hangingPunct="1">
              <a:lnSpc>
                <a:spcPct val="70000"/>
              </a:lnSpc>
              <a:spcBef>
                <a:spcPct val="50000"/>
              </a:spcBef>
            </a:pPr>
            <a:r>
              <a:rPr lang="en-US" altLang="en-US" sz="1600" b="1">
                <a:latin typeface="Courier New" panose="02070609020205020404" pitchFamily="49" charset="0"/>
              </a:rPr>
              <a:t>intarray WORD 100h,200h,300h,400h</a:t>
            </a:r>
          </a:p>
          <a:p>
            <a:pPr eaLnBrk="1" hangingPunct="1">
              <a:lnSpc>
                <a:spcPct val="70000"/>
              </a:lnSpc>
              <a:spcBef>
                <a:spcPct val="50000"/>
              </a:spcBef>
            </a:pPr>
            <a:r>
              <a:rPr lang="en-US" altLang="en-US" sz="1600" b="1">
                <a:latin typeface="Courier New" panose="02070609020205020404" pitchFamily="49" charset="0"/>
              </a:rPr>
              <a:t>.code</a:t>
            </a:r>
          </a:p>
          <a:p>
            <a:pPr lvl="1" eaLnBrk="1" hangingPunct="1">
              <a:lnSpc>
                <a:spcPct val="70000"/>
              </a:lnSpc>
              <a:spcBef>
                <a:spcPct val="50000"/>
              </a:spcBef>
            </a:pPr>
            <a:r>
              <a:rPr lang="en-US" altLang="en-US" sz="1600" b="1">
                <a:latin typeface="Courier New" panose="02070609020205020404" pitchFamily="49" charset="0"/>
              </a:rPr>
              <a:t>mov edi,OFFSET intarray	; address of intarray</a:t>
            </a:r>
          </a:p>
          <a:p>
            <a:pPr lvl="1" eaLnBrk="1" hangingPunct="1">
              <a:lnSpc>
                <a:spcPct val="70000"/>
              </a:lnSpc>
              <a:spcBef>
                <a:spcPct val="50000"/>
              </a:spcBef>
            </a:pPr>
            <a:r>
              <a:rPr lang="en-US" altLang="en-US" sz="1600" b="1">
                <a:latin typeface="Courier New" panose="02070609020205020404" pitchFamily="49" charset="0"/>
              </a:rPr>
              <a:t>mov ecx,LENGTHOF intarray	; loop counter</a:t>
            </a:r>
          </a:p>
          <a:p>
            <a:pPr lvl="1" eaLnBrk="1" hangingPunct="1">
              <a:lnSpc>
                <a:spcPct val="70000"/>
              </a:lnSpc>
              <a:spcBef>
                <a:spcPct val="50000"/>
              </a:spcBef>
            </a:pPr>
            <a:r>
              <a:rPr lang="en-US" altLang="en-US" sz="1600" b="1">
                <a:latin typeface="Courier New" panose="02070609020205020404" pitchFamily="49" charset="0"/>
              </a:rPr>
              <a:t>mov ax,0	; zero the accumulator</a:t>
            </a:r>
          </a:p>
          <a:p>
            <a:pPr eaLnBrk="1" hangingPunct="1">
              <a:lnSpc>
                <a:spcPct val="70000"/>
              </a:lnSpc>
              <a:spcBef>
                <a:spcPct val="50000"/>
              </a:spcBef>
            </a:pPr>
            <a:r>
              <a:rPr lang="en-US" altLang="en-US" sz="1600" b="1">
                <a:latin typeface="Courier New" panose="02070609020205020404" pitchFamily="49" charset="0"/>
              </a:rPr>
              <a:t>L1:</a:t>
            </a:r>
          </a:p>
          <a:p>
            <a:pPr lvl="1" eaLnBrk="1" hangingPunct="1">
              <a:lnSpc>
                <a:spcPct val="70000"/>
              </a:lnSpc>
              <a:spcBef>
                <a:spcPct val="50000"/>
              </a:spcBef>
            </a:pPr>
            <a:r>
              <a:rPr lang="en-US" altLang="en-US" sz="1600" b="1">
                <a:latin typeface="Courier New" panose="02070609020205020404" pitchFamily="49" charset="0"/>
              </a:rPr>
              <a:t>add ax,[edi]	; add an integer</a:t>
            </a:r>
          </a:p>
          <a:p>
            <a:pPr lvl="1" eaLnBrk="1" hangingPunct="1">
              <a:lnSpc>
                <a:spcPct val="70000"/>
              </a:lnSpc>
              <a:spcBef>
                <a:spcPct val="50000"/>
              </a:spcBef>
            </a:pPr>
            <a:r>
              <a:rPr lang="en-US" altLang="en-US" sz="1600" b="1">
                <a:latin typeface="Courier New" panose="02070609020205020404" pitchFamily="49" charset="0"/>
              </a:rPr>
              <a:t>add edi,TYPE intarray	; point to next integer</a:t>
            </a:r>
          </a:p>
          <a:p>
            <a:pPr eaLnBrk="1" hangingPunct="1">
              <a:lnSpc>
                <a:spcPct val="70000"/>
              </a:lnSpc>
              <a:spcBef>
                <a:spcPct val="50000"/>
              </a:spcBef>
            </a:pPr>
            <a:r>
              <a:rPr lang="en-US" altLang="en-US" sz="1600" b="1">
                <a:latin typeface="Courier New" panose="02070609020205020404" pitchFamily="49" charset="0"/>
              </a:rPr>
              <a:t>	loop L1	; repeat until ECX = 0</a:t>
            </a:r>
          </a:p>
        </p:txBody>
      </p:sp>
      <p:sp>
        <p:nvSpPr>
          <p:cNvPr id="75782" name="Text Box 5"/>
          <p:cNvSpPr txBox="1">
            <a:spLocks noChangeArrowheads="1"/>
          </p:cNvSpPr>
          <p:nvPr/>
        </p:nvSpPr>
        <p:spPr bwMode="auto">
          <a:xfrm>
            <a:off x="2362200" y="1693659"/>
            <a:ext cx="7467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following code calculates the sum of an array of 16-bit integers.</a:t>
            </a:r>
          </a:p>
        </p:txBody>
      </p:sp>
      <p:sp>
        <p:nvSpPr>
          <p:cNvPr id="2" name="Slide Number Placeholder 1"/>
          <p:cNvSpPr>
            <a:spLocks noGrp="1"/>
          </p:cNvSpPr>
          <p:nvPr>
            <p:ph type="sldNum" sz="quarter" idx="12"/>
          </p:nvPr>
        </p:nvSpPr>
        <p:spPr/>
        <p:txBody>
          <a:bodyPr/>
          <a:lstStyle/>
          <a:p>
            <a:fld id="{F51B45BB-47DD-4FFE-AFAF-9A1D2EB112A2}"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eaLnBrk="1" hangingPunct="1">
              <a:defRPr/>
            </a:pPr>
            <a:r>
              <a:rPr lang="en-US" altLang="en-US"/>
              <a:t>Copying a String</a:t>
            </a:r>
          </a:p>
        </p:txBody>
      </p:sp>
      <p:sp>
        <p:nvSpPr>
          <p:cNvPr id="77829" name="Text Box 4"/>
          <p:cNvSpPr txBox="1">
            <a:spLocks noChangeArrowheads="1"/>
          </p:cNvSpPr>
          <p:nvPr/>
        </p:nvSpPr>
        <p:spPr bwMode="auto">
          <a:xfrm>
            <a:off x="2286000" y="2684259"/>
            <a:ext cx="7696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600" b="1">
                <a:latin typeface="Courier New" panose="02070609020205020404" pitchFamily="49" charset="0"/>
              </a:rPr>
              <a:t>.data</a:t>
            </a:r>
          </a:p>
          <a:p>
            <a:pPr eaLnBrk="1" hangingPunct="1">
              <a:lnSpc>
                <a:spcPct val="50000"/>
              </a:lnSpc>
              <a:spcBef>
                <a:spcPct val="50000"/>
              </a:spcBef>
            </a:pPr>
            <a:r>
              <a:rPr lang="en-US" altLang="en-US" sz="1600" b="1">
                <a:latin typeface="Courier New" panose="02070609020205020404" pitchFamily="49" charset="0"/>
              </a:rPr>
              <a:t>source  BYTE  "This is the source string",0</a:t>
            </a:r>
          </a:p>
          <a:p>
            <a:pPr eaLnBrk="1" hangingPunct="1">
              <a:lnSpc>
                <a:spcPct val="50000"/>
              </a:lnSpc>
              <a:spcBef>
                <a:spcPct val="50000"/>
              </a:spcBef>
            </a:pPr>
            <a:r>
              <a:rPr lang="en-US" altLang="en-US" sz="1600" b="1">
                <a:latin typeface="Courier New" panose="02070609020205020404" pitchFamily="49" charset="0"/>
              </a:rPr>
              <a:t>target  BYTE  </a:t>
            </a:r>
            <a:r>
              <a:rPr lang="en-US" altLang="en-US" sz="1600" b="1">
                <a:solidFill>
                  <a:schemeClr val="tx2"/>
                </a:solidFill>
                <a:latin typeface="Courier New" panose="02070609020205020404" pitchFamily="49" charset="0"/>
              </a:rPr>
              <a:t>SIZEOF source</a:t>
            </a:r>
            <a:r>
              <a:rPr lang="en-US" altLang="en-US" sz="1600" b="1">
                <a:latin typeface="Courier New" panose="02070609020205020404" pitchFamily="49" charset="0"/>
              </a:rPr>
              <a:t> DUP(0)</a:t>
            </a:r>
          </a:p>
          <a:p>
            <a:pPr eaLnBrk="1" hangingPunct="1">
              <a:lnSpc>
                <a:spcPct val="50000"/>
              </a:lnSpc>
              <a:spcBef>
                <a:spcPct val="50000"/>
              </a:spcBef>
            </a:pPr>
            <a:endParaRPr lang="en-US" altLang="en-US" sz="1600" b="1">
              <a:latin typeface="Courier New" panose="02070609020205020404" pitchFamily="49" charset="0"/>
            </a:endParaRPr>
          </a:p>
          <a:p>
            <a:pPr eaLnBrk="1" hangingPunct="1">
              <a:lnSpc>
                <a:spcPct val="50000"/>
              </a:lnSpc>
              <a:spcBef>
                <a:spcPct val="50000"/>
              </a:spcBef>
            </a:pPr>
            <a:r>
              <a:rPr lang="en-US" altLang="en-US" sz="1600" b="1">
                <a:latin typeface="Courier New" panose="02070609020205020404" pitchFamily="49" charset="0"/>
              </a:rPr>
              <a:t>.code</a:t>
            </a:r>
          </a:p>
          <a:p>
            <a:pPr eaLnBrk="1" hangingPunct="1">
              <a:lnSpc>
                <a:spcPct val="50000"/>
              </a:lnSpc>
              <a:spcBef>
                <a:spcPct val="50000"/>
              </a:spcBef>
            </a:pPr>
            <a:r>
              <a:rPr lang="en-US" altLang="en-US" sz="1600" b="1">
                <a:latin typeface="Courier New" panose="02070609020205020404" pitchFamily="49" charset="0"/>
              </a:rPr>
              <a:t>	mov  esi,0		; index register</a:t>
            </a:r>
          </a:p>
          <a:p>
            <a:pPr eaLnBrk="1" hangingPunct="1">
              <a:lnSpc>
                <a:spcPct val="50000"/>
              </a:lnSpc>
              <a:spcBef>
                <a:spcPct val="50000"/>
              </a:spcBef>
            </a:pPr>
            <a:r>
              <a:rPr lang="en-US" altLang="en-US" sz="1600" b="1">
                <a:latin typeface="Courier New" panose="02070609020205020404" pitchFamily="49" charset="0"/>
              </a:rPr>
              <a:t>	mov  ecx,SIZEOF source		; loop counter</a:t>
            </a:r>
          </a:p>
          <a:p>
            <a:pPr eaLnBrk="1" hangingPunct="1">
              <a:lnSpc>
                <a:spcPct val="50000"/>
              </a:lnSpc>
              <a:spcBef>
                <a:spcPct val="50000"/>
              </a:spcBef>
            </a:pPr>
            <a:r>
              <a:rPr lang="en-US" altLang="en-US" sz="1600" b="1">
                <a:latin typeface="Courier New" panose="02070609020205020404" pitchFamily="49" charset="0"/>
              </a:rPr>
              <a:t>L1:</a:t>
            </a:r>
          </a:p>
          <a:p>
            <a:pPr eaLnBrk="1" hangingPunct="1">
              <a:lnSpc>
                <a:spcPct val="50000"/>
              </a:lnSpc>
              <a:spcBef>
                <a:spcPct val="50000"/>
              </a:spcBef>
            </a:pPr>
            <a:r>
              <a:rPr lang="en-US" altLang="en-US" sz="1600" b="1">
                <a:latin typeface="Courier New" panose="02070609020205020404" pitchFamily="49" charset="0"/>
              </a:rPr>
              <a:t>	mov  al,source[esi]		; get char from source</a:t>
            </a:r>
          </a:p>
          <a:p>
            <a:pPr eaLnBrk="1" hangingPunct="1">
              <a:lnSpc>
                <a:spcPct val="50000"/>
              </a:lnSpc>
              <a:spcBef>
                <a:spcPct val="50000"/>
              </a:spcBef>
            </a:pPr>
            <a:r>
              <a:rPr lang="en-US" altLang="en-US" sz="1600" b="1">
                <a:latin typeface="Courier New" panose="02070609020205020404" pitchFamily="49" charset="0"/>
              </a:rPr>
              <a:t>	mov  target[esi],al		; store it in the target</a:t>
            </a:r>
          </a:p>
          <a:p>
            <a:pPr eaLnBrk="1" hangingPunct="1">
              <a:lnSpc>
                <a:spcPct val="50000"/>
              </a:lnSpc>
              <a:spcBef>
                <a:spcPct val="50000"/>
              </a:spcBef>
            </a:pPr>
            <a:r>
              <a:rPr lang="en-US" altLang="en-US" sz="1600" b="1">
                <a:latin typeface="Courier New" panose="02070609020205020404" pitchFamily="49" charset="0"/>
              </a:rPr>
              <a:t>	inc  esi		; move to next character</a:t>
            </a:r>
          </a:p>
          <a:p>
            <a:pPr eaLnBrk="1" hangingPunct="1">
              <a:lnSpc>
                <a:spcPct val="50000"/>
              </a:lnSpc>
              <a:spcBef>
                <a:spcPct val="50000"/>
              </a:spcBef>
            </a:pPr>
            <a:r>
              <a:rPr lang="en-US" altLang="en-US" sz="1600" b="1">
                <a:latin typeface="Courier New" panose="02070609020205020404" pitchFamily="49" charset="0"/>
              </a:rPr>
              <a:t>	loop L1		; repeat for entire string</a:t>
            </a:r>
          </a:p>
          <a:p>
            <a:pPr eaLnBrk="1" hangingPunct="1">
              <a:lnSpc>
                <a:spcPct val="50000"/>
              </a:lnSpc>
              <a:spcBef>
                <a:spcPct val="50000"/>
              </a:spcBef>
            </a:pPr>
            <a:endParaRPr lang="en-US" altLang="en-US" sz="1600" b="1">
              <a:latin typeface="Courier New" panose="02070609020205020404" pitchFamily="49" charset="0"/>
            </a:endParaRPr>
          </a:p>
        </p:txBody>
      </p:sp>
      <p:sp>
        <p:nvSpPr>
          <p:cNvPr id="77830" name="Text Box 7"/>
          <p:cNvSpPr txBox="1">
            <a:spLocks noChangeArrowheads="1"/>
          </p:cNvSpPr>
          <p:nvPr/>
        </p:nvSpPr>
        <p:spPr bwMode="auto">
          <a:xfrm>
            <a:off x="8391525" y="2947784"/>
            <a:ext cx="1219200" cy="67945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1300" b="1">
                <a:solidFill>
                  <a:schemeClr val="tx2"/>
                </a:solidFill>
              </a:rPr>
              <a:t>good use of SIZEOF</a:t>
            </a:r>
          </a:p>
        </p:txBody>
      </p:sp>
      <p:sp>
        <p:nvSpPr>
          <p:cNvPr id="77831" name="Text Box 8"/>
          <p:cNvSpPr txBox="1">
            <a:spLocks noChangeArrowheads="1"/>
          </p:cNvSpPr>
          <p:nvPr/>
        </p:nvSpPr>
        <p:spPr bwMode="auto">
          <a:xfrm>
            <a:off x="2362200" y="1846059"/>
            <a:ext cx="74676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following code copies a string from </a:t>
            </a:r>
            <a:r>
              <a:rPr lang="en-US" altLang="en-US" dirty="0">
                <a:solidFill>
                  <a:schemeClr val="tx2"/>
                </a:solidFill>
              </a:rPr>
              <a:t>source</a:t>
            </a:r>
            <a:r>
              <a:rPr lang="en-US" altLang="en-US" dirty="0"/>
              <a:t> to </a:t>
            </a:r>
            <a:r>
              <a:rPr lang="en-US" altLang="en-US" dirty="0">
                <a:solidFill>
                  <a:schemeClr val="tx2"/>
                </a:solidFill>
              </a:rPr>
              <a:t>target</a:t>
            </a:r>
            <a:r>
              <a:rPr lang="en-US" altLang="en-US" dirty="0"/>
              <a:t>:</a:t>
            </a:r>
          </a:p>
        </p:txBody>
      </p:sp>
      <p:sp>
        <p:nvSpPr>
          <p:cNvPr id="2" name="Slide Number Placeholder 1"/>
          <p:cNvSpPr>
            <a:spLocks noGrp="1"/>
          </p:cNvSpPr>
          <p:nvPr>
            <p:ph type="sldNum" sz="quarter" idx="12"/>
          </p:nvPr>
        </p:nvSpPr>
        <p:spPr/>
        <p:txBody>
          <a:bodyPr/>
          <a:lstStyle/>
          <a:p>
            <a:fld id="{F51B45BB-47DD-4FFE-AFAF-9A1D2EB112A2}"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eaLnBrk="1" hangingPunct="1">
              <a:defRPr/>
            </a:pPr>
            <a:r>
              <a:rPr lang="en-US" altLang="en-US"/>
              <a:t>Stack Operations</a:t>
            </a:r>
          </a:p>
        </p:txBody>
      </p:sp>
      <p:sp>
        <p:nvSpPr>
          <p:cNvPr id="14341" name="Rectangle 3"/>
          <p:cNvSpPr>
            <a:spLocks noGrp="1" noChangeArrowheads="1"/>
          </p:cNvSpPr>
          <p:nvPr>
            <p:ph type="body" idx="1"/>
          </p:nvPr>
        </p:nvSpPr>
        <p:spPr>
          <a:xfrm>
            <a:off x="3352800" y="2008521"/>
            <a:ext cx="5638800" cy="3505200"/>
          </a:xfrm>
        </p:spPr>
        <p:txBody>
          <a:bodyPr>
            <a:normAutofit lnSpcReduction="10000"/>
          </a:bodyPr>
          <a:lstStyle/>
          <a:p>
            <a:pPr eaLnBrk="1" hangingPunct="1"/>
            <a:r>
              <a:rPr lang="en-US" altLang="en-US" dirty="0"/>
              <a:t>Runtime Stack</a:t>
            </a:r>
          </a:p>
          <a:p>
            <a:pPr eaLnBrk="1" hangingPunct="1"/>
            <a:r>
              <a:rPr lang="en-US" altLang="en-US" dirty="0"/>
              <a:t>PUSH Operation</a:t>
            </a:r>
          </a:p>
          <a:p>
            <a:pPr eaLnBrk="1" hangingPunct="1"/>
            <a:r>
              <a:rPr lang="en-US" altLang="en-US" dirty="0"/>
              <a:t>POP Operation</a:t>
            </a:r>
          </a:p>
          <a:p>
            <a:pPr eaLnBrk="1" hangingPunct="1"/>
            <a:r>
              <a:rPr lang="en-US" altLang="en-US" dirty="0"/>
              <a:t>PUSH and POP Instructions</a:t>
            </a:r>
          </a:p>
          <a:p>
            <a:pPr eaLnBrk="1" hangingPunct="1"/>
            <a:r>
              <a:rPr lang="en-US" altLang="en-US" dirty="0"/>
              <a:t>Using PUSH and POP</a:t>
            </a:r>
          </a:p>
          <a:p>
            <a:pPr eaLnBrk="1" hangingPunct="1"/>
            <a:r>
              <a:rPr lang="en-US" altLang="en-US" dirty="0"/>
              <a:t>Example: Reversing a String</a:t>
            </a:r>
          </a:p>
          <a:p>
            <a:pPr eaLnBrk="1" hangingPunct="1"/>
            <a:r>
              <a:rPr lang="en-US" altLang="en-US" dirty="0"/>
              <a:t>Related Instructions</a:t>
            </a:r>
          </a:p>
        </p:txBody>
      </p:sp>
      <p:sp>
        <p:nvSpPr>
          <p:cNvPr id="2" name="Slide Number Placeholder 1"/>
          <p:cNvSpPr>
            <a:spLocks noGrp="1"/>
          </p:cNvSpPr>
          <p:nvPr>
            <p:ph type="sldNum" sz="quarter" idx="12"/>
          </p:nvPr>
        </p:nvSpPr>
        <p:spPr/>
        <p:txBody>
          <a:bodyPr/>
          <a:lstStyle/>
          <a:p>
            <a:fld id="{F51B45BB-47DD-4FFE-AFAF-9A1D2EB112A2}"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en-US" altLang="en-US"/>
              <a:t>Runtime Stack</a:t>
            </a:r>
          </a:p>
        </p:txBody>
      </p:sp>
      <p:sp>
        <p:nvSpPr>
          <p:cNvPr id="1030" name="Rectangle 3"/>
          <p:cNvSpPr>
            <a:spLocks noGrp="1" noChangeArrowheads="1"/>
          </p:cNvSpPr>
          <p:nvPr>
            <p:ph type="body" idx="1"/>
          </p:nvPr>
        </p:nvSpPr>
        <p:spPr>
          <a:xfrm>
            <a:off x="2209800" y="1677843"/>
            <a:ext cx="7772400" cy="1828800"/>
          </a:xfrm>
        </p:spPr>
        <p:txBody>
          <a:bodyPr/>
          <a:lstStyle/>
          <a:p>
            <a:pPr eaLnBrk="1" hangingPunct="1"/>
            <a:r>
              <a:rPr lang="en-US" altLang="en-US" dirty="0"/>
              <a:t>Imagine a stack of plates . . .</a:t>
            </a:r>
          </a:p>
          <a:p>
            <a:pPr lvl="1" eaLnBrk="1" hangingPunct="1"/>
            <a:r>
              <a:rPr lang="en-US" altLang="en-US" dirty="0"/>
              <a:t>plates are only added to the top</a:t>
            </a:r>
          </a:p>
          <a:p>
            <a:pPr lvl="1" eaLnBrk="1" hangingPunct="1"/>
            <a:r>
              <a:rPr lang="en-US" altLang="en-US" dirty="0"/>
              <a:t>plates are only removed from the top</a:t>
            </a:r>
          </a:p>
          <a:p>
            <a:pPr lvl="1" eaLnBrk="1" hangingPunct="1"/>
            <a:r>
              <a:rPr lang="en-US" altLang="en-US" dirty="0"/>
              <a:t>LIFO structure</a:t>
            </a:r>
          </a:p>
        </p:txBody>
      </p:sp>
      <p:graphicFrame>
        <p:nvGraphicFramePr>
          <p:cNvPr id="1026" name="Object 6"/>
          <p:cNvGraphicFramePr>
            <a:graphicFrameLocks noChangeAspect="1"/>
          </p:cNvGraphicFramePr>
          <p:nvPr/>
        </p:nvGraphicFramePr>
        <p:xfrm>
          <a:off x="3352800" y="3582843"/>
          <a:ext cx="4953000" cy="2286000"/>
        </p:xfrm>
        <a:graphic>
          <a:graphicData uri="http://schemas.openxmlformats.org/presentationml/2006/ole">
            <mc:AlternateContent xmlns:mc="http://schemas.openxmlformats.org/markup-compatibility/2006">
              <mc:Choice xmlns:v="urn:schemas-microsoft-com:vml" Requires="v">
                <p:oleObj name="VISIO" r:id="rId2" imgW="2214245" imgH="984250" progId="Visio.Drawing.6">
                  <p:embed/>
                </p:oleObj>
              </mc:Choice>
              <mc:Fallback>
                <p:oleObj name="VISIO" r:id="rId2" imgW="2214245" imgH="984250" progId="Visio.Drawing.6">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l="-3030" r="4546" b="-2055"/>
                      <a:stretch>
                        <a:fillRect/>
                      </a:stretch>
                    </p:blipFill>
                    <p:spPr bwMode="auto">
                      <a:xfrm>
                        <a:off x="3352800" y="3582843"/>
                        <a:ext cx="4953000" cy="228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F51B45BB-47DD-4FFE-AFAF-9A1D2EB112A2}"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defRPr/>
            </a:pPr>
            <a:r>
              <a:rPr lang="en-US" altLang="en-US"/>
              <a:t>Runtime Stack</a:t>
            </a:r>
          </a:p>
        </p:txBody>
      </p:sp>
      <p:sp>
        <p:nvSpPr>
          <p:cNvPr id="2054" name="Rectangle 3"/>
          <p:cNvSpPr>
            <a:spLocks noGrp="1" noChangeArrowheads="1"/>
          </p:cNvSpPr>
          <p:nvPr>
            <p:ph type="body" idx="1"/>
          </p:nvPr>
        </p:nvSpPr>
        <p:spPr>
          <a:xfrm>
            <a:off x="2209800" y="1407546"/>
            <a:ext cx="7772400" cy="1371600"/>
          </a:xfrm>
        </p:spPr>
        <p:txBody>
          <a:bodyPr/>
          <a:lstStyle/>
          <a:p>
            <a:pPr eaLnBrk="1" hangingPunct="1"/>
            <a:r>
              <a:rPr lang="en-US" altLang="en-US" dirty="0"/>
              <a:t>Managed by the CPU, using two registers</a:t>
            </a:r>
          </a:p>
          <a:p>
            <a:pPr lvl="1" eaLnBrk="1" hangingPunct="1"/>
            <a:r>
              <a:rPr lang="en-US" altLang="en-US" dirty="0"/>
              <a:t>SS (stack segment)</a:t>
            </a:r>
          </a:p>
          <a:p>
            <a:pPr lvl="1" eaLnBrk="1" hangingPunct="1"/>
            <a:r>
              <a:rPr lang="en-US" altLang="en-US" dirty="0"/>
              <a:t>ESP (stack pointer) *</a:t>
            </a:r>
          </a:p>
        </p:txBody>
      </p:sp>
      <p:sp>
        <p:nvSpPr>
          <p:cNvPr id="2055" name="Text Box 4"/>
          <p:cNvSpPr txBox="1">
            <a:spLocks noChangeArrowheads="1"/>
          </p:cNvSpPr>
          <p:nvPr/>
        </p:nvSpPr>
        <p:spPr bwMode="auto">
          <a:xfrm>
            <a:off x="2057400" y="6131947"/>
            <a:ext cx="777240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1700"/>
              <a:t>* SP in Real-address mode</a:t>
            </a:r>
          </a:p>
        </p:txBody>
      </p:sp>
      <p:graphicFrame>
        <p:nvGraphicFramePr>
          <p:cNvPr id="2050" name="Object 5"/>
          <p:cNvGraphicFramePr>
            <a:graphicFrameLocks noChangeAspect="1"/>
          </p:cNvGraphicFramePr>
          <p:nvPr/>
        </p:nvGraphicFramePr>
        <p:xfrm>
          <a:off x="4038600" y="2855346"/>
          <a:ext cx="3810000" cy="2971800"/>
        </p:xfrm>
        <a:graphic>
          <a:graphicData uri="http://schemas.openxmlformats.org/presentationml/2006/ole">
            <mc:AlternateContent xmlns:mc="http://schemas.openxmlformats.org/markup-compatibility/2006">
              <mc:Choice xmlns:v="urn:schemas-microsoft-com:vml" Requires="v">
                <p:oleObj name="VISIO" r:id="rId2" imgW="2313305" imgH="1504315" progId="Visio.Drawing.6">
                  <p:embed/>
                </p:oleObj>
              </mc:Choice>
              <mc:Fallback>
                <p:oleObj name="VISIO" r:id="rId2" imgW="2313305" imgH="1504315" progId="Visio.Drawing.6">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l="7018" r="5263" b="-4991"/>
                      <a:stretch>
                        <a:fillRect/>
                      </a:stretch>
                    </p:blipFill>
                    <p:spPr bwMode="auto">
                      <a:xfrm>
                        <a:off x="4038600" y="2855346"/>
                        <a:ext cx="3810000" cy="29718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F51B45BB-47DD-4FFE-AFAF-9A1D2EB112A2}"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en-US" altLang="en-US"/>
              <a:t>PUSH Operation</a:t>
            </a:r>
            <a:r>
              <a:rPr lang="en-US" altLang="en-US" sz="2400"/>
              <a:t> (1 of 2)</a:t>
            </a:r>
            <a:endParaRPr lang="en-US" altLang="en-US"/>
          </a:p>
        </p:txBody>
      </p:sp>
      <p:sp>
        <p:nvSpPr>
          <p:cNvPr id="3078" name="Rectangle 3"/>
          <p:cNvSpPr>
            <a:spLocks noGrp="1" noChangeArrowheads="1"/>
          </p:cNvSpPr>
          <p:nvPr>
            <p:ph type="body" idx="1"/>
          </p:nvPr>
        </p:nvSpPr>
        <p:spPr>
          <a:xfrm>
            <a:off x="2209800" y="1591578"/>
            <a:ext cx="7772400" cy="1295400"/>
          </a:xfrm>
        </p:spPr>
        <p:txBody>
          <a:bodyPr/>
          <a:lstStyle/>
          <a:p>
            <a:pPr eaLnBrk="1" hangingPunct="1"/>
            <a:r>
              <a:rPr lang="en-US" altLang="en-US" dirty="0"/>
              <a:t>A 32-bit push operation decrements the stack pointer by 4 and copies a value into the location pointed to by the stack pointer.</a:t>
            </a:r>
          </a:p>
        </p:txBody>
      </p:sp>
      <p:graphicFrame>
        <p:nvGraphicFramePr>
          <p:cNvPr id="3074" name="Object 6"/>
          <p:cNvGraphicFramePr>
            <a:graphicFrameLocks noChangeAspect="1"/>
          </p:cNvGraphicFramePr>
          <p:nvPr/>
        </p:nvGraphicFramePr>
        <p:xfrm>
          <a:off x="2590800" y="3039378"/>
          <a:ext cx="7239000" cy="2768600"/>
        </p:xfrm>
        <a:graphic>
          <a:graphicData uri="http://schemas.openxmlformats.org/presentationml/2006/ole">
            <mc:AlternateContent xmlns:mc="http://schemas.openxmlformats.org/markup-compatibility/2006">
              <mc:Choice xmlns:v="urn:schemas-microsoft-com:vml" Requires="v">
                <p:oleObj name="VISIO" r:id="rId2" imgW="4451350" imgH="1546860" progId="Visio.Drawing.6">
                  <p:embed/>
                </p:oleObj>
              </mc:Choice>
              <mc:Fallback>
                <p:oleObj name="VISIO" r:id="rId2" imgW="4451350" imgH="1546860" progId="Visio.Drawing.6">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l="5556" r="3334"/>
                      <a:stretch>
                        <a:fillRect/>
                      </a:stretch>
                    </p:blipFill>
                    <p:spPr bwMode="auto">
                      <a:xfrm>
                        <a:off x="2590800" y="3039378"/>
                        <a:ext cx="7239000" cy="2768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F51B45BB-47DD-4FFE-AFAF-9A1D2EB112A2}"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lang="en-US" altLang="en-US"/>
              <a:t>PUSH Operation</a:t>
            </a:r>
            <a:r>
              <a:rPr lang="en-US" altLang="en-US" sz="2400"/>
              <a:t> (2 of 2)</a:t>
            </a:r>
            <a:endParaRPr lang="en-US" altLang="en-US"/>
          </a:p>
        </p:txBody>
      </p:sp>
      <p:sp>
        <p:nvSpPr>
          <p:cNvPr id="4102" name="Rectangle 3"/>
          <p:cNvSpPr>
            <a:spLocks noGrp="1" noChangeArrowheads="1"/>
          </p:cNvSpPr>
          <p:nvPr>
            <p:ph type="body" idx="1"/>
          </p:nvPr>
        </p:nvSpPr>
        <p:spPr>
          <a:xfrm>
            <a:off x="2209800" y="1476558"/>
            <a:ext cx="7772400" cy="609600"/>
          </a:xfrm>
        </p:spPr>
        <p:txBody>
          <a:bodyPr/>
          <a:lstStyle/>
          <a:p>
            <a:pPr eaLnBrk="1" hangingPunct="1"/>
            <a:r>
              <a:rPr lang="en-US" altLang="en-US"/>
              <a:t>Same stack after pushing two more integers:</a:t>
            </a:r>
          </a:p>
        </p:txBody>
      </p:sp>
      <p:graphicFrame>
        <p:nvGraphicFramePr>
          <p:cNvPr id="4098" name="Object 5"/>
          <p:cNvGraphicFramePr>
            <a:graphicFrameLocks noChangeAspect="1"/>
          </p:cNvGraphicFramePr>
          <p:nvPr/>
        </p:nvGraphicFramePr>
        <p:xfrm>
          <a:off x="4114800" y="2086158"/>
          <a:ext cx="3733800" cy="2763838"/>
        </p:xfrm>
        <a:graphic>
          <a:graphicData uri="http://schemas.openxmlformats.org/presentationml/2006/ole">
            <mc:AlternateContent xmlns:mc="http://schemas.openxmlformats.org/markup-compatibility/2006">
              <mc:Choice xmlns:v="urn:schemas-microsoft-com:vml" Requires="v">
                <p:oleObj name="VISIO" r:id="rId2" imgW="2392680" imgH="1490345" progId="Visio.Drawing.6">
                  <p:embed/>
                </p:oleObj>
              </mc:Choice>
              <mc:Fallback>
                <p:oleObj name="VISIO" r:id="rId2" imgW="2392680" imgH="1490345" progId="Visio.Drawing.6">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l="9804" r="5882"/>
                      <a:stretch>
                        <a:fillRect/>
                      </a:stretch>
                    </p:blipFill>
                    <p:spPr bwMode="auto">
                      <a:xfrm>
                        <a:off x="4114800" y="2086158"/>
                        <a:ext cx="3733800" cy="27638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3" name="Text Box 6"/>
          <p:cNvSpPr txBox="1">
            <a:spLocks noChangeArrowheads="1"/>
          </p:cNvSpPr>
          <p:nvPr/>
        </p:nvSpPr>
        <p:spPr bwMode="auto">
          <a:xfrm>
            <a:off x="2438400" y="5134158"/>
            <a:ext cx="7315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stack grows downward. The area below ESP is always available (unless the stack has overflowed).</a:t>
            </a:r>
          </a:p>
        </p:txBody>
      </p:sp>
      <p:sp>
        <p:nvSpPr>
          <p:cNvPr id="2" name="Slide Number Placeholder 1"/>
          <p:cNvSpPr>
            <a:spLocks noGrp="1"/>
          </p:cNvSpPr>
          <p:nvPr>
            <p:ph type="sldNum" sz="quarter" idx="12"/>
          </p:nvPr>
        </p:nvSpPr>
        <p:spPr/>
        <p:txBody>
          <a:bodyPr/>
          <a:lstStyle/>
          <a:p>
            <a:fld id="{F51B45BB-47DD-4FFE-AFAF-9A1D2EB112A2}"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en-US" altLang="en-US"/>
              <a:t>POP Operation</a:t>
            </a:r>
          </a:p>
        </p:txBody>
      </p:sp>
      <p:sp>
        <p:nvSpPr>
          <p:cNvPr id="5126" name="Rectangle 3"/>
          <p:cNvSpPr>
            <a:spLocks noGrp="1" noChangeArrowheads="1"/>
          </p:cNvSpPr>
          <p:nvPr>
            <p:ph type="body" idx="1"/>
          </p:nvPr>
        </p:nvSpPr>
        <p:spPr>
          <a:xfrm>
            <a:off x="2362200" y="1511064"/>
            <a:ext cx="7543800" cy="1524000"/>
          </a:xfrm>
        </p:spPr>
        <p:txBody>
          <a:bodyPr/>
          <a:lstStyle/>
          <a:p>
            <a:pPr eaLnBrk="1" hangingPunct="1"/>
            <a:r>
              <a:rPr lang="en-US" altLang="en-US" sz="2000" dirty="0"/>
              <a:t>Copies value at stack[ESP] into a register or variable.</a:t>
            </a:r>
          </a:p>
          <a:p>
            <a:pPr eaLnBrk="1" hangingPunct="1"/>
            <a:r>
              <a:rPr lang="en-US" altLang="en-US" sz="2000" dirty="0"/>
              <a:t>Adds </a:t>
            </a:r>
            <a:r>
              <a:rPr lang="en-US" altLang="en-US" sz="2000" i="1" dirty="0"/>
              <a:t>n</a:t>
            </a:r>
            <a:r>
              <a:rPr lang="en-US" altLang="en-US" sz="2000" dirty="0"/>
              <a:t> to ESP, where </a:t>
            </a:r>
            <a:r>
              <a:rPr lang="en-US" altLang="en-US" sz="2000" i="1" dirty="0"/>
              <a:t>n</a:t>
            </a:r>
            <a:r>
              <a:rPr lang="en-US" altLang="en-US" sz="2000" dirty="0"/>
              <a:t> is either 2 or 4.</a:t>
            </a:r>
          </a:p>
          <a:p>
            <a:pPr lvl="1" eaLnBrk="1" hangingPunct="1"/>
            <a:r>
              <a:rPr lang="en-US" altLang="en-US" sz="1800" dirty="0"/>
              <a:t>value of </a:t>
            </a:r>
            <a:r>
              <a:rPr lang="en-US" altLang="en-US" sz="1800" i="1" dirty="0"/>
              <a:t>n</a:t>
            </a:r>
            <a:r>
              <a:rPr lang="en-US" altLang="en-US" sz="1800" dirty="0"/>
              <a:t> depends on the attribute of the operand receiving the data</a:t>
            </a:r>
          </a:p>
        </p:txBody>
      </p:sp>
      <p:graphicFrame>
        <p:nvGraphicFramePr>
          <p:cNvPr id="5122" name="Object 4"/>
          <p:cNvGraphicFramePr>
            <a:graphicFrameLocks noChangeAspect="1"/>
          </p:cNvGraphicFramePr>
          <p:nvPr/>
        </p:nvGraphicFramePr>
        <p:xfrm>
          <a:off x="2667000" y="3187464"/>
          <a:ext cx="6705600" cy="2667000"/>
        </p:xfrm>
        <a:graphic>
          <a:graphicData uri="http://schemas.openxmlformats.org/presentationml/2006/ole">
            <mc:AlternateContent xmlns:mc="http://schemas.openxmlformats.org/markup-compatibility/2006">
              <mc:Choice xmlns:v="urn:schemas-microsoft-com:vml" Requires="v">
                <p:oleObj name="VISIO" r:id="rId2" imgW="4509770" imgH="1589405" progId="Visio.Drawing.6">
                  <p:embed/>
                </p:oleObj>
              </mc:Choice>
              <mc:Fallback>
                <p:oleObj name="VISIO" r:id="rId2" imgW="4509770" imgH="1589405"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6061" r="5051"/>
                      <a:stretch>
                        <a:fillRect/>
                      </a:stretch>
                    </p:blipFill>
                    <p:spPr bwMode="auto">
                      <a:xfrm>
                        <a:off x="2667000" y="3187464"/>
                        <a:ext cx="6705600" cy="2667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F51B45BB-47DD-4FFE-AFAF-9A1D2EB112A2}"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defRPr/>
            </a:pPr>
            <a:r>
              <a:rPr lang="en-US" altLang="en-US"/>
              <a:t>PUSH and POP Instructions</a:t>
            </a:r>
          </a:p>
        </p:txBody>
      </p:sp>
      <p:sp>
        <p:nvSpPr>
          <p:cNvPr id="15365" name="Rectangle 3"/>
          <p:cNvSpPr>
            <a:spLocks noGrp="1" noChangeArrowheads="1"/>
          </p:cNvSpPr>
          <p:nvPr>
            <p:ph type="body" idx="1"/>
          </p:nvPr>
        </p:nvSpPr>
        <p:spPr>
          <a:xfrm>
            <a:off x="3886200" y="1705158"/>
            <a:ext cx="4572000" cy="3352800"/>
          </a:xfrm>
        </p:spPr>
        <p:txBody>
          <a:bodyPr/>
          <a:lstStyle/>
          <a:p>
            <a:pPr eaLnBrk="1" hangingPunct="1"/>
            <a:r>
              <a:rPr lang="en-US" altLang="en-US" dirty="0"/>
              <a:t>PUSH syntax:</a:t>
            </a:r>
          </a:p>
          <a:p>
            <a:pPr lvl="1" eaLnBrk="1" hangingPunct="1"/>
            <a:r>
              <a:rPr lang="en-US" altLang="en-US" dirty="0"/>
              <a:t>PUSH </a:t>
            </a:r>
            <a:r>
              <a:rPr lang="en-US" altLang="en-US" i="1" dirty="0"/>
              <a:t>r/m16</a:t>
            </a:r>
            <a:r>
              <a:rPr lang="en-US" altLang="en-US" dirty="0"/>
              <a:t>		</a:t>
            </a:r>
          </a:p>
          <a:p>
            <a:pPr lvl="1" eaLnBrk="1" hangingPunct="1"/>
            <a:r>
              <a:rPr lang="en-US" altLang="en-US" dirty="0"/>
              <a:t>PUSH </a:t>
            </a:r>
            <a:r>
              <a:rPr lang="en-US" altLang="en-US" i="1" dirty="0"/>
              <a:t>r/m32</a:t>
            </a:r>
          </a:p>
          <a:p>
            <a:pPr lvl="1" eaLnBrk="1" hangingPunct="1"/>
            <a:r>
              <a:rPr lang="en-US" altLang="en-US" dirty="0"/>
              <a:t>PUSH </a:t>
            </a:r>
            <a:r>
              <a:rPr lang="en-US" altLang="en-US" i="1" dirty="0"/>
              <a:t>imm32</a:t>
            </a:r>
          </a:p>
          <a:p>
            <a:pPr eaLnBrk="1" hangingPunct="1"/>
            <a:r>
              <a:rPr lang="en-US" altLang="en-US" dirty="0"/>
              <a:t>POP syntax:</a:t>
            </a:r>
          </a:p>
          <a:p>
            <a:pPr lvl="1" eaLnBrk="1" hangingPunct="1"/>
            <a:r>
              <a:rPr lang="en-US" altLang="en-US" dirty="0"/>
              <a:t>POP </a:t>
            </a:r>
            <a:r>
              <a:rPr lang="en-US" altLang="en-US" i="1" dirty="0"/>
              <a:t>r/m16</a:t>
            </a:r>
            <a:r>
              <a:rPr lang="en-US" altLang="en-US" dirty="0"/>
              <a:t>		</a:t>
            </a:r>
          </a:p>
          <a:p>
            <a:pPr lvl="1" eaLnBrk="1" hangingPunct="1"/>
            <a:r>
              <a:rPr lang="en-US" altLang="en-US" dirty="0"/>
              <a:t>POP </a:t>
            </a:r>
            <a:r>
              <a:rPr lang="en-US" altLang="en-US" i="1" dirty="0"/>
              <a:t>r/m32</a:t>
            </a:r>
            <a:endParaRPr lang="en-US" altLang="en-US" dirty="0"/>
          </a:p>
        </p:txBody>
      </p:sp>
      <p:sp>
        <p:nvSpPr>
          <p:cNvPr id="2" name="Slide Number Placeholder 1"/>
          <p:cNvSpPr>
            <a:spLocks noGrp="1"/>
          </p:cNvSpPr>
          <p:nvPr>
            <p:ph type="sldNum" sz="quarter" idx="12"/>
          </p:nvPr>
        </p:nvSpPr>
        <p:spPr/>
        <p:txBody>
          <a:bodyPr/>
          <a:lstStyle/>
          <a:p>
            <a:fld id="{F51B45BB-47DD-4FFE-AFAF-9A1D2EB112A2}"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en-US" altLang="en-US"/>
              <a:t>Using PUSH and POP</a:t>
            </a:r>
          </a:p>
        </p:txBody>
      </p:sp>
      <p:sp>
        <p:nvSpPr>
          <p:cNvPr id="16389" name="Text Box 3"/>
          <p:cNvSpPr txBox="1">
            <a:spLocks noChangeArrowheads="1"/>
          </p:cNvSpPr>
          <p:nvPr/>
        </p:nvSpPr>
        <p:spPr bwMode="auto">
          <a:xfrm>
            <a:off x="2286000" y="2534733"/>
            <a:ext cx="75438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push esi		; push registers</a:t>
            </a:r>
          </a:p>
          <a:p>
            <a:pPr eaLnBrk="1" hangingPunct="1">
              <a:lnSpc>
                <a:spcPct val="50000"/>
              </a:lnSpc>
              <a:spcBef>
                <a:spcPct val="50000"/>
              </a:spcBef>
            </a:pPr>
            <a:r>
              <a:rPr lang="en-US" altLang="en-US" sz="1800" b="1">
                <a:latin typeface="Courier New" panose="02070609020205020404" pitchFamily="49" charset="0"/>
              </a:rPr>
              <a:t>push ecx</a:t>
            </a:r>
          </a:p>
          <a:p>
            <a:pPr eaLnBrk="1" hangingPunct="1">
              <a:lnSpc>
                <a:spcPct val="50000"/>
              </a:lnSpc>
              <a:spcBef>
                <a:spcPct val="50000"/>
              </a:spcBef>
            </a:pPr>
            <a:r>
              <a:rPr lang="en-US" altLang="en-US" sz="1800" b="1">
                <a:latin typeface="Courier New" panose="02070609020205020404" pitchFamily="49" charset="0"/>
              </a:rPr>
              <a:t>push ebx</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mov  esi,OFFSET dwordVal 		; display some memory</a:t>
            </a:r>
          </a:p>
          <a:p>
            <a:pPr eaLnBrk="1" hangingPunct="1">
              <a:lnSpc>
                <a:spcPct val="50000"/>
              </a:lnSpc>
              <a:spcBef>
                <a:spcPct val="50000"/>
              </a:spcBef>
            </a:pPr>
            <a:r>
              <a:rPr lang="en-US" altLang="en-US" sz="1800" b="1">
                <a:latin typeface="Courier New" panose="02070609020205020404" pitchFamily="49" charset="0"/>
              </a:rPr>
              <a:t>mov  ecx,LENGTHOF dwordVal</a:t>
            </a:r>
          </a:p>
          <a:p>
            <a:pPr eaLnBrk="1" hangingPunct="1">
              <a:lnSpc>
                <a:spcPct val="50000"/>
              </a:lnSpc>
              <a:spcBef>
                <a:spcPct val="50000"/>
              </a:spcBef>
            </a:pPr>
            <a:r>
              <a:rPr lang="en-US" altLang="en-US" sz="1800" b="1">
                <a:latin typeface="Courier New" panose="02070609020205020404" pitchFamily="49" charset="0"/>
              </a:rPr>
              <a:t>mov  ebx,TYPE dwordVal</a:t>
            </a:r>
          </a:p>
          <a:p>
            <a:pPr eaLnBrk="1" hangingPunct="1">
              <a:lnSpc>
                <a:spcPct val="50000"/>
              </a:lnSpc>
              <a:spcBef>
                <a:spcPct val="50000"/>
              </a:spcBef>
            </a:pPr>
            <a:r>
              <a:rPr lang="en-US" altLang="en-US" sz="1800" b="1">
                <a:latin typeface="Courier New" panose="02070609020205020404" pitchFamily="49" charset="0"/>
              </a:rPr>
              <a:t>call DumpMem</a:t>
            </a:r>
          </a:p>
          <a:p>
            <a:pPr eaLnBrk="1" hangingPunct="1">
              <a:lnSpc>
                <a:spcPct val="50000"/>
              </a:lnSpc>
              <a:spcBef>
                <a:spcPct val="50000"/>
              </a:spcBef>
            </a:pPr>
            <a:endParaRPr lang="en-US" altLang="en-US" sz="1800" b="1">
              <a:latin typeface="Courier New" panose="02070609020205020404" pitchFamily="49" charset="0"/>
            </a:endParaRPr>
          </a:p>
          <a:p>
            <a:pPr eaLnBrk="1" hangingPunct="1">
              <a:lnSpc>
                <a:spcPct val="50000"/>
              </a:lnSpc>
              <a:spcBef>
                <a:spcPct val="50000"/>
              </a:spcBef>
            </a:pPr>
            <a:r>
              <a:rPr lang="en-US" altLang="en-US" sz="1800" b="1">
                <a:latin typeface="Courier New" panose="02070609020205020404" pitchFamily="49" charset="0"/>
              </a:rPr>
              <a:t>pop  ebx		; restore registers</a:t>
            </a:r>
          </a:p>
          <a:p>
            <a:pPr eaLnBrk="1" hangingPunct="1">
              <a:lnSpc>
                <a:spcPct val="50000"/>
              </a:lnSpc>
              <a:spcBef>
                <a:spcPct val="50000"/>
              </a:spcBef>
            </a:pPr>
            <a:r>
              <a:rPr lang="en-US" altLang="en-US" sz="1800" b="1">
                <a:latin typeface="Courier New" panose="02070609020205020404" pitchFamily="49" charset="0"/>
              </a:rPr>
              <a:t>pop  ecx</a:t>
            </a:r>
          </a:p>
          <a:p>
            <a:pPr eaLnBrk="1" hangingPunct="1">
              <a:lnSpc>
                <a:spcPct val="50000"/>
              </a:lnSpc>
              <a:spcBef>
                <a:spcPct val="50000"/>
              </a:spcBef>
            </a:pPr>
            <a:r>
              <a:rPr lang="en-US" altLang="en-US" sz="1800" b="1">
                <a:latin typeface="Courier New" panose="02070609020205020404" pitchFamily="49" charset="0"/>
              </a:rPr>
              <a:t>pop  esi</a:t>
            </a:r>
          </a:p>
        </p:txBody>
      </p:sp>
      <p:sp>
        <p:nvSpPr>
          <p:cNvPr id="16390" name="Text Box 4"/>
          <p:cNvSpPr txBox="1">
            <a:spLocks noChangeArrowheads="1"/>
          </p:cNvSpPr>
          <p:nvPr/>
        </p:nvSpPr>
        <p:spPr bwMode="auto">
          <a:xfrm>
            <a:off x="2209800" y="1544133"/>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Save and restore registers when they contain important values. PUSH and POP instructions occur in the opposite order.</a:t>
            </a:r>
          </a:p>
        </p:txBody>
      </p:sp>
      <p:sp>
        <p:nvSpPr>
          <p:cNvPr id="2" name="Slide Number Placeholder 1"/>
          <p:cNvSpPr>
            <a:spLocks noGrp="1"/>
          </p:cNvSpPr>
          <p:nvPr>
            <p:ph type="sldNum" sz="quarter" idx="12"/>
          </p:nvPr>
        </p:nvSpPr>
        <p:spPr/>
        <p:txBody>
          <a:bodyPr/>
          <a:lstStyle/>
          <a:p>
            <a:fld id="{F51B45BB-47DD-4FFE-AFAF-9A1D2EB112A2}"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defRPr/>
            </a:pPr>
            <a:r>
              <a:rPr lang="en-US" altLang="en-US"/>
              <a:t>Example: Nested Loop</a:t>
            </a:r>
          </a:p>
        </p:txBody>
      </p:sp>
      <p:sp>
        <p:nvSpPr>
          <p:cNvPr id="17413" name="Text Box 3"/>
          <p:cNvSpPr txBox="1">
            <a:spLocks noChangeArrowheads="1"/>
          </p:cNvSpPr>
          <p:nvPr/>
        </p:nvSpPr>
        <p:spPr bwMode="auto">
          <a:xfrm>
            <a:off x="2362200" y="2570676"/>
            <a:ext cx="73152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143250" algn="l"/>
              </a:tabLst>
              <a:defRPr sz="2100">
                <a:solidFill>
                  <a:schemeClr val="tx1"/>
                </a:solidFill>
                <a:latin typeface="Arial" panose="020B0704020202020204" pitchFamily="34" charset="0"/>
              </a:defRPr>
            </a:lvl1pPr>
            <a:lvl2pPr marL="742950" indent="-285750" eaLnBrk="0" hangingPunct="0">
              <a:tabLst>
                <a:tab pos="457200" algn="l"/>
                <a:tab pos="3143250" algn="l"/>
              </a:tabLst>
              <a:defRPr sz="2100">
                <a:solidFill>
                  <a:schemeClr val="tx1"/>
                </a:solidFill>
                <a:latin typeface="Arial" panose="020B0704020202020204" pitchFamily="34" charset="0"/>
              </a:defRPr>
            </a:lvl2pPr>
            <a:lvl3pPr marL="1143000" indent="-228600" eaLnBrk="0" hangingPunct="0">
              <a:tabLst>
                <a:tab pos="457200" algn="l"/>
                <a:tab pos="3143250" algn="l"/>
              </a:tabLst>
              <a:defRPr sz="2100">
                <a:solidFill>
                  <a:schemeClr val="tx1"/>
                </a:solidFill>
                <a:latin typeface="Arial" panose="020B0704020202020204" pitchFamily="34" charset="0"/>
              </a:defRPr>
            </a:lvl3pPr>
            <a:lvl4pPr marL="1600200" indent="-228600" eaLnBrk="0" hangingPunct="0">
              <a:tabLst>
                <a:tab pos="457200" algn="l"/>
                <a:tab pos="3143250" algn="l"/>
              </a:tabLst>
              <a:defRPr sz="2100">
                <a:solidFill>
                  <a:schemeClr val="tx1"/>
                </a:solidFill>
                <a:latin typeface="Arial" panose="020B0704020202020204" pitchFamily="34" charset="0"/>
              </a:defRPr>
            </a:lvl4pPr>
            <a:lvl5pPr marL="2057400" indent="-228600" eaLnBrk="0" hangingPunct="0">
              <a:tabLst>
                <a:tab pos="457200" algn="l"/>
                <a:tab pos="314325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14325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14325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14325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14325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ecx,100	; set outer loop count</a:t>
            </a:r>
          </a:p>
          <a:p>
            <a:pPr eaLnBrk="1" hangingPunct="1">
              <a:lnSpc>
                <a:spcPct val="50000"/>
              </a:lnSpc>
              <a:spcBef>
                <a:spcPct val="50000"/>
              </a:spcBef>
            </a:pPr>
            <a:r>
              <a:rPr lang="en-US" altLang="en-US" sz="1800" b="1" dirty="0">
                <a:latin typeface="Courier New" panose="02070609020205020404" pitchFamily="49" charset="0"/>
              </a:rPr>
              <a:t>L1:		; begin the outer loop</a:t>
            </a: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a:solidFill>
                  <a:schemeClr val="tx2"/>
                </a:solidFill>
                <a:latin typeface="Courier New" panose="02070609020205020404" pitchFamily="49" charset="0"/>
              </a:rPr>
              <a:t>push </a:t>
            </a:r>
            <a:r>
              <a:rPr lang="en-US" altLang="en-US" sz="1800" b="1" dirty="0" err="1">
                <a:solidFill>
                  <a:schemeClr val="tx2"/>
                </a:solidFill>
                <a:latin typeface="Courier New" panose="02070609020205020404" pitchFamily="49" charset="0"/>
              </a:rPr>
              <a:t>ecx</a:t>
            </a:r>
            <a:r>
              <a:rPr lang="en-US" altLang="en-US" sz="1800" b="1" dirty="0">
                <a:solidFill>
                  <a:schemeClr val="tx2"/>
                </a:solidFill>
                <a:latin typeface="Courier New" panose="02070609020205020404" pitchFamily="49" charset="0"/>
              </a:rPr>
              <a:t>	; save outer loop count</a:t>
            </a:r>
          </a:p>
          <a:p>
            <a:pPr eaLnBrk="1" hangingPunct="1">
              <a:lnSpc>
                <a:spcPct val="50000"/>
              </a:lnSpc>
              <a:spcBef>
                <a:spcPct val="50000"/>
              </a:spcBef>
            </a:pPr>
            <a:endParaRPr lang="en-US" altLang="en-US" sz="1800" b="1" dirty="0">
              <a:solidFill>
                <a:schemeClr val="tx2"/>
              </a:solidFill>
              <a:latin typeface="Courier New" panose="02070609020205020404" pitchFamily="49" charset="0"/>
            </a:endParaRP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err="1">
                <a:latin typeface="Courier New" panose="02070609020205020404" pitchFamily="49" charset="0"/>
              </a:rPr>
              <a:t>mov</a:t>
            </a:r>
            <a:r>
              <a:rPr lang="en-US" altLang="en-US" sz="1800" b="1" dirty="0">
                <a:latin typeface="Courier New" panose="02070609020205020404" pitchFamily="49" charset="0"/>
              </a:rPr>
              <a:t> ecx,20	; set inner loop count</a:t>
            </a:r>
          </a:p>
          <a:p>
            <a:pPr eaLnBrk="1" hangingPunct="1">
              <a:lnSpc>
                <a:spcPct val="50000"/>
              </a:lnSpc>
              <a:spcBef>
                <a:spcPct val="50000"/>
              </a:spcBef>
            </a:pPr>
            <a:r>
              <a:rPr lang="en-US" altLang="en-US" sz="1800" b="1" dirty="0">
                <a:latin typeface="Courier New" panose="02070609020205020404" pitchFamily="49" charset="0"/>
              </a:rPr>
              <a:t>L2:		; begin the inner loop</a:t>
            </a:r>
          </a:p>
          <a:p>
            <a:pPr eaLnBrk="1" hangingPunct="1">
              <a:lnSpc>
                <a:spcPct val="50000"/>
              </a:lnSpc>
              <a:spcBef>
                <a:spcPct val="50000"/>
              </a:spcBef>
            </a:pPr>
            <a:r>
              <a:rPr lang="en-US" altLang="en-US" sz="1800" b="1" dirty="0">
                <a:latin typeface="Courier New" panose="02070609020205020404" pitchFamily="49" charset="0"/>
              </a:rPr>
              <a:t>	;</a:t>
            </a:r>
          </a:p>
          <a:p>
            <a:pPr eaLnBrk="1" hangingPunct="1">
              <a:lnSpc>
                <a:spcPct val="50000"/>
              </a:lnSpc>
              <a:spcBef>
                <a:spcPct val="50000"/>
              </a:spcBef>
            </a:pPr>
            <a:r>
              <a:rPr lang="en-US" altLang="en-US" sz="1800" b="1" dirty="0">
                <a:latin typeface="Courier New" panose="02070609020205020404" pitchFamily="49" charset="0"/>
              </a:rPr>
              <a:t>	;</a:t>
            </a:r>
          </a:p>
          <a:p>
            <a:pPr eaLnBrk="1" hangingPunct="1">
              <a:lnSpc>
                <a:spcPct val="50000"/>
              </a:lnSpc>
              <a:spcBef>
                <a:spcPct val="50000"/>
              </a:spcBef>
            </a:pPr>
            <a:r>
              <a:rPr lang="en-US" altLang="en-US" sz="1800" b="1" dirty="0">
                <a:latin typeface="Courier New" panose="02070609020205020404" pitchFamily="49" charset="0"/>
              </a:rPr>
              <a:t>	loop L2	; repeat the inner loop</a:t>
            </a:r>
          </a:p>
          <a:p>
            <a:pPr eaLnBrk="1" hangingPunct="1">
              <a:lnSpc>
                <a:spcPct val="50000"/>
              </a:lnSpc>
              <a:spcBef>
                <a:spcPct val="50000"/>
              </a:spcBef>
            </a:pPr>
            <a:endParaRPr lang="en-US" altLang="en-US" sz="1800" b="1" dirty="0">
              <a:latin typeface="Courier New" panose="02070609020205020404" pitchFamily="49" charset="0"/>
            </a:endParaRPr>
          </a:p>
          <a:p>
            <a:pPr eaLnBrk="1" hangingPunct="1">
              <a:lnSpc>
                <a:spcPct val="50000"/>
              </a:lnSpc>
              <a:spcBef>
                <a:spcPct val="50000"/>
              </a:spcBef>
            </a:pPr>
            <a:r>
              <a:rPr lang="en-US" altLang="en-US" sz="1800" b="1" dirty="0">
                <a:latin typeface="Courier New" panose="02070609020205020404" pitchFamily="49" charset="0"/>
              </a:rPr>
              <a:t>	</a:t>
            </a:r>
            <a:r>
              <a:rPr lang="en-US" altLang="en-US" sz="1800" b="1" dirty="0">
                <a:solidFill>
                  <a:schemeClr val="tx2"/>
                </a:solidFill>
                <a:latin typeface="Courier New" panose="02070609020205020404" pitchFamily="49" charset="0"/>
              </a:rPr>
              <a:t>pop </a:t>
            </a:r>
            <a:r>
              <a:rPr lang="en-US" altLang="en-US" sz="1800" b="1" dirty="0" err="1">
                <a:solidFill>
                  <a:schemeClr val="tx2"/>
                </a:solidFill>
                <a:latin typeface="Courier New" panose="02070609020205020404" pitchFamily="49" charset="0"/>
              </a:rPr>
              <a:t>ecx</a:t>
            </a:r>
            <a:r>
              <a:rPr lang="en-US" altLang="en-US" sz="1800" b="1" dirty="0">
                <a:solidFill>
                  <a:schemeClr val="tx2"/>
                </a:solidFill>
                <a:latin typeface="Courier New" panose="02070609020205020404" pitchFamily="49" charset="0"/>
              </a:rPr>
              <a:t>	; restore outer loop count</a:t>
            </a:r>
          </a:p>
          <a:p>
            <a:pPr eaLnBrk="1" hangingPunct="1">
              <a:lnSpc>
                <a:spcPct val="50000"/>
              </a:lnSpc>
              <a:spcBef>
                <a:spcPct val="50000"/>
              </a:spcBef>
            </a:pPr>
            <a:r>
              <a:rPr lang="en-US" altLang="en-US" sz="1800" b="1" dirty="0">
                <a:latin typeface="Courier New" panose="02070609020205020404" pitchFamily="49" charset="0"/>
              </a:rPr>
              <a:t>	loop L1	; repeat the outer loop</a:t>
            </a:r>
          </a:p>
        </p:txBody>
      </p:sp>
      <p:sp>
        <p:nvSpPr>
          <p:cNvPr id="17414" name="Text Box 4"/>
          <p:cNvSpPr txBox="1">
            <a:spLocks noChangeArrowheads="1"/>
          </p:cNvSpPr>
          <p:nvPr/>
        </p:nvSpPr>
        <p:spPr bwMode="auto">
          <a:xfrm>
            <a:off x="2209800" y="1503876"/>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When creating a nested loop, push the outer loop counter before entering the inner loop:</a:t>
            </a:r>
          </a:p>
        </p:txBody>
      </p:sp>
      <p:sp>
        <p:nvSpPr>
          <p:cNvPr id="2" name="Rectangle 1"/>
          <p:cNvSpPr/>
          <p:nvPr/>
        </p:nvSpPr>
        <p:spPr>
          <a:xfrm>
            <a:off x="2209800" y="3634596"/>
            <a:ext cx="7181491" cy="17022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F51B45BB-47DD-4FFE-AFAF-9A1D2EB112A2}"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defRPr/>
            </a:pPr>
            <a:r>
              <a:rPr lang="en-US" altLang="en-US"/>
              <a:t>TEST Instruction</a:t>
            </a:r>
          </a:p>
        </p:txBody>
      </p:sp>
      <p:sp>
        <p:nvSpPr>
          <p:cNvPr id="22533" name="Rectangle 3"/>
          <p:cNvSpPr>
            <a:spLocks noGrp="1" noChangeArrowheads="1"/>
          </p:cNvSpPr>
          <p:nvPr>
            <p:ph type="body" idx="1"/>
          </p:nvPr>
        </p:nvSpPr>
        <p:spPr>
          <a:xfrm>
            <a:off x="2209800" y="1551321"/>
            <a:ext cx="7772400" cy="1676400"/>
          </a:xfrm>
        </p:spPr>
        <p:txBody>
          <a:bodyPr/>
          <a:lstStyle/>
          <a:p>
            <a:pPr eaLnBrk="1" hangingPunct="1"/>
            <a:r>
              <a:rPr lang="en-US" altLang="en-US" sz="2000" dirty="0"/>
              <a:t>Performs a nondestructive AND operation between each pair of matching bits in two operands</a:t>
            </a:r>
          </a:p>
          <a:p>
            <a:pPr eaLnBrk="1" hangingPunct="1"/>
            <a:r>
              <a:rPr lang="en-US" altLang="en-US" sz="2000" dirty="0"/>
              <a:t>No operands are modified, but the Zero flag is affected.</a:t>
            </a:r>
          </a:p>
          <a:p>
            <a:pPr eaLnBrk="1" hangingPunct="1"/>
            <a:r>
              <a:rPr lang="en-US" altLang="en-US" sz="2000" dirty="0"/>
              <a:t>Example: jump to a label if either bit 0 or bit 1 in AL is set.</a:t>
            </a:r>
          </a:p>
        </p:txBody>
      </p:sp>
      <p:sp>
        <p:nvSpPr>
          <p:cNvPr id="22534" name="Text Box 8"/>
          <p:cNvSpPr txBox="1">
            <a:spLocks noChangeArrowheads="1"/>
          </p:cNvSpPr>
          <p:nvPr/>
        </p:nvSpPr>
        <p:spPr bwMode="auto">
          <a:xfrm>
            <a:off x="3657600" y="3151521"/>
            <a:ext cx="381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test al,00000011b</a:t>
            </a:r>
          </a:p>
          <a:p>
            <a:pPr eaLnBrk="1" hangingPunct="1">
              <a:lnSpc>
                <a:spcPct val="50000"/>
              </a:lnSpc>
              <a:spcBef>
                <a:spcPct val="50000"/>
              </a:spcBef>
            </a:pPr>
            <a:r>
              <a:rPr lang="en-US" altLang="en-US" sz="1800" b="1">
                <a:latin typeface="Courier New" panose="02070609020205020404" pitchFamily="49" charset="0"/>
              </a:rPr>
              <a:t>jnz  ValueFound</a:t>
            </a:r>
          </a:p>
        </p:txBody>
      </p:sp>
      <p:sp>
        <p:nvSpPr>
          <p:cNvPr id="22535" name="Rectangle 9"/>
          <p:cNvSpPr>
            <a:spLocks noChangeArrowheads="1"/>
          </p:cNvSpPr>
          <p:nvPr/>
        </p:nvSpPr>
        <p:spPr bwMode="auto">
          <a:xfrm>
            <a:off x="2209800" y="4218321"/>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20000"/>
              </a:spcBef>
              <a:buClr>
                <a:schemeClr val="tx1"/>
              </a:buClr>
              <a:buFontTx/>
              <a:buChar char="•"/>
            </a:pPr>
            <a:r>
              <a:rPr lang="en-US" altLang="en-US" sz="2000"/>
              <a:t>Example: jump to a label if neither bit 0 nor bit 1 in AL is set.</a:t>
            </a:r>
          </a:p>
        </p:txBody>
      </p:sp>
      <p:sp>
        <p:nvSpPr>
          <p:cNvPr id="22536" name="Text Box 10"/>
          <p:cNvSpPr txBox="1">
            <a:spLocks noChangeArrowheads="1"/>
          </p:cNvSpPr>
          <p:nvPr/>
        </p:nvSpPr>
        <p:spPr bwMode="auto">
          <a:xfrm>
            <a:off x="3657600" y="4751721"/>
            <a:ext cx="381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test al,00000011b</a:t>
            </a:r>
          </a:p>
          <a:p>
            <a:pPr eaLnBrk="1" hangingPunct="1">
              <a:lnSpc>
                <a:spcPct val="50000"/>
              </a:lnSpc>
              <a:spcBef>
                <a:spcPct val="50000"/>
              </a:spcBef>
            </a:pPr>
            <a:r>
              <a:rPr lang="en-US" altLang="en-US" sz="1800" b="1">
                <a:latin typeface="Courier New" panose="02070609020205020404" pitchFamily="49" charset="0"/>
              </a:rPr>
              <a:t>jz   ValueNotFound</a:t>
            </a:r>
          </a:p>
        </p:txBody>
      </p:sp>
      <p:sp>
        <p:nvSpPr>
          <p:cNvPr id="2" name="Slide Number Placeholder 1"/>
          <p:cNvSpPr>
            <a:spLocks noGrp="1"/>
          </p:cNvSpPr>
          <p:nvPr>
            <p:ph type="sldNum" sz="quarter" idx="12"/>
          </p:nvPr>
        </p:nvSpPr>
        <p:spPr/>
        <p:txBody>
          <a:bodyPr/>
          <a:lstStyle/>
          <a:p>
            <a:fld id="{F51B45BB-47DD-4FFE-AFAF-9A1D2EB112A2}"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26"/>
          <p:cNvSpPr>
            <a:spLocks noGrp="1" noChangeArrowheads="1"/>
          </p:cNvSpPr>
          <p:nvPr>
            <p:ph type="title"/>
          </p:nvPr>
        </p:nvSpPr>
        <p:spPr/>
        <p:txBody>
          <a:bodyPr/>
          <a:lstStyle/>
          <a:p>
            <a:pPr eaLnBrk="1" hangingPunct="1">
              <a:defRPr/>
            </a:pPr>
            <a:r>
              <a:rPr lang="en-US" altLang="en-US"/>
              <a:t>CMP Instruction </a:t>
            </a:r>
            <a:r>
              <a:rPr lang="en-US" altLang="en-US" sz="2400"/>
              <a:t> (1 of 3)</a:t>
            </a:r>
          </a:p>
        </p:txBody>
      </p:sp>
      <p:sp>
        <p:nvSpPr>
          <p:cNvPr id="23557" name="Rectangle 1027"/>
          <p:cNvSpPr>
            <a:spLocks noGrp="1" noChangeArrowheads="1"/>
          </p:cNvSpPr>
          <p:nvPr>
            <p:ph type="body" idx="1"/>
          </p:nvPr>
        </p:nvSpPr>
        <p:spPr>
          <a:xfrm>
            <a:off x="2209800" y="1557072"/>
            <a:ext cx="7772400" cy="1676400"/>
          </a:xfrm>
        </p:spPr>
        <p:txBody>
          <a:bodyPr>
            <a:normAutofit lnSpcReduction="10000"/>
          </a:bodyPr>
          <a:lstStyle/>
          <a:p>
            <a:pPr eaLnBrk="1" hangingPunct="1">
              <a:lnSpc>
                <a:spcPct val="90000"/>
              </a:lnSpc>
            </a:pPr>
            <a:r>
              <a:rPr lang="en-US" altLang="en-US" sz="2000" dirty="0"/>
              <a:t>Compares the destination operand to the source operand</a:t>
            </a:r>
          </a:p>
          <a:p>
            <a:pPr lvl="1" eaLnBrk="1" hangingPunct="1">
              <a:lnSpc>
                <a:spcPct val="90000"/>
              </a:lnSpc>
            </a:pPr>
            <a:r>
              <a:rPr lang="en-US" altLang="en-US" sz="1800" dirty="0"/>
              <a:t>Nondestructive subtraction of source from destination (destination operand is not changed)</a:t>
            </a:r>
          </a:p>
          <a:p>
            <a:pPr eaLnBrk="1" hangingPunct="1">
              <a:lnSpc>
                <a:spcPct val="90000"/>
              </a:lnSpc>
            </a:pPr>
            <a:r>
              <a:rPr lang="en-US" altLang="en-US" sz="2000" dirty="0"/>
              <a:t>Syntax: </a:t>
            </a:r>
            <a:r>
              <a:rPr lang="en-US" altLang="en-US" sz="2000" dirty="0">
                <a:solidFill>
                  <a:schemeClr val="tx2"/>
                </a:solidFill>
              </a:rPr>
              <a:t>CMP </a:t>
            </a:r>
            <a:r>
              <a:rPr lang="en-US" altLang="en-US" sz="2000" i="1" dirty="0">
                <a:solidFill>
                  <a:schemeClr val="tx2"/>
                </a:solidFill>
              </a:rPr>
              <a:t>destination, source</a:t>
            </a:r>
          </a:p>
          <a:p>
            <a:pPr eaLnBrk="1" hangingPunct="1">
              <a:lnSpc>
                <a:spcPct val="90000"/>
              </a:lnSpc>
            </a:pPr>
            <a:r>
              <a:rPr lang="en-US" altLang="en-US" sz="2000" dirty="0"/>
              <a:t>Example: destination == source</a:t>
            </a:r>
          </a:p>
        </p:txBody>
      </p:sp>
      <p:sp>
        <p:nvSpPr>
          <p:cNvPr id="23558" name="Text Box 1028"/>
          <p:cNvSpPr txBox="1">
            <a:spLocks noChangeArrowheads="1"/>
          </p:cNvSpPr>
          <p:nvPr/>
        </p:nvSpPr>
        <p:spPr bwMode="auto">
          <a:xfrm>
            <a:off x="3048000" y="3309672"/>
            <a:ext cx="6096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200400" algn="l"/>
                <a:tab pos="4114800" algn="l"/>
              </a:tabLst>
              <a:defRPr sz="2100">
                <a:solidFill>
                  <a:schemeClr val="tx1"/>
                </a:solidFill>
                <a:latin typeface="Arial" panose="020B0704020202020204" pitchFamily="34" charset="0"/>
              </a:defRPr>
            </a:lvl1pPr>
            <a:lvl2pPr marL="742950" indent="-285750" eaLnBrk="0" hangingPunct="0">
              <a:tabLst>
                <a:tab pos="457200" algn="l"/>
                <a:tab pos="3200400" algn="l"/>
                <a:tab pos="4114800" algn="l"/>
              </a:tabLst>
              <a:defRPr sz="2100">
                <a:solidFill>
                  <a:schemeClr val="tx1"/>
                </a:solidFill>
                <a:latin typeface="Arial" panose="020B0704020202020204" pitchFamily="34" charset="0"/>
              </a:defRPr>
            </a:lvl2pPr>
            <a:lvl3pPr marL="1143000" indent="-228600" eaLnBrk="0" hangingPunct="0">
              <a:tabLst>
                <a:tab pos="457200" algn="l"/>
                <a:tab pos="3200400" algn="l"/>
                <a:tab pos="4114800" algn="l"/>
              </a:tabLst>
              <a:defRPr sz="2100">
                <a:solidFill>
                  <a:schemeClr val="tx1"/>
                </a:solidFill>
                <a:latin typeface="Arial" panose="020B0704020202020204" pitchFamily="34" charset="0"/>
              </a:defRPr>
            </a:lvl3pPr>
            <a:lvl4pPr marL="1600200" indent="-228600" eaLnBrk="0" hangingPunct="0">
              <a:tabLst>
                <a:tab pos="457200" algn="l"/>
                <a:tab pos="3200400" algn="l"/>
                <a:tab pos="4114800" algn="l"/>
              </a:tabLst>
              <a:defRPr sz="2100">
                <a:solidFill>
                  <a:schemeClr val="tx1"/>
                </a:solidFill>
                <a:latin typeface="Arial" panose="020B0704020202020204" pitchFamily="34" charset="0"/>
              </a:defRPr>
            </a:lvl4pPr>
            <a:lvl5pPr marL="2057400" indent="-228600" eaLnBrk="0" hangingPunct="0">
              <a:tabLst>
                <a:tab pos="457200" algn="l"/>
                <a:tab pos="32004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al,5</a:t>
            </a:r>
          </a:p>
          <a:p>
            <a:pPr eaLnBrk="1" hangingPunct="1">
              <a:lnSpc>
                <a:spcPct val="50000"/>
              </a:lnSpc>
              <a:spcBef>
                <a:spcPct val="50000"/>
              </a:spcBef>
            </a:pPr>
            <a:r>
              <a:rPr lang="en-US" altLang="en-US" sz="1800" b="1">
                <a:latin typeface="Courier New" panose="02070609020205020404" pitchFamily="49" charset="0"/>
              </a:rPr>
              <a:t>cmp al,5	; Zero flag set</a:t>
            </a:r>
          </a:p>
        </p:txBody>
      </p:sp>
      <p:grpSp>
        <p:nvGrpSpPr>
          <p:cNvPr id="23559" name="Group 1033"/>
          <p:cNvGrpSpPr/>
          <p:nvPr/>
        </p:nvGrpSpPr>
        <p:grpSpPr bwMode="auto">
          <a:xfrm>
            <a:off x="2209800" y="4605072"/>
            <a:ext cx="7772400" cy="1447800"/>
            <a:chOff x="432" y="2640"/>
            <a:chExt cx="4896" cy="912"/>
          </a:xfrm>
        </p:grpSpPr>
        <p:sp>
          <p:nvSpPr>
            <p:cNvPr id="23560" name="Rectangle 1029"/>
            <p:cNvSpPr>
              <a:spLocks noChangeArrowheads="1"/>
            </p:cNvSpPr>
            <p:nvPr/>
          </p:nvSpPr>
          <p:spPr bwMode="auto">
            <a:xfrm>
              <a:off x="432" y="2640"/>
              <a:ext cx="48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20000"/>
                </a:spcBef>
                <a:buClr>
                  <a:schemeClr val="tx1"/>
                </a:buClr>
                <a:buFontTx/>
                <a:buChar char="•"/>
              </a:pPr>
              <a:r>
                <a:rPr lang="en-US" altLang="en-US" sz="2000"/>
                <a:t>Example: destination &lt; source</a:t>
              </a:r>
            </a:p>
          </p:txBody>
        </p:sp>
        <p:sp>
          <p:nvSpPr>
            <p:cNvPr id="23561" name="Text Box 1031"/>
            <p:cNvSpPr txBox="1">
              <a:spLocks noChangeArrowheads="1"/>
            </p:cNvSpPr>
            <p:nvPr/>
          </p:nvSpPr>
          <p:spPr bwMode="auto">
            <a:xfrm>
              <a:off x="960" y="3024"/>
              <a:ext cx="3840"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200400" algn="l"/>
                  <a:tab pos="4114800" algn="l"/>
                </a:tabLst>
                <a:defRPr sz="2100">
                  <a:solidFill>
                    <a:schemeClr val="tx1"/>
                  </a:solidFill>
                  <a:latin typeface="Arial" panose="020B0704020202020204" pitchFamily="34" charset="0"/>
                </a:defRPr>
              </a:lvl1pPr>
              <a:lvl2pPr marL="742950" indent="-285750" eaLnBrk="0" hangingPunct="0">
                <a:tabLst>
                  <a:tab pos="457200" algn="l"/>
                  <a:tab pos="3200400" algn="l"/>
                  <a:tab pos="4114800" algn="l"/>
                </a:tabLst>
                <a:defRPr sz="2100">
                  <a:solidFill>
                    <a:schemeClr val="tx1"/>
                  </a:solidFill>
                  <a:latin typeface="Arial" panose="020B0704020202020204" pitchFamily="34" charset="0"/>
                </a:defRPr>
              </a:lvl2pPr>
              <a:lvl3pPr marL="1143000" indent="-228600" eaLnBrk="0" hangingPunct="0">
                <a:tabLst>
                  <a:tab pos="457200" algn="l"/>
                  <a:tab pos="3200400" algn="l"/>
                  <a:tab pos="4114800" algn="l"/>
                </a:tabLst>
                <a:defRPr sz="2100">
                  <a:solidFill>
                    <a:schemeClr val="tx1"/>
                  </a:solidFill>
                  <a:latin typeface="Arial" panose="020B0704020202020204" pitchFamily="34" charset="0"/>
                </a:defRPr>
              </a:lvl3pPr>
              <a:lvl4pPr marL="1600200" indent="-228600" eaLnBrk="0" hangingPunct="0">
                <a:tabLst>
                  <a:tab pos="457200" algn="l"/>
                  <a:tab pos="3200400" algn="l"/>
                  <a:tab pos="4114800" algn="l"/>
                </a:tabLst>
                <a:defRPr sz="2100">
                  <a:solidFill>
                    <a:schemeClr val="tx1"/>
                  </a:solidFill>
                  <a:latin typeface="Arial" panose="020B0704020202020204" pitchFamily="34" charset="0"/>
                </a:defRPr>
              </a:lvl4pPr>
              <a:lvl5pPr marL="2057400" indent="-228600" eaLnBrk="0" hangingPunct="0">
                <a:tabLst>
                  <a:tab pos="457200" algn="l"/>
                  <a:tab pos="32004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al,4</a:t>
              </a:r>
            </a:p>
            <a:p>
              <a:pPr eaLnBrk="1" hangingPunct="1">
                <a:lnSpc>
                  <a:spcPct val="50000"/>
                </a:lnSpc>
                <a:spcBef>
                  <a:spcPct val="50000"/>
                </a:spcBef>
              </a:pPr>
              <a:r>
                <a:rPr lang="en-US" altLang="en-US" sz="1800" b="1">
                  <a:latin typeface="Courier New" panose="02070609020205020404" pitchFamily="49" charset="0"/>
                </a:rPr>
                <a:t>cmp al,5	; Carry flag set</a:t>
              </a:r>
            </a:p>
          </p:txBody>
        </p:sp>
      </p:grpSp>
      <p:sp>
        <p:nvSpPr>
          <p:cNvPr id="2" name="Slide Number Placeholder 1"/>
          <p:cNvSpPr>
            <a:spLocks noGrp="1"/>
          </p:cNvSpPr>
          <p:nvPr>
            <p:ph type="sldNum" sz="quarter" idx="12"/>
          </p:nvPr>
        </p:nvSpPr>
        <p:spPr/>
        <p:txBody>
          <a:bodyPr/>
          <a:lstStyle/>
          <a:p>
            <a:fld id="{F51B45BB-47DD-4FFE-AFAF-9A1D2EB112A2}"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en-US" altLang="en-US"/>
              <a:t>CMP Instruction </a:t>
            </a:r>
            <a:r>
              <a:rPr lang="en-US" altLang="en-US" sz="2400"/>
              <a:t> (2 of 3)</a:t>
            </a:r>
          </a:p>
        </p:txBody>
      </p:sp>
      <p:sp>
        <p:nvSpPr>
          <p:cNvPr id="24581" name="Rectangle 3"/>
          <p:cNvSpPr>
            <a:spLocks noGrp="1" noChangeArrowheads="1"/>
          </p:cNvSpPr>
          <p:nvPr>
            <p:ph type="body" idx="1"/>
          </p:nvPr>
        </p:nvSpPr>
        <p:spPr>
          <a:xfrm>
            <a:off x="2209800" y="1974017"/>
            <a:ext cx="6172200" cy="609600"/>
          </a:xfrm>
        </p:spPr>
        <p:txBody>
          <a:bodyPr/>
          <a:lstStyle/>
          <a:p>
            <a:pPr eaLnBrk="1" hangingPunct="1"/>
            <a:r>
              <a:rPr lang="en-US" altLang="en-US" sz="2000" dirty="0"/>
              <a:t>Example: destination &gt; source</a:t>
            </a:r>
          </a:p>
        </p:txBody>
      </p:sp>
      <p:sp>
        <p:nvSpPr>
          <p:cNvPr id="24582" name="Text Box 4"/>
          <p:cNvSpPr txBox="1">
            <a:spLocks noChangeArrowheads="1"/>
          </p:cNvSpPr>
          <p:nvPr/>
        </p:nvSpPr>
        <p:spPr bwMode="auto">
          <a:xfrm>
            <a:off x="3048000" y="2583617"/>
            <a:ext cx="6096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200400" algn="l"/>
                <a:tab pos="4114800" algn="l"/>
              </a:tabLst>
              <a:defRPr sz="2100">
                <a:solidFill>
                  <a:schemeClr val="tx1"/>
                </a:solidFill>
                <a:latin typeface="Arial" panose="020B0704020202020204" pitchFamily="34" charset="0"/>
              </a:defRPr>
            </a:lvl1pPr>
            <a:lvl2pPr marL="742950" indent="-285750" eaLnBrk="0" hangingPunct="0">
              <a:tabLst>
                <a:tab pos="457200" algn="l"/>
                <a:tab pos="3200400" algn="l"/>
                <a:tab pos="4114800" algn="l"/>
              </a:tabLst>
              <a:defRPr sz="2100">
                <a:solidFill>
                  <a:schemeClr val="tx1"/>
                </a:solidFill>
                <a:latin typeface="Arial" panose="020B0704020202020204" pitchFamily="34" charset="0"/>
              </a:defRPr>
            </a:lvl2pPr>
            <a:lvl3pPr marL="1143000" indent="-228600" eaLnBrk="0" hangingPunct="0">
              <a:tabLst>
                <a:tab pos="457200" algn="l"/>
                <a:tab pos="3200400" algn="l"/>
                <a:tab pos="4114800" algn="l"/>
              </a:tabLst>
              <a:defRPr sz="2100">
                <a:solidFill>
                  <a:schemeClr val="tx1"/>
                </a:solidFill>
                <a:latin typeface="Arial" panose="020B0704020202020204" pitchFamily="34" charset="0"/>
              </a:defRPr>
            </a:lvl3pPr>
            <a:lvl4pPr marL="1600200" indent="-228600" eaLnBrk="0" hangingPunct="0">
              <a:tabLst>
                <a:tab pos="457200" algn="l"/>
                <a:tab pos="3200400" algn="l"/>
                <a:tab pos="4114800" algn="l"/>
              </a:tabLst>
              <a:defRPr sz="2100">
                <a:solidFill>
                  <a:schemeClr val="tx1"/>
                </a:solidFill>
                <a:latin typeface="Arial" panose="020B0704020202020204" pitchFamily="34" charset="0"/>
              </a:defRPr>
            </a:lvl4pPr>
            <a:lvl5pPr marL="2057400" indent="-228600" eaLnBrk="0" hangingPunct="0">
              <a:tabLst>
                <a:tab pos="457200" algn="l"/>
                <a:tab pos="32004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2004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al,6</a:t>
            </a:r>
          </a:p>
          <a:p>
            <a:pPr eaLnBrk="1" hangingPunct="1">
              <a:lnSpc>
                <a:spcPct val="50000"/>
              </a:lnSpc>
              <a:spcBef>
                <a:spcPct val="50000"/>
              </a:spcBef>
            </a:pPr>
            <a:r>
              <a:rPr lang="en-US" altLang="en-US" sz="1800" b="1">
                <a:latin typeface="Courier New" panose="02070609020205020404" pitchFamily="49" charset="0"/>
              </a:rPr>
              <a:t>cmp al,5	; ZF = 0, CF = 0</a:t>
            </a:r>
          </a:p>
        </p:txBody>
      </p:sp>
      <p:sp>
        <p:nvSpPr>
          <p:cNvPr id="24583" name="Rectangle 5"/>
          <p:cNvSpPr>
            <a:spLocks noChangeArrowheads="1"/>
          </p:cNvSpPr>
          <p:nvPr/>
        </p:nvSpPr>
        <p:spPr bwMode="auto">
          <a:xfrm>
            <a:off x="3200400" y="3726617"/>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20000"/>
              </a:spcBef>
              <a:buClr>
                <a:schemeClr val="tx1"/>
              </a:buClr>
            </a:pPr>
            <a:r>
              <a:rPr lang="en-US" altLang="en-US" sz="2000"/>
              <a:t>(both the Zero and Carry flags are clear)</a:t>
            </a:r>
          </a:p>
        </p:txBody>
      </p:sp>
      <p:sp>
        <p:nvSpPr>
          <p:cNvPr id="2" name="Slide Number Placeholder 1"/>
          <p:cNvSpPr>
            <a:spLocks noGrp="1"/>
          </p:cNvSpPr>
          <p:nvPr>
            <p:ph type="sldNum" sz="quarter" idx="12"/>
          </p:nvPr>
        </p:nvSpPr>
        <p:spPr/>
        <p:txBody>
          <a:bodyPr/>
          <a:lstStyle/>
          <a:p>
            <a:fld id="{F51B45BB-47DD-4FFE-AFAF-9A1D2EB112A2}"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defRPr/>
            </a:pPr>
            <a:r>
              <a:rPr lang="en-US" altLang="en-US"/>
              <a:t>CMP Instruction </a:t>
            </a:r>
            <a:r>
              <a:rPr lang="en-US" altLang="en-US" sz="2400"/>
              <a:t> (3 of 3)</a:t>
            </a:r>
          </a:p>
        </p:txBody>
      </p:sp>
      <p:sp>
        <p:nvSpPr>
          <p:cNvPr id="25605" name="Rectangle 3"/>
          <p:cNvSpPr>
            <a:spLocks noGrp="1" noChangeArrowheads="1"/>
          </p:cNvSpPr>
          <p:nvPr>
            <p:ph type="body" idx="1"/>
          </p:nvPr>
        </p:nvSpPr>
        <p:spPr>
          <a:xfrm>
            <a:off x="2209800" y="2695758"/>
            <a:ext cx="6172200" cy="609600"/>
          </a:xfrm>
        </p:spPr>
        <p:txBody>
          <a:bodyPr/>
          <a:lstStyle/>
          <a:p>
            <a:pPr eaLnBrk="1" hangingPunct="1"/>
            <a:r>
              <a:rPr lang="en-US" altLang="en-US" sz="2000"/>
              <a:t>Example: destination &gt; source</a:t>
            </a:r>
          </a:p>
        </p:txBody>
      </p:sp>
      <p:sp>
        <p:nvSpPr>
          <p:cNvPr id="25606" name="Text Box 4"/>
          <p:cNvSpPr txBox="1">
            <a:spLocks noChangeArrowheads="1"/>
          </p:cNvSpPr>
          <p:nvPr/>
        </p:nvSpPr>
        <p:spPr bwMode="auto">
          <a:xfrm>
            <a:off x="2667000" y="3152958"/>
            <a:ext cx="6858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2743200" algn="l"/>
                <a:tab pos="4114800" algn="l"/>
              </a:tabLst>
              <a:defRPr sz="2100">
                <a:solidFill>
                  <a:schemeClr val="tx1"/>
                </a:solidFill>
                <a:latin typeface="Arial" panose="020B0704020202020204" pitchFamily="34" charset="0"/>
              </a:defRPr>
            </a:lvl1pPr>
            <a:lvl2pPr marL="742950" indent="-285750" eaLnBrk="0" hangingPunct="0">
              <a:tabLst>
                <a:tab pos="457200" algn="l"/>
                <a:tab pos="2743200" algn="l"/>
                <a:tab pos="4114800" algn="l"/>
              </a:tabLst>
              <a:defRPr sz="2100">
                <a:solidFill>
                  <a:schemeClr val="tx1"/>
                </a:solidFill>
                <a:latin typeface="Arial" panose="020B0704020202020204" pitchFamily="34" charset="0"/>
              </a:defRPr>
            </a:lvl2pPr>
            <a:lvl3pPr marL="1143000" indent="-228600" eaLnBrk="0" hangingPunct="0">
              <a:tabLst>
                <a:tab pos="457200" algn="l"/>
                <a:tab pos="2743200" algn="l"/>
                <a:tab pos="4114800" algn="l"/>
              </a:tabLst>
              <a:defRPr sz="2100">
                <a:solidFill>
                  <a:schemeClr val="tx1"/>
                </a:solidFill>
                <a:latin typeface="Arial" panose="020B0704020202020204" pitchFamily="34" charset="0"/>
              </a:defRPr>
            </a:lvl3pPr>
            <a:lvl4pPr marL="1600200" indent="-228600" eaLnBrk="0" hangingPunct="0">
              <a:tabLst>
                <a:tab pos="457200" algn="l"/>
                <a:tab pos="2743200" algn="l"/>
                <a:tab pos="4114800" algn="l"/>
              </a:tabLst>
              <a:defRPr sz="2100">
                <a:solidFill>
                  <a:schemeClr val="tx1"/>
                </a:solidFill>
                <a:latin typeface="Arial" panose="020B0704020202020204" pitchFamily="34" charset="0"/>
              </a:defRPr>
            </a:lvl4pPr>
            <a:lvl5pPr marL="2057400" indent="-228600" eaLnBrk="0" hangingPunct="0">
              <a:tabLst>
                <a:tab pos="457200" algn="l"/>
                <a:tab pos="2743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al,5</a:t>
            </a:r>
          </a:p>
          <a:p>
            <a:pPr eaLnBrk="1" hangingPunct="1">
              <a:lnSpc>
                <a:spcPct val="50000"/>
              </a:lnSpc>
              <a:spcBef>
                <a:spcPct val="50000"/>
              </a:spcBef>
            </a:pPr>
            <a:r>
              <a:rPr lang="en-US" altLang="en-US" sz="1800" b="1">
                <a:latin typeface="Courier New" panose="02070609020205020404" pitchFamily="49" charset="0"/>
              </a:rPr>
              <a:t>cmp al,-2	; Sign flag == Overflow flag</a:t>
            </a:r>
          </a:p>
        </p:txBody>
      </p:sp>
      <p:sp>
        <p:nvSpPr>
          <p:cNvPr id="25607" name="Text Box 6"/>
          <p:cNvSpPr txBox="1">
            <a:spLocks noChangeArrowheads="1"/>
          </p:cNvSpPr>
          <p:nvPr/>
        </p:nvSpPr>
        <p:spPr bwMode="auto">
          <a:xfrm>
            <a:off x="2590800" y="1476558"/>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The comparisons shown here are performed with signed integers.</a:t>
            </a:r>
          </a:p>
        </p:txBody>
      </p:sp>
      <p:sp>
        <p:nvSpPr>
          <p:cNvPr id="25608" name="Rectangle 7"/>
          <p:cNvSpPr>
            <a:spLocks noChangeArrowheads="1"/>
          </p:cNvSpPr>
          <p:nvPr/>
        </p:nvSpPr>
        <p:spPr bwMode="auto">
          <a:xfrm>
            <a:off x="2209800" y="4295958"/>
            <a:ext cx="6172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20000"/>
              </a:spcBef>
              <a:buClr>
                <a:schemeClr val="tx1"/>
              </a:buClr>
              <a:buFontTx/>
              <a:buChar char="•"/>
            </a:pPr>
            <a:r>
              <a:rPr lang="en-US" altLang="en-US" sz="2000"/>
              <a:t>Example: destination &lt; source</a:t>
            </a:r>
          </a:p>
        </p:txBody>
      </p:sp>
      <p:sp>
        <p:nvSpPr>
          <p:cNvPr id="25609" name="Text Box 8"/>
          <p:cNvSpPr txBox="1">
            <a:spLocks noChangeArrowheads="1"/>
          </p:cNvSpPr>
          <p:nvPr/>
        </p:nvSpPr>
        <p:spPr bwMode="auto">
          <a:xfrm>
            <a:off x="2667000" y="4753158"/>
            <a:ext cx="6858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2743200" algn="l"/>
                <a:tab pos="4114800" algn="l"/>
              </a:tabLst>
              <a:defRPr sz="2100">
                <a:solidFill>
                  <a:schemeClr val="tx1"/>
                </a:solidFill>
                <a:latin typeface="Arial" panose="020B0704020202020204" pitchFamily="34" charset="0"/>
              </a:defRPr>
            </a:lvl1pPr>
            <a:lvl2pPr marL="742950" indent="-285750" eaLnBrk="0" hangingPunct="0">
              <a:tabLst>
                <a:tab pos="457200" algn="l"/>
                <a:tab pos="2743200" algn="l"/>
                <a:tab pos="4114800" algn="l"/>
              </a:tabLst>
              <a:defRPr sz="2100">
                <a:solidFill>
                  <a:schemeClr val="tx1"/>
                </a:solidFill>
                <a:latin typeface="Arial" panose="020B0704020202020204" pitchFamily="34" charset="0"/>
              </a:defRPr>
            </a:lvl2pPr>
            <a:lvl3pPr marL="1143000" indent="-228600" eaLnBrk="0" hangingPunct="0">
              <a:tabLst>
                <a:tab pos="457200" algn="l"/>
                <a:tab pos="2743200" algn="l"/>
                <a:tab pos="4114800" algn="l"/>
              </a:tabLst>
              <a:defRPr sz="2100">
                <a:solidFill>
                  <a:schemeClr val="tx1"/>
                </a:solidFill>
                <a:latin typeface="Arial" panose="020B0704020202020204" pitchFamily="34" charset="0"/>
              </a:defRPr>
            </a:lvl3pPr>
            <a:lvl4pPr marL="1600200" indent="-228600" eaLnBrk="0" hangingPunct="0">
              <a:tabLst>
                <a:tab pos="457200" algn="l"/>
                <a:tab pos="2743200" algn="l"/>
                <a:tab pos="4114800" algn="l"/>
              </a:tabLst>
              <a:defRPr sz="2100">
                <a:solidFill>
                  <a:schemeClr val="tx1"/>
                </a:solidFill>
                <a:latin typeface="Arial" panose="020B0704020202020204" pitchFamily="34" charset="0"/>
              </a:defRPr>
            </a:lvl4pPr>
            <a:lvl5pPr marL="2057400" indent="-228600" eaLnBrk="0" hangingPunct="0">
              <a:tabLst>
                <a:tab pos="457200" algn="l"/>
                <a:tab pos="2743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743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mov al,-1</a:t>
            </a:r>
          </a:p>
          <a:p>
            <a:pPr eaLnBrk="1" hangingPunct="1">
              <a:lnSpc>
                <a:spcPct val="50000"/>
              </a:lnSpc>
              <a:spcBef>
                <a:spcPct val="50000"/>
              </a:spcBef>
            </a:pPr>
            <a:r>
              <a:rPr lang="en-US" altLang="en-US" sz="1800" b="1">
                <a:latin typeface="Courier New" panose="02070609020205020404" pitchFamily="49" charset="0"/>
              </a:rPr>
              <a:t>cmp al,5	; Sign flag </a:t>
            </a:r>
            <a:r>
              <a:rPr lang="en-US" altLang="en-US" sz="1800" b="1">
                <a:latin typeface="Courier New" panose="02070609020205020404" pitchFamily="49" charset="0"/>
                <a:sym typeface="Symbol" panose="05050102010706020507" pitchFamily="18" charset="2"/>
              </a:rPr>
              <a:t>!=</a:t>
            </a:r>
            <a:r>
              <a:rPr lang="en-US" altLang="en-US" sz="1800" b="1">
                <a:latin typeface="Courier New" panose="02070609020205020404" pitchFamily="49" charset="0"/>
              </a:rPr>
              <a:t> Overflow flag</a:t>
            </a:r>
          </a:p>
        </p:txBody>
      </p:sp>
      <p:sp>
        <p:nvSpPr>
          <p:cNvPr id="2" name="Slide Number Placeholder 1"/>
          <p:cNvSpPr>
            <a:spLocks noGrp="1"/>
          </p:cNvSpPr>
          <p:nvPr>
            <p:ph type="sldNum" sz="quarter" idx="12"/>
          </p:nvPr>
        </p:nvSpPr>
        <p:spPr/>
        <p:txBody>
          <a:bodyPr/>
          <a:lstStyle/>
          <a:p>
            <a:fld id="{F51B45BB-47DD-4FFE-AFAF-9A1D2EB112A2}"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defRPr/>
            </a:pPr>
            <a:r>
              <a:rPr lang="en-US" altLang="en-US"/>
              <a:t>Conditional Jumps</a:t>
            </a:r>
          </a:p>
        </p:txBody>
      </p:sp>
      <p:sp>
        <p:nvSpPr>
          <p:cNvPr id="28677" name="Rectangle 3"/>
          <p:cNvSpPr>
            <a:spLocks noGrp="1" noChangeArrowheads="1"/>
          </p:cNvSpPr>
          <p:nvPr>
            <p:ph type="body" idx="1"/>
          </p:nvPr>
        </p:nvSpPr>
        <p:spPr>
          <a:xfrm>
            <a:off x="3048000" y="1800051"/>
            <a:ext cx="6477000" cy="4495800"/>
          </a:xfrm>
        </p:spPr>
        <p:txBody>
          <a:bodyPr/>
          <a:lstStyle/>
          <a:p>
            <a:pPr eaLnBrk="1" hangingPunct="1"/>
            <a:r>
              <a:rPr lang="en-US" altLang="en-US" dirty="0"/>
              <a:t>Jumps Based On . . .</a:t>
            </a:r>
          </a:p>
          <a:p>
            <a:pPr lvl="1" eaLnBrk="1" hangingPunct="1"/>
            <a:r>
              <a:rPr lang="en-US" altLang="en-US" sz="2600" dirty="0"/>
              <a:t>Specific flags</a:t>
            </a:r>
          </a:p>
          <a:p>
            <a:pPr lvl="1" eaLnBrk="1" hangingPunct="1"/>
            <a:r>
              <a:rPr lang="en-US" altLang="en-US" sz="2600" dirty="0"/>
              <a:t>Equality</a:t>
            </a:r>
          </a:p>
          <a:p>
            <a:pPr lvl="1" eaLnBrk="1" hangingPunct="1"/>
            <a:r>
              <a:rPr lang="en-US" altLang="en-US" sz="2600" dirty="0"/>
              <a:t>Unsigned comparisons</a:t>
            </a:r>
          </a:p>
          <a:p>
            <a:pPr lvl="1" eaLnBrk="1" hangingPunct="1"/>
            <a:r>
              <a:rPr lang="en-US" altLang="en-US" sz="2600" dirty="0"/>
              <a:t>Signed Comparisons</a:t>
            </a:r>
          </a:p>
          <a:p>
            <a:pPr eaLnBrk="1" hangingPunct="1"/>
            <a:r>
              <a:rPr lang="en-US" altLang="en-US" dirty="0"/>
              <a:t>Applications</a:t>
            </a:r>
          </a:p>
          <a:p>
            <a:pPr eaLnBrk="1" hangingPunct="1"/>
            <a:r>
              <a:rPr lang="en-US" altLang="en-US" dirty="0"/>
              <a:t>Encrypting a String</a:t>
            </a:r>
          </a:p>
          <a:p>
            <a:pPr eaLnBrk="1" hangingPunct="1"/>
            <a:r>
              <a:rPr lang="en-US" altLang="en-US" dirty="0"/>
              <a:t>Bit Test (BT) Instruction</a:t>
            </a:r>
          </a:p>
        </p:txBody>
      </p:sp>
      <p:sp>
        <p:nvSpPr>
          <p:cNvPr id="2" name="Slide Number Placeholder 1"/>
          <p:cNvSpPr>
            <a:spLocks noGrp="1"/>
          </p:cNvSpPr>
          <p:nvPr>
            <p:ph type="sldNum" sz="quarter" idx="12"/>
          </p:nvPr>
        </p:nvSpPr>
        <p:spPr/>
        <p:txBody>
          <a:bodyPr/>
          <a:lstStyle/>
          <a:p>
            <a:fld id="{F51B45BB-47DD-4FFE-AFAF-9A1D2EB112A2}"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838200" y="365125"/>
            <a:ext cx="10515600" cy="1325563"/>
          </a:xfrm>
        </p:spPr>
        <p:txBody>
          <a:bodyPr/>
          <a:lstStyle/>
          <a:p>
            <a:pPr eaLnBrk="1" hangingPunct="1">
              <a:defRPr/>
            </a:pPr>
            <a:r>
              <a:rPr lang="en-US" altLang="en-US"/>
              <a:t>J</a:t>
            </a:r>
            <a:r>
              <a:rPr lang="en-US" altLang="en-US" sz="2800" i="1"/>
              <a:t>cond</a:t>
            </a:r>
            <a:r>
              <a:rPr lang="en-US" altLang="en-US"/>
              <a:t> Instruction</a:t>
            </a:r>
          </a:p>
        </p:txBody>
      </p:sp>
      <p:sp>
        <p:nvSpPr>
          <p:cNvPr id="29701" name="Rectangle 3"/>
          <p:cNvSpPr>
            <a:spLocks noGrp="1" noChangeArrowheads="1"/>
          </p:cNvSpPr>
          <p:nvPr>
            <p:ph type="body" idx="1"/>
          </p:nvPr>
        </p:nvSpPr>
        <p:spPr>
          <a:xfrm>
            <a:off x="2209800" y="1597329"/>
            <a:ext cx="7772400" cy="4191000"/>
          </a:xfrm>
        </p:spPr>
        <p:txBody>
          <a:bodyPr/>
          <a:lstStyle/>
          <a:p>
            <a:pPr eaLnBrk="1" hangingPunct="1"/>
            <a:r>
              <a:rPr lang="en-US" altLang="en-US" dirty="0"/>
              <a:t>A conditional jump instruction branches to a label when specific register or flag conditions are met</a:t>
            </a:r>
          </a:p>
          <a:p>
            <a:pPr lvl="1" eaLnBrk="1" hangingPunct="1">
              <a:buFontTx/>
              <a:buNone/>
            </a:pPr>
            <a:endParaRPr lang="en-US" altLang="en-US" dirty="0"/>
          </a:p>
          <a:p>
            <a:pPr eaLnBrk="1" hangingPunct="1"/>
            <a:r>
              <a:rPr lang="en-US" altLang="en-US" dirty="0"/>
              <a:t>Specific jumps:</a:t>
            </a:r>
          </a:p>
          <a:p>
            <a:pPr lvl="1" eaLnBrk="1" hangingPunct="1">
              <a:buFontTx/>
              <a:buNone/>
            </a:pPr>
            <a:r>
              <a:rPr lang="en-US" altLang="en-US" dirty="0"/>
              <a:t>JB, JC - jump to a label if the Carry flag is set</a:t>
            </a:r>
          </a:p>
          <a:p>
            <a:pPr lvl="1" eaLnBrk="1" hangingPunct="1">
              <a:buFontTx/>
              <a:buNone/>
            </a:pPr>
            <a:r>
              <a:rPr lang="en-US" altLang="en-US" dirty="0"/>
              <a:t>JE, JZ - jump to a label if the Zero flag is set</a:t>
            </a:r>
          </a:p>
          <a:p>
            <a:pPr lvl="1" eaLnBrk="1" hangingPunct="1">
              <a:buFontTx/>
              <a:buNone/>
            </a:pPr>
            <a:r>
              <a:rPr lang="en-US" altLang="en-US" dirty="0"/>
              <a:t>JS - jump to a label if the Sign flag is set</a:t>
            </a:r>
          </a:p>
          <a:p>
            <a:pPr lvl="1" eaLnBrk="1" hangingPunct="1">
              <a:buFontTx/>
              <a:buNone/>
            </a:pPr>
            <a:r>
              <a:rPr lang="en-US" altLang="en-US" dirty="0"/>
              <a:t>JNE, JNZ - jump to a label if the Zero flag is clear</a:t>
            </a:r>
          </a:p>
          <a:p>
            <a:pPr lvl="1" eaLnBrk="1" hangingPunct="1">
              <a:buFontTx/>
              <a:buNone/>
            </a:pPr>
            <a:r>
              <a:rPr lang="en-US" altLang="en-US" dirty="0"/>
              <a:t>JECXZ - jump to a label if ECX = 0</a:t>
            </a:r>
          </a:p>
        </p:txBody>
      </p:sp>
      <p:sp>
        <p:nvSpPr>
          <p:cNvPr id="2" name="Slide Number Placeholder 1"/>
          <p:cNvSpPr>
            <a:spLocks noGrp="1"/>
          </p:cNvSpPr>
          <p:nvPr>
            <p:ph type="sldNum" sz="quarter" idx="12"/>
          </p:nvPr>
        </p:nvSpPr>
        <p:spPr/>
        <p:txBody>
          <a:bodyPr/>
          <a:lstStyle/>
          <a:p>
            <a:fld id="{F51B45BB-47DD-4FFE-AFAF-9A1D2EB112A2}"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026"/>
          <p:cNvSpPr>
            <a:spLocks noGrp="1" noChangeArrowheads="1"/>
          </p:cNvSpPr>
          <p:nvPr>
            <p:ph type="title"/>
          </p:nvPr>
        </p:nvSpPr>
        <p:spPr/>
        <p:txBody>
          <a:bodyPr/>
          <a:lstStyle/>
          <a:p>
            <a:pPr eaLnBrk="1" hangingPunct="1">
              <a:defRPr/>
            </a:pPr>
            <a:r>
              <a:rPr lang="en-US" altLang="en-US"/>
              <a:t>J</a:t>
            </a:r>
            <a:r>
              <a:rPr lang="en-US" altLang="en-US" sz="2800" i="1"/>
              <a:t>cond</a:t>
            </a:r>
            <a:r>
              <a:rPr lang="en-US" altLang="en-US"/>
              <a:t> Ranges</a:t>
            </a:r>
          </a:p>
        </p:txBody>
      </p:sp>
      <p:sp>
        <p:nvSpPr>
          <p:cNvPr id="30725" name="Rectangle 1027"/>
          <p:cNvSpPr>
            <a:spLocks noGrp="1" noChangeArrowheads="1"/>
          </p:cNvSpPr>
          <p:nvPr>
            <p:ph type="body" idx="1"/>
          </p:nvPr>
        </p:nvSpPr>
        <p:spPr>
          <a:xfrm>
            <a:off x="2209800" y="1873374"/>
            <a:ext cx="7772400" cy="4191000"/>
          </a:xfrm>
        </p:spPr>
        <p:txBody>
          <a:bodyPr/>
          <a:lstStyle/>
          <a:p>
            <a:pPr eaLnBrk="1" hangingPunct="1"/>
            <a:r>
              <a:rPr lang="en-US" altLang="en-US" dirty="0"/>
              <a:t>Prior to the 386:</a:t>
            </a:r>
          </a:p>
          <a:p>
            <a:pPr lvl="1" eaLnBrk="1" hangingPunct="1"/>
            <a:r>
              <a:rPr lang="en-US" altLang="en-US" dirty="0"/>
              <a:t>jump must be within –128 to +127 bytes from current location counter</a:t>
            </a:r>
          </a:p>
          <a:p>
            <a:pPr eaLnBrk="1" hangingPunct="1"/>
            <a:r>
              <a:rPr lang="en-US" altLang="en-US" dirty="0"/>
              <a:t>x86 processors:</a:t>
            </a:r>
          </a:p>
          <a:p>
            <a:pPr lvl="1" eaLnBrk="1" hangingPunct="1"/>
            <a:r>
              <a:rPr lang="en-US" altLang="en-US" dirty="0"/>
              <a:t>32-bit offset permits jump anywhere in memory</a:t>
            </a:r>
          </a:p>
        </p:txBody>
      </p:sp>
      <p:sp>
        <p:nvSpPr>
          <p:cNvPr id="2" name="Slide Number Placeholder 1"/>
          <p:cNvSpPr>
            <a:spLocks noGrp="1"/>
          </p:cNvSpPr>
          <p:nvPr>
            <p:ph type="sldNum" sz="quarter" idx="12"/>
          </p:nvPr>
        </p:nvSpPr>
        <p:spPr/>
        <p:txBody>
          <a:bodyPr/>
          <a:lstStyle/>
          <a:p>
            <a:fld id="{F51B45BB-47DD-4FFE-AFAF-9A1D2EB112A2}"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defRPr/>
            </a:pPr>
            <a:r>
              <a:rPr lang="en-US" altLang="en-US"/>
              <a:t>Jumps Based on Specific Flags</a:t>
            </a:r>
          </a:p>
        </p:txBody>
      </p:sp>
      <p:pic>
        <p:nvPicPr>
          <p:cNvPr id="3174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587264"/>
            <a:ext cx="5486400"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51B45BB-47DD-4FFE-AFAF-9A1D2EB112A2}"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defRPr/>
            </a:pPr>
            <a:r>
              <a:rPr lang="en-US" altLang="en-US"/>
              <a:t>Jumps Based on Equality</a:t>
            </a:r>
          </a:p>
        </p:txBody>
      </p:sp>
      <p:pic>
        <p:nvPicPr>
          <p:cNvPr id="327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626081"/>
            <a:ext cx="4953000"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51B45BB-47DD-4FFE-AFAF-9A1D2EB112A2}"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en-US" altLang="en-US"/>
              <a:t>Jumps Based on Unsigned Comparisons</a:t>
            </a:r>
          </a:p>
        </p:txBody>
      </p:sp>
      <p:pic>
        <p:nvPicPr>
          <p:cNvPr id="3379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679278"/>
            <a:ext cx="6705600"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51B45BB-47DD-4FFE-AFAF-9A1D2EB112A2}"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defRPr/>
            </a:pPr>
            <a:r>
              <a:rPr lang="en-US" altLang="en-US"/>
              <a:t>Jumps Based on Signed Comparisons</a:t>
            </a:r>
          </a:p>
        </p:txBody>
      </p:sp>
      <p:pic>
        <p:nvPicPr>
          <p:cNvPr id="3482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788547"/>
            <a:ext cx="678180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51B45BB-47DD-4FFE-AFAF-9A1D2EB112A2}" type="slidenum">
              <a:rPr lang="en-US" smtClean="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en-US" altLang="en-US"/>
              <a:t>Applications </a:t>
            </a:r>
            <a:r>
              <a:rPr lang="en-US" altLang="en-US" sz="2400"/>
              <a:t> (1 of 5)</a:t>
            </a:r>
          </a:p>
        </p:txBody>
      </p:sp>
      <p:sp>
        <p:nvSpPr>
          <p:cNvPr id="35845" name="Text Box 3"/>
          <p:cNvSpPr txBox="1">
            <a:spLocks noChangeArrowheads="1"/>
          </p:cNvSpPr>
          <p:nvPr/>
        </p:nvSpPr>
        <p:spPr bwMode="auto">
          <a:xfrm>
            <a:off x="3124200" y="2727390"/>
            <a:ext cx="480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marL="742950" indent="-285750"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cmp eax,ebx</a:t>
            </a:r>
          </a:p>
          <a:p>
            <a:pPr eaLnBrk="1" hangingPunct="1">
              <a:lnSpc>
                <a:spcPct val="50000"/>
              </a:lnSpc>
              <a:spcBef>
                <a:spcPct val="50000"/>
              </a:spcBef>
            </a:pPr>
            <a:r>
              <a:rPr lang="en-US" altLang="en-US" sz="1800" b="1">
                <a:latin typeface="Courier New" panose="02070609020205020404" pitchFamily="49" charset="0"/>
              </a:rPr>
              <a:t>ja  Larger</a:t>
            </a:r>
          </a:p>
        </p:txBody>
      </p:sp>
      <p:sp>
        <p:nvSpPr>
          <p:cNvPr id="35846" name="Text Box 4"/>
          <p:cNvSpPr txBox="1">
            <a:spLocks noChangeArrowheads="1"/>
          </p:cNvSpPr>
          <p:nvPr/>
        </p:nvSpPr>
        <p:spPr bwMode="auto">
          <a:xfrm>
            <a:off x="2209800" y="1584390"/>
            <a:ext cx="7696200"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80000"/>
              </a:lnSpc>
              <a:spcBef>
                <a:spcPct val="50000"/>
              </a:spcBef>
              <a:buFontTx/>
              <a:buChar char="•"/>
            </a:pPr>
            <a:r>
              <a:rPr lang="en-US" altLang="en-US" dirty="0"/>
              <a:t>Task: Jump to a label if </a:t>
            </a:r>
            <a:r>
              <a:rPr lang="en-US" altLang="en-US" dirty="0">
                <a:solidFill>
                  <a:schemeClr val="tx2"/>
                </a:solidFill>
              </a:rPr>
              <a:t>unsigned</a:t>
            </a:r>
            <a:r>
              <a:rPr lang="en-US" altLang="en-US" dirty="0"/>
              <a:t> EAX is greater than EBX</a:t>
            </a:r>
          </a:p>
          <a:p>
            <a:pPr eaLnBrk="1" hangingPunct="1">
              <a:spcBef>
                <a:spcPct val="50000"/>
              </a:spcBef>
              <a:buFontTx/>
              <a:buChar char="•"/>
            </a:pPr>
            <a:r>
              <a:rPr lang="en-US" altLang="en-US" dirty="0"/>
              <a:t>Solution: Use CMP, followed by JA</a:t>
            </a:r>
          </a:p>
        </p:txBody>
      </p:sp>
      <p:sp>
        <p:nvSpPr>
          <p:cNvPr id="35847" name="Text Box 5"/>
          <p:cNvSpPr txBox="1">
            <a:spLocks noChangeArrowheads="1"/>
          </p:cNvSpPr>
          <p:nvPr/>
        </p:nvSpPr>
        <p:spPr bwMode="auto">
          <a:xfrm>
            <a:off x="3124200" y="5089590"/>
            <a:ext cx="480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marL="742950" indent="-285750"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cmp eax,ebx</a:t>
            </a:r>
          </a:p>
          <a:p>
            <a:pPr eaLnBrk="1" hangingPunct="1">
              <a:lnSpc>
                <a:spcPct val="50000"/>
              </a:lnSpc>
              <a:spcBef>
                <a:spcPct val="50000"/>
              </a:spcBef>
            </a:pPr>
            <a:r>
              <a:rPr lang="en-US" altLang="en-US" sz="1800" b="1">
                <a:latin typeface="Courier New" panose="02070609020205020404" pitchFamily="49" charset="0"/>
              </a:rPr>
              <a:t>jg  Greater</a:t>
            </a:r>
          </a:p>
        </p:txBody>
      </p:sp>
      <p:sp>
        <p:nvSpPr>
          <p:cNvPr id="35848" name="Text Box 6"/>
          <p:cNvSpPr txBox="1">
            <a:spLocks noChangeArrowheads="1"/>
          </p:cNvSpPr>
          <p:nvPr/>
        </p:nvSpPr>
        <p:spPr bwMode="auto">
          <a:xfrm>
            <a:off x="2209800" y="3946591"/>
            <a:ext cx="7696200" cy="98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70000"/>
              </a:lnSpc>
              <a:spcBef>
                <a:spcPct val="50000"/>
              </a:spcBef>
              <a:buFontTx/>
              <a:buChar char="•"/>
            </a:pPr>
            <a:r>
              <a:rPr lang="en-US" altLang="en-US"/>
              <a:t>Task: Jump to a label if </a:t>
            </a:r>
            <a:r>
              <a:rPr lang="en-US" altLang="en-US">
                <a:solidFill>
                  <a:schemeClr val="tx2"/>
                </a:solidFill>
              </a:rPr>
              <a:t>signed</a:t>
            </a:r>
            <a:r>
              <a:rPr lang="en-US" altLang="en-US"/>
              <a:t> EAX is greater than EBX</a:t>
            </a:r>
          </a:p>
          <a:p>
            <a:pPr eaLnBrk="1" hangingPunct="1">
              <a:spcBef>
                <a:spcPct val="50000"/>
              </a:spcBef>
              <a:buFontTx/>
              <a:buChar char="•"/>
            </a:pPr>
            <a:r>
              <a:rPr lang="en-US" altLang="en-US"/>
              <a:t>Solution: Use CMP, followed by JG</a:t>
            </a:r>
          </a:p>
        </p:txBody>
      </p:sp>
      <p:sp>
        <p:nvSpPr>
          <p:cNvPr id="2" name="Slide Number Placeholder 1"/>
          <p:cNvSpPr>
            <a:spLocks noGrp="1"/>
          </p:cNvSpPr>
          <p:nvPr>
            <p:ph type="sldNum" sz="quarter" idx="12"/>
          </p:nvPr>
        </p:nvSpPr>
        <p:spPr/>
        <p:txBody>
          <a:bodyPr/>
          <a:lstStyle/>
          <a:p>
            <a:fld id="{F51B45BB-47DD-4FFE-AFAF-9A1D2EB112A2}" type="slidenum">
              <a:rPr lang="en-US" smtClean="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lang="en-US" altLang="en-US"/>
              <a:t>Applications </a:t>
            </a:r>
            <a:r>
              <a:rPr lang="en-US" altLang="en-US" sz="2400"/>
              <a:t> (2 of 5)</a:t>
            </a:r>
          </a:p>
        </p:txBody>
      </p:sp>
      <p:grpSp>
        <p:nvGrpSpPr>
          <p:cNvPr id="36869" name="Group 10"/>
          <p:cNvGrpSpPr/>
          <p:nvPr/>
        </p:nvGrpSpPr>
        <p:grpSpPr bwMode="auto">
          <a:xfrm>
            <a:off x="2209800" y="1784235"/>
            <a:ext cx="7696200" cy="1600200"/>
            <a:chOff x="432" y="816"/>
            <a:chExt cx="4848" cy="1008"/>
          </a:xfrm>
        </p:grpSpPr>
        <p:sp>
          <p:nvSpPr>
            <p:cNvPr id="36873" name="Text Box 4"/>
            <p:cNvSpPr txBox="1">
              <a:spLocks noChangeArrowheads="1"/>
            </p:cNvSpPr>
            <p:nvPr/>
          </p:nvSpPr>
          <p:spPr bwMode="auto">
            <a:xfrm>
              <a:off x="1008" y="1296"/>
              <a:ext cx="3024" cy="52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137160" tIns="182880" rIns="137160" bIns="182880"/>
            <a:lstStyle>
              <a:lvl1pPr eaLnBrk="0" hangingPunct="0">
                <a:tabLst>
                  <a:tab pos="457200" algn="l"/>
                  <a:tab pos="2228850" algn="l"/>
                </a:tabLst>
                <a:defRPr sz="2100">
                  <a:solidFill>
                    <a:schemeClr val="tx1"/>
                  </a:solidFill>
                  <a:latin typeface="Arial" panose="020B0704020202020204" pitchFamily="34" charset="0"/>
                </a:defRPr>
              </a:lvl1pPr>
              <a:lvl2pPr marL="742950" indent="-285750" eaLnBrk="0" hangingPunct="0">
                <a:tabLst>
                  <a:tab pos="457200" algn="l"/>
                  <a:tab pos="2228850" algn="l"/>
                </a:tabLst>
                <a:defRPr sz="2100">
                  <a:solidFill>
                    <a:schemeClr val="tx1"/>
                  </a:solidFill>
                  <a:latin typeface="Arial" panose="020B0704020202020204" pitchFamily="34" charset="0"/>
                </a:defRPr>
              </a:lvl2pPr>
              <a:lvl3pPr marL="1143000" indent="-228600" eaLnBrk="0" hangingPunct="0">
                <a:tabLst>
                  <a:tab pos="457200" algn="l"/>
                  <a:tab pos="2228850" algn="l"/>
                </a:tabLst>
                <a:defRPr sz="2100">
                  <a:solidFill>
                    <a:schemeClr val="tx1"/>
                  </a:solidFill>
                  <a:latin typeface="Arial" panose="020B0704020202020204" pitchFamily="34" charset="0"/>
                </a:defRPr>
              </a:lvl3pPr>
              <a:lvl4pPr marL="1600200" indent="-228600" eaLnBrk="0" hangingPunct="0">
                <a:tabLst>
                  <a:tab pos="457200" algn="l"/>
                  <a:tab pos="2228850" algn="l"/>
                </a:tabLst>
                <a:defRPr sz="2100">
                  <a:solidFill>
                    <a:schemeClr val="tx1"/>
                  </a:solidFill>
                  <a:latin typeface="Arial" panose="020B0704020202020204" pitchFamily="34" charset="0"/>
                </a:defRPr>
              </a:lvl4pPr>
              <a:lvl5pPr marL="2057400" indent="-228600" eaLnBrk="0" hangingPunct="0">
                <a:tabLst>
                  <a:tab pos="457200" algn="l"/>
                  <a:tab pos="222885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222885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222885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222885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222885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cmp eax,Val1</a:t>
              </a:r>
            </a:p>
            <a:p>
              <a:pPr eaLnBrk="1" hangingPunct="1">
                <a:lnSpc>
                  <a:spcPct val="50000"/>
                </a:lnSpc>
                <a:spcBef>
                  <a:spcPct val="50000"/>
                </a:spcBef>
              </a:pPr>
              <a:r>
                <a:rPr lang="en-US" altLang="en-US" sz="1800" b="1">
                  <a:latin typeface="Courier New" panose="02070609020205020404" pitchFamily="49" charset="0"/>
                </a:rPr>
                <a:t>jbe L1	; below or equal</a:t>
              </a:r>
            </a:p>
          </p:txBody>
        </p:sp>
        <p:sp>
          <p:nvSpPr>
            <p:cNvPr id="36874" name="Text Box 5"/>
            <p:cNvSpPr txBox="1">
              <a:spLocks noChangeArrowheads="1"/>
            </p:cNvSpPr>
            <p:nvPr/>
          </p:nvSpPr>
          <p:spPr bwMode="auto">
            <a:xfrm>
              <a:off x="432" y="816"/>
              <a:ext cx="4848"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dirty="0"/>
                <a:t>Jump to label L1 if </a:t>
              </a:r>
              <a:r>
                <a:rPr lang="en-US" altLang="en-US" dirty="0">
                  <a:solidFill>
                    <a:schemeClr val="tx2"/>
                  </a:solidFill>
                </a:rPr>
                <a:t>unsigned</a:t>
              </a:r>
              <a:r>
                <a:rPr lang="en-US" altLang="en-US" dirty="0"/>
                <a:t> EAX is less than or equal to Val1</a:t>
              </a:r>
            </a:p>
          </p:txBody>
        </p:sp>
      </p:grpSp>
      <p:grpSp>
        <p:nvGrpSpPr>
          <p:cNvPr id="3" name="Group 9"/>
          <p:cNvGrpSpPr/>
          <p:nvPr/>
        </p:nvGrpSpPr>
        <p:grpSpPr bwMode="auto">
          <a:xfrm>
            <a:off x="2133600" y="4086111"/>
            <a:ext cx="7696200" cy="1584325"/>
            <a:chOff x="384" y="2266"/>
            <a:chExt cx="4848" cy="998"/>
          </a:xfrm>
        </p:grpSpPr>
        <p:sp>
          <p:nvSpPr>
            <p:cNvPr id="36871" name="Text Box 7"/>
            <p:cNvSpPr txBox="1">
              <a:spLocks noChangeArrowheads="1"/>
            </p:cNvSpPr>
            <p:nvPr/>
          </p:nvSpPr>
          <p:spPr bwMode="auto">
            <a:xfrm>
              <a:off x="1008" y="2736"/>
              <a:ext cx="3024" cy="52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marL="742950" indent="-285750"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cmp eax,Val1</a:t>
              </a:r>
            </a:p>
            <a:p>
              <a:pPr eaLnBrk="1" hangingPunct="1">
                <a:lnSpc>
                  <a:spcPct val="50000"/>
                </a:lnSpc>
                <a:spcBef>
                  <a:spcPct val="50000"/>
                </a:spcBef>
              </a:pPr>
              <a:r>
                <a:rPr lang="en-US" altLang="en-US" sz="1800" b="1">
                  <a:latin typeface="Courier New" panose="02070609020205020404" pitchFamily="49" charset="0"/>
                </a:rPr>
                <a:t>jle L1</a:t>
              </a:r>
            </a:p>
          </p:txBody>
        </p:sp>
        <p:sp>
          <p:nvSpPr>
            <p:cNvPr id="36872" name="Text Box 8"/>
            <p:cNvSpPr txBox="1">
              <a:spLocks noChangeArrowheads="1"/>
            </p:cNvSpPr>
            <p:nvPr/>
          </p:nvSpPr>
          <p:spPr bwMode="auto">
            <a:xfrm>
              <a:off x="384" y="2266"/>
              <a:ext cx="4848"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a:t>Jump to label L1 if </a:t>
              </a:r>
              <a:r>
                <a:rPr lang="en-US" altLang="en-US">
                  <a:solidFill>
                    <a:schemeClr val="tx2"/>
                  </a:solidFill>
                </a:rPr>
                <a:t>signed</a:t>
              </a:r>
              <a:r>
                <a:rPr lang="en-US" altLang="en-US"/>
                <a:t> EAX is less than or equal to Val1</a:t>
              </a:r>
            </a:p>
          </p:txBody>
        </p:sp>
      </p:grpSp>
      <p:sp>
        <p:nvSpPr>
          <p:cNvPr id="2" name="Slide Number Placeholder 1"/>
          <p:cNvSpPr>
            <a:spLocks noGrp="1"/>
          </p:cNvSpPr>
          <p:nvPr>
            <p:ph type="sldNum" sz="quarter" idx="12"/>
          </p:nvPr>
        </p:nvSpPr>
        <p:spPr/>
        <p:txBody>
          <a:bodyPr/>
          <a:lstStyle/>
          <a:p>
            <a:fld id="{F51B45BB-47DD-4FFE-AFAF-9A1D2EB112A2}" type="slidenum">
              <a:rPr lang="en-US" smtClean="0"/>
              <a:t>66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en-US" altLang="en-US"/>
              <a:t>Applications </a:t>
            </a:r>
            <a:r>
              <a:rPr lang="en-US" altLang="en-US" sz="2400"/>
              <a:t> (3 of 5)</a:t>
            </a:r>
          </a:p>
        </p:txBody>
      </p:sp>
      <p:grpSp>
        <p:nvGrpSpPr>
          <p:cNvPr id="37893" name="Group 8"/>
          <p:cNvGrpSpPr/>
          <p:nvPr/>
        </p:nvGrpSpPr>
        <p:grpSpPr bwMode="auto">
          <a:xfrm>
            <a:off x="2209800" y="1357227"/>
            <a:ext cx="7696200" cy="2514600"/>
            <a:chOff x="432" y="576"/>
            <a:chExt cx="4848" cy="1584"/>
          </a:xfrm>
        </p:grpSpPr>
        <p:sp>
          <p:nvSpPr>
            <p:cNvPr id="37897" name="Text Box 3"/>
            <p:cNvSpPr txBox="1">
              <a:spLocks noChangeArrowheads="1"/>
            </p:cNvSpPr>
            <p:nvPr/>
          </p:nvSpPr>
          <p:spPr bwMode="auto">
            <a:xfrm>
              <a:off x="1008" y="1152"/>
              <a:ext cx="3024"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Large,bx</a:t>
              </a:r>
              <a:endParaRPr lang="en-US" altLang="en-US" sz="1800" b="1" dirty="0">
                <a:latin typeface="Courier New" panose="02070609020205020404" pitchFamily="49" charset="0"/>
              </a:endParaRPr>
            </a:p>
            <a:p>
              <a:pPr lvl="1" eaLnBrk="1" hangingPunct="1">
                <a:lnSpc>
                  <a:spcPct val="50000"/>
                </a:lnSpc>
                <a:spcBef>
                  <a:spcPct val="50000"/>
                </a:spcBef>
              </a:pPr>
              <a:r>
                <a:rPr lang="en-US" altLang="en-US" sz="1800" b="1" dirty="0" err="1">
                  <a:latin typeface="Courier New" panose="02070609020205020404" pitchFamily="49" charset="0"/>
                </a:rPr>
                <a:t>cmp</a:t>
              </a:r>
              <a:r>
                <a:rPr lang="en-US" altLang="en-US" sz="1800" b="1" dirty="0">
                  <a:latin typeface="Courier New" panose="02070609020205020404" pitchFamily="49" charset="0"/>
                </a:rPr>
                <a:t> </a:t>
              </a:r>
              <a:r>
                <a:rPr lang="en-US" altLang="en-US" sz="1800" b="1" dirty="0" err="1">
                  <a:latin typeface="Courier New" panose="02070609020205020404" pitchFamily="49" charset="0"/>
                </a:rPr>
                <a:t>ax,bx</a:t>
              </a:r>
              <a:endParaRPr lang="en-US" altLang="en-US" sz="1800" b="1" dirty="0">
                <a:latin typeface="Courier New" panose="02070609020205020404" pitchFamily="49" charset="0"/>
              </a:endParaRPr>
            </a:p>
            <a:p>
              <a:pPr lvl="1" eaLnBrk="1" hangingPunct="1">
                <a:lnSpc>
                  <a:spcPct val="50000"/>
                </a:lnSpc>
                <a:spcBef>
                  <a:spcPct val="50000"/>
                </a:spcBef>
              </a:pPr>
              <a:r>
                <a:rPr lang="en-US" altLang="en-US" sz="1800" b="1" dirty="0" err="1">
                  <a:latin typeface="Courier New" panose="02070609020205020404" pitchFamily="49" charset="0"/>
                </a:rPr>
                <a:t>jna</a:t>
              </a:r>
              <a:r>
                <a:rPr lang="en-US" altLang="en-US" sz="1800" b="1" dirty="0">
                  <a:latin typeface="Courier New" panose="02070609020205020404" pitchFamily="49" charset="0"/>
                </a:rPr>
                <a:t> Next</a:t>
              </a: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Large,ax</a:t>
              </a:r>
              <a:endParaRPr lang="en-US" altLang="en-US" sz="1800" b="1" dirty="0">
                <a:latin typeface="Courier New" panose="02070609020205020404" pitchFamily="49" charset="0"/>
              </a:endParaRPr>
            </a:p>
            <a:p>
              <a:pPr eaLnBrk="1" hangingPunct="1">
                <a:lnSpc>
                  <a:spcPct val="50000"/>
                </a:lnSpc>
                <a:spcBef>
                  <a:spcPct val="50000"/>
                </a:spcBef>
              </a:pPr>
              <a:r>
                <a:rPr lang="en-US" altLang="en-US" sz="1800" b="1" dirty="0">
                  <a:latin typeface="Courier New" panose="02070609020205020404" pitchFamily="49" charset="0"/>
                </a:rPr>
                <a:t>Next:</a:t>
              </a:r>
            </a:p>
          </p:txBody>
        </p:sp>
        <p:sp>
          <p:nvSpPr>
            <p:cNvPr id="37898" name="Text Box 4"/>
            <p:cNvSpPr txBox="1">
              <a:spLocks noChangeArrowheads="1"/>
            </p:cNvSpPr>
            <p:nvPr/>
          </p:nvSpPr>
          <p:spPr bwMode="auto">
            <a:xfrm>
              <a:off x="432" y="576"/>
              <a:ext cx="484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a:t>Compare unsigned AX to BX, and copy the larger of the two into a variable named </a:t>
              </a:r>
              <a:r>
                <a:rPr lang="en-US" altLang="en-US">
                  <a:solidFill>
                    <a:schemeClr val="tx2"/>
                  </a:solidFill>
                </a:rPr>
                <a:t>Large</a:t>
              </a:r>
            </a:p>
          </p:txBody>
        </p:sp>
      </p:grpSp>
      <p:grpSp>
        <p:nvGrpSpPr>
          <p:cNvPr id="3" name="Group 9"/>
          <p:cNvGrpSpPr/>
          <p:nvPr/>
        </p:nvGrpSpPr>
        <p:grpSpPr bwMode="auto">
          <a:xfrm>
            <a:off x="2286000" y="4100427"/>
            <a:ext cx="7696200" cy="2590800"/>
            <a:chOff x="480" y="2304"/>
            <a:chExt cx="4848" cy="1632"/>
          </a:xfrm>
        </p:grpSpPr>
        <p:sp>
          <p:nvSpPr>
            <p:cNvPr id="37895" name="Text Box 6"/>
            <p:cNvSpPr txBox="1">
              <a:spLocks noChangeArrowheads="1"/>
            </p:cNvSpPr>
            <p:nvPr/>
          </p:nvSpPr>
          <p:spPr bwMode="auto">
            <a:xfrm>
              <a:off x="1008" y="2880"/>
              <a:ext cx="302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lvl="1" eaLnBrk="1" hangingPunct="1">
                <a:lnSpc>
                  <a:spcPct val="50000"/>
                </a:lnSpc>
                <a:spcBef>
                  <a:spcPct val="50000"/>
                </a:spcBef>
              </a:pPr>
              <a:r>
                <a:rPr lang="en-US" altLang="en-US" sz="1800" b="1">
                  <a:latin typeface="Courier New" panose="02070609020205020404" pitchFamily="49" charset="0"/>
                </a:rPr>
                <a:t>mov Small,ax</a:t>
              </a:r>
            </a:p>
            <a:p>
              <a:pPr lvl="1" eaLnBrk="1" hangingPunct="1">
                <a:lnSpc>
                  <a:spcPct val="50000"/>
                </a:lnSpc>
                <a:spcBef>
                  <a:spcPct val="50000"/>
                </a:spcBef>
              </a:pPr>
              <a:r>
                <a:rPr lang="en-US" altLang="en-US" sz="1800" b="1">
                  <a:latin typeface="Courier New" panose="02070609020205020404" pitchFamily="49" charset="0"/>
                </a:rPr>
                <a:t>cmp bx,ax</a:t>
              </a:r>
            </a:p>
            <a:p>
              <a:pPr lvl="1" eaLnBrk="1" hangingPunct="1">
                <a:lnSpc>
                  <a:spcPct val="50000"/>
                </a:lnSpc>
                <a:spcBef>
                  <a:spcPct val="50000"/>
                </a:spcBef>
              </a:pPr>
              <a:r>
                <a:rPr lang="en-US" altLang="en-US" sz="1800" b="1">
                  <a:latin typeface="Courier New" panose="02070609020205020404" pitchFamily="49" charset="0"/>
                </a:rPr>
                <a:t>jnl Next</a:t>
              </a:r>
            </a:p>
            <a:p>
              <a:pPr lvl="1" eaLnBrk="1" hangingPunct="1">
                <a:lnSpc>
                  <a:spcPct val="50000"/>
                </a:lnSpc>
                <a:spcBef>
                  <a:spcPct val="50000"/>
                </a:spcBef>
              </a:pPr>
              <a:r>
                <a:rPr lang="en-US" altLang="en-US" sz="1800" b="1">
                  <a:latin typeface="Courier New" panose="02070609020205020404" pitchFamily="49" charset="0"/>
                </a:rPr>
                <a:t>mov Small,bx</a:t>
              </a:r>
            </a:p>
            <a:p>
              <a:pPr eaLnBrk="1" hangingPunct="1">
                <a:lnSpc>
                  <a:spcPct val="50000"/>
                </a:lnSpc>
                <a:spcBef>
                  <a:spcPct val="50000"/>
                </a:spcBef>
              </a:pPr>
              <a:r>
                <a:rPr lang="en-US" altLang="en-US" sz="1800" b="1">
                  <a:latin typeface="Courier New" panose="02070609020205020404" pitchFamily="49" charset="0"/>
                </a:rPr>
                <a:t>Next:</a:t>
              </a:r>
            </a:p>
          </p:txBody>
        </p:sp>
        <p:sp>
          <p:nvSpPr>
            <p:cNvPr id="37896" name="Text Box 7"/>
            <p:cNvSpPr txBox="1">
              <a:spLocks noChangeArrowheads="1"/>
            </p:cNvSpPr>
            <p:nvPr/>
          </p:nvSpPr>
          <p:spPr bwMode="auto">
            <a:xfrm>
              <a:off x="480" y="2304"/>
              <a:ext cx="484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a:t>Compare signed AX to BX, and copy the smaller of the two into a variable named </a:t>
              </a:r>
              <a:r>
                <a:rPr lang="en-US" altLang="en-US">
                  <a:solidFill>
                    <a:schemeClr val="tx2"/>
                  </a:solidFill>
                </a:rPr>
                <a:t>Small</a:t>
              </a:r>
            </a:p>
          </p:txBody>
        </p:sp>
      </p:grpSp>
      <p:sp>
        <p:nvSpPr>
          <p:cNvPr id="2" name="Slide Number Placeholder 1"/>
          <p:cNvSpPr>
            <a:spLocks noGrp="1"/>
          </p:cNvSpPr>
          <p:nvPr>
            <p:ph type="sldNum" sz="quarter" idx="12"/>
          </p:nvPr>
        </p:nvSpPr>
        <p:spPr/>
        <p:txBody>
          <a:bodyPr/>
          <a:lstStyle/>
          <a:p>
            <a:fld id="{F51B45BB-47DD-4FFE-AFAF-9A1D2EB112A2}" type="slidenum">
              <a:rPr lang="en-US" smtClean="0"/>
              <a:t>67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defRPr/>
            </a:pPr>
            <a:r>
              <a:rPr lang="en-US" altLang="en-US"/>
              <a:t>Applications </a:t>
            </a:r>
            <a:r>
              <a:rPr lang="en-US" altLang="en-US" sz="2400"/>
              <a:t> (4 of 5)</a:t>
            </a:r>
          </a:p>
        </p:txBody>
      </p:sp>
      <p:sp>
        <p:nvSpPr>
          <p:cNvPr id="38917" name="Text Box 4"/>
          <p:cNvSpPr txBox="1">
            <a:spLocks noChangeArrowheads="1"/>
          </p:cNvSpPr>
          <p:nvPr/>
        </p:nvSpPr>
        <p:spPr bwMode="auto">
          <a:xfrm>
            <a:off x="3124200" y="2501667"/>
            <a:ext cx="480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marL="342900" indent="-342900" eaLnBrk="0" hangingPunct="0">
              <a:tabLst>
                <a:tab pos="457200" algn="l"/>
                <a:tab pos="4114800" algn="l"/>
              </a:tabLst>
              <a:defRPr sz="2100">
                <a:solidFill>
                  <a:schemeClr val="tx1"/>
                </a:solidFill>
                <a:latin typeface="Arial" panose="020B0704020202020204" pitchFamily="34" charset="0"/>
              </a:defRPr>
            </a:lvl1pPr>
            <a:lvl2pPr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lvl="1" eaLnBrk="1" hangingPunct="1">
              <a:lnSpc>
                <a:spcPct val="50000"/>
              </a:lnSpc>
              <a:spcBef>
                <a:spcPct val="50000"/>
              </a:spcBef>
            </a:pPr>
            <a:r>
              <a:rPr lang="en-US" altLang="en-US" sz="1800" b="1">
                <a:latin typeface="Courier New" panose="02070609020205020404" pitchFamily="49" charset="0"/>
              </a:rPr>
              <a:t>cmp WORD PTR [esi],0</a:t>
            </a:r>
          </a:p>
          <a:p>
            <a:pPr lvl="1" eaLnBrk="1" hangingPunct="1">
              <a:lnSpc>
                <a:spcPct val="50000"/>
              </a:lnSpc>
              <a:spcBef>
                <a:spcPct val="50000"/>
              </a:spcBef>
            </a:pPr>
            <a:r>
              <a:rPr lang="en-US" altLang="en-US" sz="1800" b="1">
                <a:latin typeface="Courier New" panose="02070609020205020404" pitchFamily="49" charset="0"/>
              </a:rPr>
              <a:t>je  L1</a:t>
            </a:r>
          </a:p>
        </p:txBody>
      </p:sp>
      <p:sp>
        <p:nvSpPr>
          <p:cNvPr id="38918" name="Text Box 5"/>
          <p:cNvSpPr txBox="1">
            <a:spLocks noChangeArrowheads="1"/>
          </p:cNvSpPr>
          <p:nvPr/>
        </p:nvSpPr>
        <p:spPr bwMode="auto">
          <a:xfrm>
            <a:off x="2209800" y="1587267"/>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dirty="0"/>
              <a:t>Jump to label L1 if the memory word pointed to by ESI equals Zero</a:t>
            </a:r>
            <a:endParaRPr lang="en-US" altLang="en-US" dirty="0">
              <a:solidFill>
                <a:schemeClr val="tx2"/>
              </a:solidFill>
            </a:endParaRPr>
          </a:p>
        </p:txBody>
      </p:sp>
      <p:sp>
        <p:nvSpPr>
          <p:cNvPr id="38919" name="Text Box 7"/>
          <p:cNvSpPr txBox="1">
            <a:spLocks noChangeArrowheads="1"/>
          </p:cNvSpPr>
          <p:nvPr/>
        </p:nvSpPr>
        <p:spPr bwMode="auto">
          <a:xfrm>
            <a:off x="3124200" y="4711467"/>
            <a:ext cx="487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marL="742950" indent="-285750"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test DWORD PTR [edi],1</a:t>
            </a:r>
          </a:p>
          <a:p>
            <a:pPr eaLnBrk="1" hangingPunct="1">
              <a:lnSpc>
                <a:spcPct val="50000"/>
              </a:lnSpc>
              <a:spcBef>
                <a:spcPct val="50000"/>
              </a:spcBef>
            </a:pPr>
            <a:r>
              <a:rPr lang="en-US" altLang="en-US" sz="1800" b="1">
                <a:latin typeface="Courier New" panose="02070609020205020404" pitchFamily="49" charset="0"/>
              </a:rPr>
              <a:t>jz   L2</a:t>
            </a:r>
          </a:p>
        </p:txBody>
      </p:sp>
      <p:sp>
        <p:nvSpPr>
          <p:cNvPr id="38920" name="Text Box 8"/>
          <p:cNvSpPr txBox="1">
            <a:spLocks noChangeArrowheads="1"/>
          </p:cNvSpPr>
          <p:nvPr/>
        </p:nvSpPr>
        <p:spPr bwMode="auto">
          <a:xfrm>
            <a:off x="2362200" y="3720867"/>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28600" indent="-22860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a:t>Jump to label L2 if the doubleword in memory pointed to by EDI is even</a:t>
            </a:r>
            <a:endParaRPr lang="en-US" altLang="en-US">
              <a:solidFill>
                <a:schemeClr val="tx2"/>
              </a:solidFill>
            </a:endParaRPr>
          </a:p>
        </p:txBody>
      </p:sp>
      <p:sp>
        <p:nvSpPr>
          <p:cNvPr id="2" name="Slide Number Placeholder 1"/>
          <p:cNvSpPr>
            <a:spLocks noGrp="1"/>
          </p:cNvSpPr>
          <p:nvPr>
            <p:ph type="sldNum" sz="quarter" idx="12"/>
          </p:nvPr>
        </p:nvSpPr>
        <p:spPr/>
        <p:txBody>
          <a:bodyPr/>
          <a:lstStyle/>
          <a:p>
            <a:fld id="{F51B45BB-47DD-4FFE-AFAF-9A1D2EB112A2}" type="slidenum">
              <a:rPr lang="en-US" smtClean="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en-US" altLang="en-US"/>
              <a:t>Applications </a:t>
            </a:r>
            <a:r>
              <a:rPr lang="en-US" altLang="en-US" sz="2400"/>
              <a:t> (5 of 5)</a:t>
            </a:r>
          </a:p>
        </p:txBody>
      </p:sp>
      <p:sp>
        <p:nvSpPr>
          <p:cNvPr id="39941" name="Text Box 3"/>
          <p:cNvSpPr txBox="1">
            <a:spLocks noChangeArrowheads="1"/>
          </p:cNvSpPr>
          <p:nvPr/>
        </p:nvSpPr>
        <p:spPr bwMode="auto">
          <a:xfrm>
            <a:off x="2438400" y="3473575"/>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200400" algn="l"/>
              </a:tabLst>
              <a:defRPr sz="2100">
                <a:solidFill>
                  <a:schemeClr val="tx1"/>
                </a:solidFill>
                <a:latin typeface="Arial" panose="020B0704020202020204" pitchFamily="34" charset="0"/>
              </a:defRPr>
            </a:lvl1pPr>
            <a:lvl2pPr marL="742950" indent="-285750" eaLnBrk="0" hangingPunct="0">
              <a:tabLst>
                <a:tab pos="457200" algn="l"/>
                <a:tab pos="3200400" algn="l"/>
              </a:tabLst>
              <a:defRPr sz="2100">
                <a:solidFill>
                  <a:schemeClr val="tx1"/>
                </a:solidFill>
                <a:latin typeface="Arial" panose="020B0704020202020204" pitchFamily="34" charset="0"/>
              </a:defRPr>
            </a:lvl2pPr>
            <a:lvl3pPr marL="1143000" indent="-228600" eaLnBrk="0" hangingPunct="0">
              <a:tabLst>
                <a:tab pos="457200" algn="l"/>
                <a:tab pos="3200400" algn="l"/>
              </a:tabLst>
              <a:defRPr sz="2100">
                <a:solidFill>
                  <a:schemeClr val="tx1"/>
                </a:solidFill>
                <a:latin typeface="Arial" panose="020B0704020202020204" pitchFamily="34" charset="0"/>
              </a:defRPr>
            </a:lvl3pPr>
            <a:lvl4pPr marL="1600200" indent="-228600" eaLnBrk="0" hangingPunct="0">
              <a:tabLst>
                <a:tab pos="457200" algn="l"/>
                <a:tab pos="3200400" algn="l"/>
              </a:tabLst>
              <a:defRPr sz="2100">
                <a:solidFill>
                  <a:schemeClr val="tx1"/>
                </a:solidFill>
                <a:latin typeface="Arial" panose="020B0704020202020204" pitchFamily="34" charset="0"/>
              </a:defRPr>
            </a:lvl4pPr>
            <a:lvl5pPr marL="2057400" indent="-228600" eaLnBrk="0" hangingPunct="0">
              <a:tabLst>
                <a:tab pos="457200" algn="l"/>
                <a:tab pos="32004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2004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2004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2004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2004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and al,00001011b	; clear unwanted bits</a:t>
            </a:r>
          </a:p>
          <a:p>
            <a:pPr eaLnBrk="1" hangingPunct="1">
              <a:lnSpc>
                <a:spcPct val="50000"/>
              </a:lnSpc>
              <a:spcBef>
                <a:spcPct val="50000"/>
              </a:spcBef>
            </a:pPr>
            <a:r>
              <a:rPr lang="en-US" altLang="en-US" sz="1800" b="1">
                <a:latin typeface="Courier New" panose="02070609020205020404" pitchFamily="49" charset="0"/>
              </a:rPr>
              <a:t>cmp al,00001011b	; check remaining bits</a:t>
            </a:r>
          </a:p>
          <a:p>
            <a:pPr eaLnBrk="1" hangingPunct="1">
              <a:lnSpc>
                <a:spcPct val="50000"/>
              </a:lnSpc>
              <a:spcBef>
                <a:spcPct val="50000"/>
              </a:spcBef>
            </a:pPr>
            <a:r>
              <a:rPr lang="en-US" altLang="en-US" sz="1800" b="1">
                <a:latin typeface="Courier New" panose="02070609020205020404" pitchFamily="49" charset="0"/>
              </a:rPr>
              <a:t>je  L1	; all set? jump to L1</a:t>
            </a:r>
          </a:p>
          <a:p>
            <a:pPr eaLnBrk="1" hangingPunct="1">
              <a:lnSpc>
                <a:spcPct val="50000"/>
              </a:lnSpc>
              <a:spcBef>
                <a:spcPct val="50000"/>
              </a:spcBef>
            </a:pPr>
            <a:endParaRPr lang="en-US" altLang="en-US" sz="1800" b="1">
              <a:latin typeface="Courier New" panose="02070609020205020404" pitchFamily="49" charset="0"/>
            </a:endParaRPr>
          </a:p>
        </p:txBody>
      </p:sp>
      <p:sp>
        <p:nvSpPr>
          <p:cNvPr id="39942" name="Text Box 4"/>
          <p:cNvSpPr txBox="1">
            <a:spLocks noChangeArrowheads="1"/>
          </p:cNvSpPr>
          <p:nvPr/>
        </p:nvSpPr>
        <p:spPr bwMode="auto">
          <a:xfrm>
            <a:off x="2209800" y="1797176"/>
            <a:ext cx="7239000"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marL="285750" indent="-285750"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buFontTx/>
              <a:buChar char="•"/>
            </a:pPr>
            <a:r>
              <a:rPr lang="en-US" altLang="en-US" dirty="0"/>
              <a:t>Task: Jump to label L1 if bits 0, 1, and 3 in AL are </a:t>
            </a:r>
            <a:r>
              <a:rPr lang="en-US" altLang="en-US" dirty="0">
                <a:solidFill>
                  <a:schemeClr val="tx2"/>
                </a:solidFill>
              </a:rPr>
              <a:t>all set</a:t>
            </a:r>
            <a:r>
              <a:rPr lang="en-US" altLang="en-US" dirty="0"/>
              <a:t>.</a:t>
            </a:r>
          </a:p>
          <a:p>
            <a:pPr eaLnBrk="1" hangingPunct="1">
              <a:lnSpc>
                <a:spcPct val="110000"/>
              </a:lnSpc>
              <a:spcBef>
                <a:spcPct val="50000"/>
              </a:spcBef>
              <a:buFontTx/>
              <a:buChar char="•"/>
            </a:pPr>
            <a:r>
              <a:rPr lang="en-US" altLang="en-US" dirty="0"/>
              <a:t>Solution: Clear all bits except bits 0, 1,and 3. Then compare the result with 00001011 binary.</a:t>
            </a:r>
          </a:p>
        </p:txBody>
      </p:sp>
      <p:sp>
        <p:nvSpPr>
          <p:cNvPr id="2" name="Slide Number Placeholder 1"/>
          <p:cNvSpPr>
            <a:spLocks noGrp="1"/>
          </p:cNvSpPr>
          <p:nvPr>
            <p:ph type="sldNum" sz="quarter" idx="12"/>
          </p:nvPr>
        </p:nvSpPr>
        <p:spPr/>
        <p:txBody>
          <a:bodyPr/>
          <a:lstStyle/>
          <a:p>
            <a:fld id="{F51B45BB-47DD-4FFE-AFAF-9A1D2EB112A2}" type="slidenum">
              <a:rPr lang="en-US" smtClean="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en-US" altLang="en-US"/>
              <a:t>Conditional Loop Instructions</a:t>
            </a:r>
          </a:p>
        </p:txBody>
      </p:sp>
      <p:sp>
        <p:nvSpPr>
          <p:cNvPr id="46085" name="Rectangle 3"/>
          <p:cNvSpPr>
            <a:spLocks noGrp="1" noChangeArrowheads="1"/>
          </p:cNvSpPr>
          <p:nvPr>
            <p:ph type="body" idx="1"/>
          </p:nvPr>
        </p:nvSpPr>
        <p:spPr>
          <a:xfrm>
            <a:off x="3429000" y="1828800"/>
            <a:ext cx="6019800" cy="1752600"/>
          </a:xfrm>
        </p:spPr>
        <p:txBody>
          <a:bodyPr/>
          <a:lstStyle/>
          <a:p>
            <a:pPr eaLnBrk="1" hangingPunct="1"/>
            <a:r>
              <a:rPr lang="en-US" altLang="en-US" dirty="0"/>
              <a:t>LOOPZ and LOOPE</a:t>
            </a:r>
          </a:p>
          <a:p>
            <a:pPr eaLnBrk="1" hangingPunct="1"/>
            <a:r>
              <a:rPr lang="en-US" altLang="en-US" dirty="0"/>
              <a:t>LOOPNZ and LOOPNE</a:t>
            </a:r>
          </a:p>
        </p:txBody>
      </p:sp>
      <p:sp>
        <p:nvSpPr>
          <p:cNvPr id="4" name="Slide Number Placeholder 3"/>
          <p:cNvSpPr>
            <a:spLocks noGrp="1"/>
          </p:cNvSpPr>
          <p:nvPr>
            <p:ph type="sldNum" sz="quarter" idx="12"/>
          </p:nvPr>
        </p:nvSpPr>
        <p:spPr/>
        <p:txBody>
          <a:bodyPr/>
          <a:lstStyle/>
          <a:p>
            <a:fld id="{F51B45BB-47DD-4FFE-AFAF-9A1D2EB112A2}" type="slidenum">
              <a:rPr lang="en-US" smtClean="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defRPr/>
            </a:pPr>
            <a:r>
              <a:rPr lang="en-US" altLang="en-US"/>
              <a:t>LOOPZ and LOOPE</a:t>
            </a:r>
          </a:p>
        </p:txBody>
      </p:sp>
      <p:sp>
        <p:nvSpPr>
          <p:cNvPr id="47109" name="Rectangle 3"/>
          <p:cNvSpPr>
            <a:spLocks noGrp="1" noChangeArrowheads="1"/>
          </p:cNvSpPr>
          <p:nvPr>
            <p:ph type="body" idx="1"/>
          </p:nvPr>
        </p:nvSpPr>
        <p:spPr>
          <a:xfrm>
            <a:off x="2209800" y="1482309"/>
            <a:ext cx="7924800" cy="3276600"/>
          </a:xfrm>
        </p:spPr>
        <p:txBody>
          <a:bodyPr>
            <a:normAutofit lnSpcReduction="10000"/>
          </a:bodyPr>
          <a:lstStyle/>
          <a:p>
            <a:pPr eaLnBrk="1" hangingPunct="1">
              <a:lnSpc>
                <a:spcPct val="90000"/>
              </a:lnSpc>
            </a:pPr>
            <a:r>
              <a:rPr lang="en-US" altLang="en-US"/>
              <a:t>Syntax: </a:t>
            </a:r>
          </a:p>
          <a:p>
            <a:pPr lvl="1" eaLnBrk="1" hangingPunct="1">
              <a:lnSpc>
                <a:spcPct val="90000"/>
              </a:lnSpc>
              <a:buFontTx/>
              <a:buNone/>
            </a:pPr>
            <a:r>
              <a:rPr lang="en-US" altLang="en-US">
                <a:solidFill>
                  <a:schemeClr val="tx2"/>
                </a:solidFill>
              </a:rPr>
              <a:t>	LOOPE </a:t>
            </a:r>
            <a:r>
              <a:rPr lang="en-US" altLang="en-US" i="1">
                <a:solidFill>
                  <a:schemeClr val="tx2"/>
                </a:solidFill>
              </a:rPr>
              <a:t>destination</a:t>
            </a:r>
          </a:p>
          <a:p>
            <a:pPr lvl="1" eaLnBrk="1" hangingPunct="1">
              <a:lnSpc>
                <a:spcPct val="90000"/>
              </a:lnSpc>
              <a:buFontTx/>
              <a:buNone/>
            </a:pPr>
            <a:r>
              <a:rPr lang="en-US" altLang="en-US" i="1">
                <a:solidFill>
                  <a:schemeClr val="tx2"/>
                </a:solidFill>
              </a:rPr>
              <a:t>	</a:t>
            </a:r>
            <a:r>
              <a:rPr lang="en-US" altLang="en-US">
                <a:solidFill>
                  <a:schemeClr val="tx2"/>
                </a:solidFill>
              </a:rPr>
              <a:t>LOOPZ</a:t>
            </a:r>
            <a:r>
              <a:rPr lang="en-US" altLang="en-US" i="1">
                <a:solidFill>
                  <a:schemeClr val="tx2"/>
                </a:solidFill>
              </a:rPr>
              <a:t> destination</a:t>
            </a:r>
          </a:p>
          <a:p>
            <a:pPr eaLnBrk="1" hangingPunct="1">
              <a:lnSpc>
                <a:spcPct val="90000"/>
              </a:lnSpc>
            </a:pPr>
            <a:r>
              <a:rPr lang="en-US" altLang="en-US"/>
              <a:t>Logic: </a:t>
            </a:r>
          </a:p>
          <a:p>
            <a:pPr lvl="1" eaLnBrk="1" hangingPunct="1">
              <a:lnSpc>
                <a:spcPct val="90000"/>
              </a:lnSpc>
            </a:pPr>
            <a:r>
              <a:rPr lang="en-US" altLang="en-US"/>
              <a:t>ECX </a:t>
            </a:r>
            <a:r>
              <a:rPr lang="en-US" altLang="en-US" sz="2000">
                <a:sym typeface="Symbol" panose="05050102010706020507" pitchFamily="18" charset="2"/>
              </a:rPr>
              <a:t></a:t>
            </a:r>
            <a:r>
              <a:rPr lang="en-US" altLang="en-US"/>
              <a:t> ECX – 1</a:t>
            </a:r>
          </a:p>
          <a:p>
            <a:pPr lvl="1" eaLnBrk="1" hangingPunct="1">
              <a:lnSpc>
                <a:spcPct val="90000"/>
              </a:lnSpc>
            </a:pPr>
            <a:r>
              <a:rPr lang="en-US" altLang="en-US"/>
              <a:t>if ECX &gt; 0 and ZF=1, jump to </a:t>
            </a:r>
            <a:r>
              <a:rPr lang="en-US" altLang="en-US" i="1"/>
              <a:t>destination</a:t>
            </a:r>
          </a:p>
          <a:p>
            <a:pPr eaLnBrk="1" hangingPunct="1">
              <a:lnSpc>
                <a:spcPct val="90000"/>
              </a:lnSpc>
            </a:pPr>
            <a:r>
              <a:rPr lang="en-US" altLang="en-US"/>
              <a:t>Useful when scanning an array for the first element that does </a:t>
            </a:r>
            <a:r>
              <a:rPr lang="en-US" altLang="en-US">
                <a:solidFill>
                  <a:schemeClr val="tx2"/>
                </a:solidFill>
              </a:rPr>
              <a:t>not</a:t>
            </a:r>
            <a:r>
              <a:rPr lang="en-US" altLang="en-US"/>
              <a:t> match a given value.</a:t>
            </a:r>
          </a:p>
        </p:txBody>
      </p:sp>
      <p:sp>
        <p:nvSpPr>
          <p:cNvPr id="47110" name="Text Box 5"/>
          <p:cNvSpPr txBox="1">
            <a:spLocks noChangeArrowheads="1"/>
          </p:cNvSpPr>
          <p:nvPr/>
        </p:nvSpPr>
        <p:spPr bwMode="auto">
          <a:xfrm>
            <a:off x="2362200" y="5063709"/>
            <a:ext cx="7391400" cy="1149350"/>
          </a:xfrm>
          <a:prstGeom prst="rect">
            <a:avLst/>
          </a:prstGeom>
          <a:noFill/>
          <a:ln w="9525">
            <a:solidFill>
              <a:srgbClr val="C0C0C0"/>
            </a:solidFill>
            <a:miter lim="800000"/>
          </a:ln>
          <a:extLst>
            <a:ext uri="{909E8E84-426E-40DD-AFC4-6F175D3DCCD1}">
              <a14:hiddenFill xmlns:a14="http://schemas.microsoft.com/office/drawing/2010/main">
                <a:solidFill>
                  <a:srgbClr val="FFFFFF"/>
                </a:solidFill>
              </a14:hiddenFill>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1900"/>
              <a:t>In 32-bit mode, ECX is the loop counter register. In 16-bit real-address mode, CX is the counter, and in 64-bit mode, RCX is the counter.</a:t>
            </a:r>
          </a:p>
        </p:txBody>
      </p:sp>
      <p:sp>
        <p:nvSpPr>
          <p:cNvPr id="2" name="Slide Number Placeholder 1"/>
          <p:cNvSpPr>
            <a:spLocks noGrp="1"/>
          </p:cNvSpPr>
          <p:nvPr>
            <p:ph type="sldNum" sz="quarter" idx="12"/>
          </p:nvPr>
        </p:nvSpPr>
        <p:spPr/>
        <p:txBody>
          <a:bodyPr/>
          <a:lstStyle/>
          <a:p>
            <a:fld id="{F51B45BB-47DD-4FFE-AFAF-9A1D2EB112A2}" type="slidenum">
              <a:rPr lang="en-US" smtClean="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defRPr/>
            </a:pPr>
            <a:r>
              <a:rPr lang="en-US" altLang="en-US"/>
              <a:t>LOOPNZ and LOOPNE</a:t>
            </a:r>
          </a:p>
        </p:txBody>
      </p:sp>
      <p:sp>
        <p:nvSpPr>
          <p:cNvPr id="48133" name="Rectangle 3"/>
          <p:cNvSpPr>
            <a:spLocks noGrp="1" noChangeArrowheads="1"/>
          </p:cNvSpPr>
          <p:nvPr>
            <p:ph type="body" idx="1"/>
          </p:nvPr>
        </p:nvSpPr>
        <p:spPr>
          <a:xfrm>
            <a:off x="2209800" y="1631835"/>
            <a:ext cx="7772400" cy="3810000"/>
          </a:xfrm>
        </p:spPr>
        <p:txBody>
          <a:bodyPr>
            <a:normAutofit fontScale="92500" lnSpcReduction="10000"/>
          </a:bodyPr>
          <a:lstStyle/>
          <a:p>
            <a:pPr eaLnBrk="1" hangingPunct="1">
              <a:lnSpc>
                <a:spcPct val="90000"/>
              </a:lnSpc>
            </a:pPr>
            <a:r>
              <a:rPr lang="en-US" altLang="en-US" dirty="0"/>
              <a:t>LOOPNZ (LOOPNE) is a conditional loop instruction</a:t>
            </a:r>
          </a:p>
          <a:p>
            <a:pPr eaLnBrk="1" hangingPunct="1">
              <a:lnSpc>
                <a:spcPct val="90000"/>
              </a:lnSpc>
            </a:pPr>
            <a:r>
              <a:rPr lang="en-US" altLang="en-US" dirty="0"/>
              <a:t>Syntax: </a:t>
            </a:r>
          </a:p>
          <a:p>
            <a:pPr eaLnBrk="1" hangingPunct="1">
              <a:lnSpc>
                <a:spcPct val="90000"/>
              </a:lnSpc>
              <a:buFontTx/>
              <a:buNone/>
            </a:pPr>
            <a:r>
              <a:rPr lang="en-US" altLang="en-US" dirty="0">
                <a:solidFill>
                  <a:schemeClr val="tx2"/>
                </a:solidFill>
              </a:rPr>
              <a:t>		LOOPNZ </a:t>
            </a:r>
            <a:r>
              <a:rPr lang="en-US" altLang="en-US" i="1" dirty="0">
                <a:solidFill>
                  <a:schemeClr val="tx2"/>
                </a:solidFill>
              </a:rPr>
              <a:t>destination</a:t>
            </a:r>
          </a:p>
          <a:p>
            <a:pPr eaLnBrk="1" hangingPunct="1">
              <a:lnSpc>
                <a:spcPct val="90000"/>
              </a:lnSpc>
              <a:buFontTx/>
              <a:buNone/>
            </a:pPr>
            <a:r>
              <a:rPr lang="en-US" altLang="en-US" i="1" dirty="0">
                <a:solidFill>
                  <a:schemeClr val="tx2"/>
                </a:solidFill>
              </a:rPr>
              <a:t>		</a:t>
            </a:r>
            <a:r>
              <a:rPr lang="en-US" altLang="en-US" dirty="0">
                <a:solidFill>
                  <a:schemeClr val="tx2"/>
                </a:solidFill>
              </a:rPr>
              <a:t>LOOPNE</a:t>
            </a:r>
            <a:r>
              <a:rPr lang="en-US" altLang="en-US" i="1" dirty="0">
                <a:solidFill>
                  <a:schemeClr val="tx2"/>
                </a:solidFill>
              </a:rPr>
              <a:t> destination</a:t>
            </a:r>
          </a:p>
          <a:p>
            <a:pPr eaLnBrk="1" hangingPunct="1">
              <a:lnSpc>
                <a:spcPct val="90000"/>
              </a:lnSpc>
            </a:pPr>
            <a:r>
              <a:rPr lang="en-US" altLang="en-US" dirty="0"/>
              <a:t>Logic: </a:t>
            </a:r>
          </a:p>
          <a:p>
            <a:pPr lvl="1" eaLnBrk="1" hangingPunct="1">
              <a:lnSpc>
                <a:spcPct val="90000"/>
              </a:lnSpc>
            </a:pPr>
            <a:r>
              <a:rPr lang="en-US" altLang="en-US" dirty="0"/>
              <a:t>ECX </a:t>
            </a:r>
            <a:r>
              <a:rPr lang="en-US" altLang="en-US" dirty="0">
                <a:sym typeface="Symbol" panose="05050102010706020507" pitchFamily="18" charset="2"/>
              </a:rPr>
              <a:t></a:t>
            </a:r>
            <a:r>
              <a:rPr lang="en-US" altLang="en-US" dirty="0"/>
              <a:t> ECX – 1; </a:t>
            </a:r>
          </a:p>
          <a:p>
            <a:pPr lvl="1" eaLnBrk="1" hangingPunct="1">
              <a:lnSpc>
                <a:spcPct val="90000"/>
              </a:lnSpc>
            </a:pPr>
            <a:r>
              <a:rPr lang="en-US" altLang="en-US" dirty="0"/>
              <a:t>if ECX &gt; 0 and ZF=0, jump to </a:t>
            </a:r>
            <a:r>
              <a:rPr lang="en-US" altLang="en-US" i="1" dirty="0"/>
              <a:t>destination</a:t>
            </a:r>
          </a:p>
          <a:p>
            <a:pPr eaLnBrk="1" hangingPunct="1">
              <a:lnSpc>
                <a:spcPct val="90000"/>
              </a:lnSpc>
            </a:pPr>
            <a:r>
              <a:rPr lang="en-US" altLang="en-US" dirty="0"/>
              <a:t>Useful when scanning an array for the first element that matches a given value.</a:t>
            </a:r>
          </a:p>
        </p:txBody>
      </p:sp>
      <p:sp>
        <p:nvSpPr>
          <p:cNvPr id="2" name="Slide Number Placeholder 1"/>
          <p:cNvSpPr>
            <a:spLocks noGrp="1"/>
          </p:cNvSpPr>
          <p:nvPr>
            <p:ph type="sldNum" sz="quarter" idx="12"/>
          </p:nvPr>
        </p:nvSpPr>
        <p:spPr/>
        <p:txBody>
          <a:bodyPr/>
          <a:lstStyle/>
          <a:p>
            <a:fld id="{F51B45BB-47DD-4FFE-AFAF-9A1D2EB112A2}" type="slidenum">
              <a:rPr lang="en-US" smtClean="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defRPr/>
            </a:pPr>
            <a:r>
              <a:rPr lang="en-US" altLang="en-US"/>
              <a:t>LOOPNZ Example</a:t>
            </a:r>
          </a:p>
        </p:txBody>
      </p:sp>
      <p:sp>
        <p:nvSpPr>
          <p:cNvPr id="49157" name="Text Box 5"/>
          <p:cNvSpPr txBox="1">
            <a:spLocks noChangeArrowheads="1"/>
          </p:cNvSpPr>
          <p:nvPr/>
        </p:nvSpPr>
        <p:spPr bwMode="auto">
          <a:xfrm>
            <a:off x="2286000" y="2093349"/>
            <a:ext cx="76962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4114800" algn="l"/>
              </a:tabLst>
              <a:defRPr sz="2100">
                <a:solidFill>
                  <a:schemeClr val="tx1"/>
                </a:solidFill>
                <a:latin typeface="Arial" panose="020B0704020202020204" pitchFamily="34" charset="0"/>
              </a:defRPr>
            </a:lvl1pPr>
            <a:lvl2pPr eaLnBrk="0" hangingPunct="0">
              <a:tabLst>
                <a:tab pos="457200" algn="l"/>
                <a:tab pos="4114800" algn="l"/>
              </a:tabLst>
              <a:defRPr sz="2100">
                <a:solidFill>
                  <a:schemeClr val="tx1"/>
                </a:solidFill>
                <a:latin typeface="Arial" panose="020B0704020202020204" pitchFamily="34" charset="0"/>
              </a:defRPr>
            </a:lvl2pPr>
            <a:lvl3pPr marL="1143000" indent="-228600" eaLnBrk="0" hangingPunct="0">
              <a:tabLst>
                <a:tab pos="457200" algn="l"/>
                <a:tab pos="4114800" algn="l"/>
              </a:tabLst>
              <a:defRPr sz="2100">
                <a:solidFill>
                  <a:schemeClr val="tx1"/>
                </a:solidFill>
                <a:latin typeface="Arial" panose="020B0704020202020204" pitchFamily="34" charset="0"/>
              </a:defRPr>
            </a:lvl3pPr>
            <a:lvl4pPr marL="1600200" indent="-228600" eaLnBrk="0" hangingPunct="0">
              <a:tabLst>
                <a:tab pos="457200" algn="l"/>
                <a:tab pos="4114800" algn="l"/>
              </a:tabLst>
              <a:defRPr sz="2100">
                <a:solidFill>
                  <a:schemeClr val="tx1"/>
                </a:solidFill>
                <a:latin typeface="Arial" panose="020B0704020202020204" pitchFamily="34" charset="0"/>
              </a:defRPr>
            </a:lvl4pPr>
            <a:lvl5pPr marL="2057400" indent="-228600" eaLnBrk="0" hangingPunct="0">
              <a:tabLst>
                <a:tab pos="4572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dirty="0">
                <a:latin typeface="Courier New" panose="02070609020205020404" pitchFamily="49" charset="0"/>
              </a:rPr>
              <a:t>.data</a:t>
            </a:r>
          </a:p>
          <a:p>
            <a:pPr eaLnBrk="1" hangingPunct="1">
              <a:lnSpc>
                <a:spcPct val="50000"/>
              </a:lnSpc>
              <a:spcBef>
                <a:spcPct val="50000"/>
              </a:spcBef>
            </a:pPr>
            <a:r>
              <a:rPr lang="en-US" altLang="en-US" sz="1800" b="1" dirty="0">
                <a:latin typeface="Courier New" panose="02070609020205020404" pitchFamily="49" charset="0"/>
              </a:rPr>
              <a:t>array SWORD -3,-6,-1,-10,10,30,40,4</a:t>
            </a:r>
          </a:p>
          <a:p>
            <a:pPr eaLnBrk="1" hangingPunct="1">
              <a:lnSpc>
                <a:spcPct val="50000"/>
              </a:lnSpc>
              <a:spcBef>
                <a:spcPct val="50000"/>
              </a:spcBef>
            </a:pPr>
            <a:r>
              <a:rPr lang="en-US" altLang="en-US" sz="1800" b="1" dirty="0">
                <a:latin typeface="Courier New" panose="02070609020205020404" pitchFamily="49" charset="0"/>
              </a:rPr>
              <a:t>sentinel SWORD 0</a:t>
            </a:r>
          </a:p>
          <a:p>
            <a:pPr eaLnBrk="1" hangingPunct="1">
              <a:lnSpc>
                <a:spcPct val="50000"/>
              </a:lnSpc>
              <a:spcBef>
                <a:spcPct val="50000"/>
              </a:spcBef>
            </a:pPr>
            <a:r>
              <a:rPr lang="en-US" altLang="en-US" sz="1800" b="1" dirty="0">
                <a:latin typeface="Courier New" panose="02070609020205020404" pitchFamily="49" charset="0"/>
              </a:rPr>
              <a:t>.code</a:t>
            </a: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esi,OFFSET</a:t>
            </a:r>
            <a:r>
              <a:rPr lang="en-US" altLang="en-US" sz="1800" b="1" dirty="0">
                <a:latin typeface="Courier New" panose="02070609020205020404" pitchFamily="49" charset="0"/>
              </a:rPr>
              <a:t> array</a:t>
            </a: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ecx,LENGTHOF</a:t>
            </a:r>
            <a:r>
              <a:rPr lang="en-US" altLang="en-US" sz="1800" b="1" dirty="0">
                <a:latin typeface="Courier New" panose="02070609020205020404" pitchFamily="49" charset="0"/>
              </a:rPr>
              <a:t> array</a:t>
            </a:r>
          </a:p>
          <a:p>
            <a:pPr eaLnBrk="1" hangingPunct="1">
              <a:lnSpc>
                <a:spcPct val="50000"/>
              </a:lnSpc>
              <a:spcBef>
                <a:spcPct val="50000"/>
              </a:spcBef>
            </a:pPr>
            <a:r>
              <a:rPr lang="en-US" altLang="en-US" sz="1800" b="1" dirty="0">
                <a:latin typeface="Courier New" panose="02070609020205020404" pitchFamily="49" charset="0"/>
              </a:rPr>
              <a:t>next:</a:t>
            </a:r>
          </a:p>
          <a:p>
            <a:pPr lvl="1" eaLnBrk="1" hangingPunct="1">
              <a:lnSpc>
                <a:spcPct val="50000"/>
              </a:lnSpc>
              <a:spcBef>
                <a:spcPct val="50000"/>
              </a:spcBef>
            </a:pPr>
            <a:r>
              <a:rPr lang="en-US" altLang="en-US" sz="1800" b="1" dirty="0">
                <a:latin typeface="Courier New" panose="02070609020205020404" pitchFamily="49" charset="0"/>
              </a:rPr>
              <a:t>test WORD PTR [</a:t>
            </a:r>
            <a:r>
              <a:rPr lang="en-US" altLang="en-US" sz="1800" b="1" dirty="0" err="1">
                <a:latin typeface="Courier New" panose="02070609020205020404" pitchFamily="49" charset="0"/>
              </a:rPr>
              <a:t>esi</a:t>
            </a:r>
            <a:r>
              <a:rPr lang="en-US" altLang="en-US" sz="1800" b="1" dirty="0">
                <a:latin typeface="Courier New" panose="02070609020205020404" pitchFamily="49" charset="0"/>
              </a:rPr>
              <a:t>],8000h	; test sign bit</a:t>
            </a:r>
          </a:p>
          <a:p>
            <a:pPr lvl="1" eaLnBrk="1" hangingPunct="1">
              <a:lnSpc>
                <a:spcPct val="50000"/>
              </a:lnSpc>
              <a:spcBef>
                <a:spcPct val="50000"/>
              </a:spcBef>
            </a:pPr>
            <a:r>
              <a:rPr lang="en-US" altLang="en-US" sz="1800" b="1" dirty="0" err="1">
                <a:latin typeface="Courier New" panose="02070609020205020404" pitchFamily="49" charset="0"/>
              </a:rPr>
              <a:t>pushfd</a:t>
            </a:r>
            <a:r>
              <a:rPr lang="en-US" altLang="en-US" sz="1800" b="1" dirty="0">
                <a:latin typeface="Courier New" panose="02070609020205020404" pitchFamily="49" charset="0"/>
              </a:rPr>
              <a:t>	; push flags on stack</a:t>
            </a:r>
          </a:p>
          <a:p>
            <a:pPr lvl="1" eaLnBrk="1" hangingPunct="1">
              <a:lnSpc>
                <a:spcPct val="50000"/>
              </a:lnSpc>
              <a:spcBef>
                <a:spcPct val="50000"/>
              </a:spcBef>
            </a:pPr>
            <a:r>
              <a:rPr lang="en-US" altLang="en-US" sz="1800" b="1" dirty="0">
                <a:latin typeface="Courier New" panose="02070609020205020404" pitchFamily="49" charset="0"/>
              </a:rPr>
              <a:t>add </a:t>
            </a:r>
            <a:r>
              <a:rPr lang="en-US" altLang="en-US" sz="1800" b="1" dirty="0" err="1">
                <a:latin typeface="Courier New" panose="02070609020205020404" pitchFamily="49" charset="0"/>
              </a:rPr>
              <a:t>esi,TYPE</a:t>
            </a:r>
            <a:r>
              <a:rPr lang="en-US" altLang="en-US" sz="1800" b="1" dirty="0">
                <a:latin typeface="Courier New" panose="02070609020205020404" pitchFamily="49" charset="0"/>
              </a:rPr>
              <a:t> array</a:t>
            </a:r>
          </a:p>
          <a:p>
            <a:pPr lvl="1" eaLnBrk="1" hangingPunct="1">
              <a:lnSpc>
                <a:spcPct val="50000"/>
              </a:lnSpc>
              <a:spcBef>
                <a:spcPct val="50000"/>
              </a:spcBef>
            </a:pPr>
            <a:r>
              <a:rPr lang="en-US" altLang="en-US" sz="1800" b="1" dirty="0" err="1">
                <a:latin typeface="Courier New" panose="02070609020205020404" pitchFamily="49" charset="0"/>
              </a:rPr>
              <a:t>popfd</a:t>
            </a:r>
            <a:r>
              <a:rPr lang="en-US" altLang="en-US" sz="1800" b="1" dirty="0">
                <a:latin typeface="Courier New" panose="02070609020205020404" pitchFamily="49" charset="0"/>
              </a:rPr>
              <a:t>	; pop flags from stack</a:t>
            </a:r>
          </a:p>
          <a:p>
            <a:pPr lvl="1" eaLnBrk="1" hangingPunct="1">
              <a:lnSpc>
                <a:spcPct val="50000"/>
              </a:lnSpc>
              <a:spcBef>
                <a:spcPct val="50000"/>
              </a:spcBef>
            </a:pPr>
            <a:r>
              <a:rPr lang="en-US" altLang="en-US" sz="1800" b="1" dirty="0" err="1">
                <a:latin typeface="Courier New" panose="02070609020205020404" pitchFamily="49" charset="0"/>
              </a:rPr>
              <a:t>loopnz</a:t>
            </a:r>
            <a:r>
              <a:rPr lang="en-US" altLang="en-US" sz="1800" b="1" dirty="0">
                <a:latin typeface="Courier New" panose="02070609020205020404" pitchFamily="49" charset="0"/>
              </a:rPr>
              <a:t> next	; continue loop</a:t>
            </a:r>
          </a:p>
          <a:p>
            <a:pPr lvl="1" eaLnBrk="1" hangingPunct="1">
              <a:lnSpc>
                <a:spcPct val="50000"/>
              </a:lnSpc>
              <a:spcBef>
                <a:spcPct val="50000"/>
              </a:spcBef>
            </a:pPr>
            <a:r>
              <a:rPr lang="en-US" altLang="en-US" sz="1800" b="1" dirty="0" err="1">
                <a:latin typeface="Courier New" panose="02070609020205020404" pitchFamily="49" charset="0"/>
              </a:rPr>
              <a:t>jnz</a:t>
            </a:r>
            <a:r>
              <a:rPr lang="en-US" altLang="en-US" sz="1800" b="1" dirty="0">
                <a:latin typeface="Courier New" panose="02070609020205020404" pitchFamily="49" charset="0"/>
              </a:rPr>
              <a:t> quit	; none found</a:t>
            </a:r>
          </a:p>
          <a:p>
            <a:pPr lvl="1" eaLnBrk="1" hangingPunct="1">
              <a:lnSpc>
                <a:spcPct val="50000"/>
              </a:lnSpc>
              <a:spcBef>
                <a:spcPct val="50000"/>
              </a:spcBef>
            </a:pPr>
            <a:r>
              <a:rPr lang="en-US" altLang="en-US" sz="1800" b="1" dirty="0">
                <a:latin typeface="Courier New" panose="02070609020205020404" pitchFamily="49" charset="0"/>
              </a:rPr>
              <a:t>sub </a:t>
            </a:r>
            <a:r>
              <a:rPr lang="en-US" altLang="en-US" sz="1800" b="1" dirty="0" err="1">
                <a:latin typeface="Courier New" panose="02070609020205020404" pitchFamily="49" charset="0"/>
              </a:rPr>
              <a:t>esi,TYPE</a:t>
            </a:r>
            <a:r>
              <a:rPr lang="en-US" altLang="en-US" sz="1800" b="1" dirty="0">
                <a:latin typeface="Courier New" panose="02070609020205020404" pitchFamily="49" charset="0"/>
              </a:rPr>
              <a:t> array	; ESI points to value</a:t>
            </a:r>
          </a:p>
          <a:p>
            <a:pPr eaLnBrk="1" hangingPunct="1">
              <a:lnSpc>
                <a:spcPct val="50000"/>
              </a:lnSpc>
              <a:spcBef>
                <a:spcPct val="50000"/>
              </a:spcBef>
            </a:pPr>
            <a:r>
              <a:rPr lang="en-US" altLang="en-US" sz="1800" b="1" dirty="0">
                <a:latin typeface="Courier New" panose="02070609020205020404" pitchFamily="49" charset="0"/>
              </a:rPr>
              <a:t>quit:</a:t>
            </a:r>
          </a:p>
          <a:p>
            <a:pPr eaLnBrk="1" hangingPunct="1">
              <a:lnSpc>
                <a:spcPct val="50000"/>
              </a:lnSpc>
              <a:spcBef>
                <a:spcPct val="50000"/>
              </a:spcBef>
            </a:pPr>
            <a:endParaRPr lang="en-US" altLang="en-US" sz="1800" b="1" dirty="0">
              <a:latin typeface="Courier New" panose="02070609020205020404" pitchFamily="49" charset="0"/>
            </a:endParaRPr>
          </a:p>
        </p:txBody>
      </p:sp>
      <p:sp>
        <p:nvSpPr>
          <p:cNvPr id="49158" name="Text Box 6"/>
          <p:cNvSpPr txBox="1">
            <a:spLocks noChangeArrowheads="1"/>
          </p:cNvSpPr>
          <p:nvPr/>
        </p:nvSpPr>
        <p:spPr bwMode="auto">
          <a:xfrm>
            <a:off x="2057400" y="1407549"/>
            <a:ext cx="78486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The following code finds the first positive value in an array:</a:t>
            </a:r>
          </a:p>
        </p:txBody>
      </p:sp>
      <p:sp>
        <p:nvSpPr>
          <p:cNvPr id="2" name="Slide Number Placeholder 1"/>
          <p:cNvSpPr>
            <a:spLocks noGrp="1"/>
          </p:cNvSpPr>
          <p:nvPr>
            <p:ph type="sldNum" sz="quarter" idx="12"/>
          </p:nvPr>
        </p:nvSpPr>
        <p:spPr/>
        <p:txBody>
          <a:bodyPr/>
          <a:lstStyle/>
          <a:p>
            <a:fld id="{F51B45BB-47DD-4FFE-AFAF-9A1D2EB112A2}" type="slidenum">
              <a:rPr lang="en-US" smtClean="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en-US" altLang="en-US"/>
              <a:t>Comparing Arrays</a:t>
            </a:r>
          </a:p>
        </p:txBody>
      </p:sp>
      <p:sp>
        <p:nvSpPr>
          <p:cNvPr id="19461" name="Text Box 3"/>
          <p:cNvSpPr txBox="1">
            <a:spLocks noChangeArrowheads="1"/>
          </p:cNvSpPr>
          <p:nvPr/>
        </p:nvSpPr>
        <p:spPr bwMode="auto">
          <a:xfrm>
            <a:off x="2438400" y="2700072"/>
            <a:ext cx="7239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source DWORD COUNT DUP(?)</a:t>
            </a:r>
          </a:p>
          <a:p>
            <a:pPr eaLnBrk="1" hangingPunct="1">
              <a:lnSpc>
                <a:spcPct val="50000"/>
              </a:lnSpc>
              <a:spcBef>
                <a:spcPct val="50000"/>
              </a:spcBef>
            </a:pPr>
            <a:r>
              <a:rPr lang="en-US" altLang="en-US" sz="1800" b="1">
                <a:latin typeface="Courier New" panose="02070609020205020404" pitchFamily="49" charset="0"/>
              </a:rPr>
              <a:t>target DWORD COUNT DUP(?)</a:t>
            </a:r>
          </a:p>
          <a:p>
            <a:pPr eaLnBrk="1" hangingPunct="1">
              <a:lnSpc>
                <a:spcPct val="50000"/>
              </a:lnSpc>
              <a:spcBef>
                <a:spcPct val="50000"/>
              </a:spcBef>
            </a:pPr>
            <a:r>
              <a:rPr lang="en-US" altLang="en-US" sz="1800" b="1">
                <a:latin typeface="Courier New" panose="02070609020205020404" pitchFamily="49" charset="0"/>
              </a:rPr>
              <a:t>.code</a:t>
            </a:r>
          </a:p>
          <a:p>
            <a:pPr eaLnBrk="1" hangingPunct="1">
              <a:lnSpc>
                <a:spcPct val="50000"/>
              </a:lnSpc>
              <a:spcBef>
                <a:spcPct val="50000"/>
              </a:spcBef>
            </a:pPr>
            <a:r>
              <a:rPr lang="en-US" altLang="en-US" sz="1800" b="1">
                <a:latin typeface="Courier New" panose="02070609020205020404" pitchFamily="49" charset="0"/>
              </a:rPr>
              <a:t>mov ecx,COUNT	; repetition count</a:t>
            </a:r>
          </a:p>
          <a:p>
            <a:pPr eaLnBrk="1" hangingPunct="1">
              <a:lnSpc>
                <a:spcPct val="50000"/>
              </a:lnSpc>
              <a:spcBef>
                <a:spcPct val="50000"/>
              </a:spcBef>
            </a:pPr>
            <a:r>
              <a:rPr lang="en-US" altLang="en-US" sz="1800" b="1">
                <a:latin typeface="Courier New" panose="02070609020205020404" pitchFamily="49" charset="0"/>
              </a:rPr>
              <a:t>mov esi,OFFSET source</a:t>
            </a:r>
          </a:p>
          <a:p>
            <a:pPr eaLnBrk="1" hangingPunct="1">
              <a:lnSpc>
                <a:spcPct val="50000"/>
              </a:lnSpc>
              <a:spcBef>
                <a:spcPct val="50000"/>
              </a:spcBef>
            </a:pPr>
            <a:r>
              <a:rPr lang="en-US" altLang="en-US" sz="1800" b="1">
                <a:latin typeface="Courier New" panose="02070609020205020404" pitchFamily="49" charset="0"/>
              </a:rPr>
              <a:t>mov edi,OFFSET target</a:t>
            </a:r>
          </a:p>
          <a:p>
            <a:pPr eaLnBrk="1" hangingPunct="1">
              <a:lnSpc>
                <a:spcPct val="50000"/>
              </a:lnSpc>
              <a:spcBef>
                <a:spcPct val="50000"/>
              </a:spcBef>
            </a:pPr>
            <a:r>
              <a:rPr lang="en-US" altLang="en-US" sz="1800" b="1">
                <a:latin typeface="Courier New" panose="02070609020205020404" pitchFamily="49" charset="0"/>
              </a:rPr>
              <a:t>cld		; direction = forward</a:t>
            </a:r>
          </a:p>
          <a:p>
            <a:pPr eaLnBrk="1" hangingPunct="1">
              <a:lnSpc>
                <a:spcPct val="50000"/>
              </a:lnSpc>
              <a:spcBef>
                <a:spcPct val="50000"/>
              </a:spcBef>
            </a:pPr>
            <a:r>
              <a:rPr lang="en-US" altLang="en-US" sz="1800" b="1">
                <a:latin typeface="Courier New" panose="02070609020205020404" pitchFamily="49" charset="0"/>
              </a:rPr>
              <a:t>repe cmpsd	; repeat while equal</a:t>
            </a:r>
          </a:p>
        </p:txBody>
      </p:sp>
      <p:sp>
        <p:nvSpPr>
          <p:cNvPr id="19462" name="Text Box 4"/>
          <p:cNvSpPr txBox="1">
            <a:spLocks noChangeArrowheads="1"/>
          </p:cNvSpPr>
          <p:nvPr/>
        </p:nvSpPr>
        <p:spPr bwMode="auto">
          <a:xfrm>
            <a:off x="2209800" y="1480873"/>
            <a:ext cx="7696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2400" dirty="0"/>
              <a:t>Use a REPE (repeat while equal) prefix to compare corresponding elements of two arrays.</a:t>
            </a:r>
          </a:p>
        </p:txBody>
      </p:sp>
      <p:sp>
        <p:nvSpPr>
          <p:cNvPr id="2" name="Slide Number Placeholder 1"/>
          <p:cNvSpPr>
            <a:spLocks noGrp="1"/>
          </p:cNvSpPr>
          <p:nvPr>
            <p:ph type="sldNum" sz="quarter" idx="12"/>
          </p:nvPr>
        </p:nvSpPr>
        <p:spPr/>
        <p:txBody>
          <a:bodyPr/>
          <a:lstStyle/>
          <a:p>
            <a:fld id="{F51B45BB-47DD-4FFE-AFAF-9A1D2EB112A2}" type="slidenum">
              <a:rPr lang="en-US" smtClean="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026"/>
          <p:cNvSpPr>
            <a:spLocks noGrp="1" noChangeArrowheads="1"/>
          </p:cNvSpPr>
          <p:nvPr>
            <p:ph type="title"/>
          </p:nvPr>
        </p:nvSpPr>
        <p:spPr/>
        <p:txBody>
          <a:bodyPr/>
          <a:lstStyle/>
          <a:p>
            <a:pPr eaLnBrk="1" hangingPunct="1">
              <a:defRPr/>
            </a:pPr>
            <a:r>
              <a:rPr lang="en-US" altLang="en-US"/>
              <a:t>Example: Comparing Two Strings</a:t>
            </a:r>
            <a:r>
              <a:rPr lang="en-US" altLang="en-US" sz="2400"/>
              <a:t>  (1 of 3)</a:t>
            </a:r>
          </a:p>
        </p:txBody>
      </p:sp>
      <p:sp>
        <p:nvSpPr>
          <p:cNvPr id="20485" name="Text Box 1027"/>
          <p:cNvSpPr txBox="1">
            <a:spLocks noChangeArrowheads="1"/>
          </p:cNvSpPr>
          <p:nvPr/>
        </p:nvSpPr>
        <p:spPr bwMode="auto">
          <a:xfrm>
            <a:off x="2743200" y="3347052"/>
            <a:ext cx="67056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.data</a:t>
            </a:r>
          </a:p>
          <a:p>
            <a:pPr eaLnBrk="1" hangingPunct="1">
              <a:lnSpc>
                <a:spcPct val="50000"/>
              </a:lnSpc>
              <a:spcBef>
                <a:spcPct val="50000"/>
              </a:spcBef>
            </a:pPr>
            <a:r>
              <a:rPr lang="en-US" altLang="en-US" sz="1800" b="1">
                <a:latin typeface="Courier New" panose="02070609020205020404" pitchFamily="49" charset="0"/>
              </a:rPr>
              <a:t>source BYTE "MARTIN  "</a:t>
            </a:r>
          </a:p>
          <a:p>
            <a:pPr eaLnBrk="1" hangingPunct="1">
              <a:lnSpc>
                <a:spcPct val="50000"/>
              </a:lnSpc>
              <a:spcBef>
                <a:spcPct val="50000"/>
              </a:spcBef>
            </a:pPr>
            <a:r>
              <a:rPr lang="en-US" altLang="en-US" sz="1800" b="1">
                <a:latin typeface="Courier New" panose="02070609020205020404" pitchFamily="49" charset="0"/>
              </a:rPr>
              <a:t>dest   BYTE "MARTINEZ"</a:t>
            </a:r>
          </a:p>
          <a:p>
            <a:pPr eaLnBrk="1" hangingPunct="1">
              <a:lnSpc>
                <a:spcPct val="50000"/>
              </a:lnSpc>
              <a:spcBef>
                <a:spcPct val="50000"/>
              </a:spcBef>
            </a:pPr>
            <a:r>
              <a:rPr lang="en-US" altLang="en-US" sz="1800" b="1">
                <a:latin typeface="Courier New" panose="02070609020205020404" pitchFamily="49" charset="0"/>
              </a:rPr>
              <a:t>str1 BYTE "Source is smaller",0dh,0ah,0</a:t>
            </a:r>
          </a:p>
          <a:p>
            <a:pPr eaLnBrk="1" hangingPunct="1">
              <a:lnSpc>
                <a:spcPct val="50000"/>
              </a:lnSpc>
              <a:spcBef>
                <a:spcPct val="50000"/>
              </a:spcBef>
            </a:pPr>
            <a:r>
              <a:rPr lang="en-US" altLang="en-US" sz="1800" b="1">
                <a:latin typeface="Courier New" panose="02070609020205020404" pitchFamily="49" charset="0"/>
              </a:rPr>
              <a:t>str2 BYTE "Source is not smaller",0dh,0ah,0</a:t>
            </a:r>
          </a:p>
        </p:txBody>
      </p:sp>
      <p:sp>
        <p:nvSpPr>
          <p:cNvPr id="20486" name="Text Box 1028"/>
          <p:cNvSpPr txBox="1">
            <a:spLocks noChangeArrowheads="1"/>
          </p:cNvSpPr>
          <p:nvPr/>
        </p:nvSpPr>
        <p:spPr bwMode="auto">
          <a:xfrm>
            <a:off x="2209800" y="1365852"/>
            <a:ext cx="76962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sz="2400" dirty="0"/>
              <a:t>This program compares two strings (source and destination). It displays a message indicating whether the lexical value of the source string is less than the destination string.</a:t>
            </a:r>
          </a:p>
        </p:txBody>
      </p:sp>
      <p:grpSp>
        <p:nvGrpSpPr>
          <p:cNvPr id="2" name="Group 1031"/>
          <p:cNvGrpSpPr/>
          <p:nvPr/>
        </p:nvGrpSpPr>
        <p:grpSpPr bwMode="auto">
          <a:xfrm>
            <a:off x="2667000" y="5328252"/>
            <a:ext cx="6705600" cy="1219200"/>
            <a:chOff x="720" y="3168"/>
            <a:chExt cx="4224" cy="768"/>
          </a:xfrm>
        </p:grpSpPr>
        <p:sp>
          <p:nvSpPr>
            <p:cNvPr id="20488" name="Text Box 1029"/>
            <p:cNvSpPr txBox="1">
              <a:spLocks noChangeArrowheads="1"/>
            </p:cNvSpPr>
            <p:nvPr/>
          </p:nvSpPr>
          <p:spPr bwMode="auto">
            <a:xfrm>
              <a:off x="1536" y="3168"/>
              <a:ext cx="3408" cy="768"/>
            </a:xfrm>
            <a:prstGeom prst="rect">
              <a:avLst/>
            </a:prstGeom>
            <a:solidFill>
              <a:schemeClr val="bg2"/>
            </a:solidFill>
            <a:ln w="9525">
              <a:solidFill>
                <a:schemeClr val="tx1"/>
              </a:solidFill>
              <a:miter lim="800000"/>
            </a:ln>
          </p:spPr>
          <p:txBody>
            <a:bodyPr lIns="137160" tIns="182880" rIns="137160" bIns="182880"/>
            <a:lstStyle>
              <a:lvl1pPr eaLnBrk="0" hangingPunct="0">
                <a:tabLst>
                  <a:tab pos="457200" algn="l"/>
                  <a:tab pos="3657600" algn="l"/>
                  <a:tab pos="4114800" algn="l"/>
                </a:tabLst>
                <a:defRPr sz="2100">
                  <a:solidFill>
                    <a:schemeClr val="tx1"/>
                  </a:solidFill>
                  <a:latin typeface="Arial" panose="020B0704020202020204" pitchFamily="34" charset="0"/>
                </a:defRPr>
              </a:lvl1pPr>
              <a:lvl2pPr marL="742950" indent="-285750" eaLnBrk="0" hangingPunct="0">
                <a:tabLst>
                  <a:tab pos="457200" algn="l"/>
                  <a:tab pos="3657600" algn="l"/>
                  <a:tab pos="4114800" algn="l"/>
                </a:tabLst>
                <a:defRPr sz="2100">
                  <a:solidFill>
                    <a:schemeClr val="tx1"/>
                  </a:solidFill>
                  <a:latin typeface="Arial" panose="020B0704020202020204" pitchFamily="34" charset="0"/>
                </a:defRPr>
              </a:lvl2pPr>
              <a:lvl3pPr marL="1143000" indent="-228600" eaLnBrk="0" hangingPunct="0">
                <a:tabLst>
                  <a:tab pos="457200" algn="l"/>
                  <a:tab pos="3657600" algn="l"/>
                  <a:tab pos="4114800" algn="l"/>
                </a:tabLst>
                <a:defRPr sz="2100">
                  <a:solidFill>
                    <a:schemeClr val="tx1"/>
                  </a:solidFill>
                  <a:latin typeface="Arial" panose="020B0704020202020204" pitchFamily="34" charset="0"/>
                </a:defRPr>
              </a:lvl3pPr>
              <a:lvl4pPr marL="1600200" indent="-228600" eaLnBrk="0" hangingPunct="0">
                <a:tabLst>
                  <a:tab pos="457200" algn="l"/>
                  <a:tab pos="3657600" algn="l"/>
                  <a:tab pos="4114800" algn="l"/>
                </a:tabLst>
                <a:defRPr sz="2100">
                  <a:solidFill>
                    <a:schemeClr val="tx1"/>
                  </a:solidFill>
                  <a:latin typeface="Arial" panose="020B0704020202020204" pitchFamily="34" charset="0"/>
                </a:defRPr>
              </a:lvl4pPr>
              <a:lvl5pPr marL="2057400" indent="-228600" eaLnBrk="0" hangingPunct="0">
                <a:tabLst>
                  <a:tab pos="457200" algn="l"/>
                  <a:tab pos="3657600" algn="l"/>
                  <a:tab pos="41148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7600" algn="l"/>
                  <a:tab pos="41148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a:latin typeface="Courier New" panose="02070609020205020404" pitchFamily="49" charset="0"/>
                </a:rPr>
                <a:t>Source is smaller</a:t>
              </a:r>
            </a:p>
          </p:txBody>
        </p:sp>
        <p:sp>
          <p:nvSpPr>
            <p:cNvPr id="20489" name="Text Box 1030"/>
            <p:cNvSpPr txBox="1">
              <a:spLocks noChangeArrowheads="1"/>
            </p:cNvSpPr>
            <p:nvPr/>
          </p:nvSpPr>
          <p:spPr bwMode="auto">
            <a:xfrm>
              <a:off x="720" y="3264"/>
              <a:ext cx="100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Screen output:</a:t>
              </a:r>
            </a:p>
          </p:txBody>
        </p:sp>
      </p:grpSp>
      <p:sp>
        <p:nvSpPr>
          <p:cNvPr id="3" name="Slide Number Placeholder 2"/>
          <p:cNvSpPr>
            <a:spLocks noGrp="1"/>
          </p:cNvSpPr>
          <p:nvPr>
            <p:ph type="sldNum" sz="quarter" idx="12"/>
          </p:nvPr>
        </p:nvSpPr>
        <p:spPr/>
        <p:txBody>
          <a:bodyPr/>
          <a:lstStyle/>
          <a:p>
            <a:fld id="{F51B45BB-47DD-4FFE-AFAF-9A1D2EB112A2}" type="slidenum">
              <a:rPr lang="en-US" smtClean="0"/>
              <a:t>75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en-US" altLang="en-US"/>
              <a:t>Example: Comparing Two Strings</a:t>
            </a:r>
            <a:r>
              <a:rPr lang="en-US" altLang="en-US" sz="2400"/>
              <a:t>  (2 of 3)</a:t>
            </a:r>
            <a:endParaRPr lang="en-US" altLang="en-US"/>
          </a:p>
        </p:txBody>
      </p:sp>
      <p:sp>
        <p:nvSpPr>
          <p:cNvPr id="21509" name="Text Box 3"/>
          <p:cNvSpPr txBox="1">
            <a:spLocks noChangeArrowheads="1"/>
          </p:cNvSpPr>
          <p:nvPr/>
        </p:nvSpPr>
        <p:spPr bwMode="auto">
          <a:xfrm>
            <a:off x="2209800" y="1381668"/>
            <a:ext cx="7848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7160" tIns="182880" rIns="137160" bIns="182880"/>
          <a:lstStyle>
            <a:lvl1pPr eaLnBrk="0" hangingPunct="0">
              <a:tabLst>
                <a:tab pos="457200" algn="l"/>
                <a:tab pos="3655695" algn="l"/>
              </a:tabLst>
              <a:defRPr sz="2100">
                <a:solidFill>
                  <a:schemeClr val="tx1"/>
                </a:solidFill>
                <a:latin typeface="Arial" panose="020B0704020202020204" pitchFamily="34" charset="0"/>
              </a:defRPr>
            </a:lvl1pPr>
            <a:lvl2pPr eaLnBrk="0" hangingPunct="0">
              <a:tabLst>
                <a:tab pos="457200" algn="l"/>
                <a:tab pos="3655695" algn="l"/>
              </a:tabLst>
              <a:defRPr sz="2100">
                <a:solidFill>
                  <a:schemeClr val="tx1"/>
                </a:solidFill>
                <a:latin typeface="Arial" panose="020B0704020202020204" pitchFamily="34" charset="0"/>
              </a:defRPr>
            </a:lvl2pPr>
            <a:lvl3pPr marL="1143000" indent="-228600" eaLnBrk="0" hangingPunct="0">
              <a:tabLst>
                <a:tab pos="457200" algn="l"/>
                <a:tab pos="3655695" algn="l"/>
              </a:tabLst>
              <a:defRPr sz="2100">
                <a:solidFill>
                  <a:schemeClr val="tx1"/>
                </a:solidFill>
                <a:latin typeface="Arial" panose="020B0704020202020204" pitchFamily="34" charset="0"/>
              </a:defRPr>
            </a:lvl3pPr>
            <a:lvl4pPr marL="1600200" indent="-228600" eaLnBrk="0" hangingPunct="0">
              <a:tabLst>
                <a:tab pos="457200" algn="l"/>
                <a:tab pos="3655695" algn="l"/>
              </a:tabLst>
              <a:defRPr sz="2100">
                <a:solidFill>
                  <a:schemeClr val="tx1"/>
                </a:solidFill>
                <a:latin typeface="Arial" panose="020B0704020202020204" pitchFamily="34" charset="0"/>
              </a:defRPr>
            </a:lvl4pPr>
            <a:lvl5pPr marL="2057400" indent="-228600" eaLnBrk="0" hangingPunct="0">
              <a:tabLst>
                <a:tab pos="457200" algn="l"/>
                <a:tab pos="3655695"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457200" algn="l"/>
                <a:tab pos="3655695"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457200" algn="l"/>
                <a:tab pos="3655695"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457200" algn="l"/>
                <a:tab pos="3655695"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457200" algn="l"/>
                <a:tab pos="3655695"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800" b="1" dirty="0">
                <a:latin typeface="Courier New" panose="02070609020205020404" pitchFamily="49" charset="0"/>
              </a:rPr>
              <a:t>.code</a:t>
            </a:r>
          </a:p>
          <a:p>
            <a:pPr eaLnBrk="1" hangingPunct="1">
              <a:lnSpc>
                <a:spcPct val="50000"/>
              </a:lnSpc>
              <a:spcBef>
                <a:spcPct val="50000"/>
              </a:spcBef>
            </a:pPr>
            <a:r>
              <a:rPr lang="en-US" altLang="en-US" sz="1800" b="1" dirty="0">
                <a:latin typeface="Courier New" panose="02070609020205020404" pitchFamily="49" charset="0"/>
              </a:rPr>
              <a:t>main PROC</a:t>
            </a:r>
          </a:p>
          <a:p>
            <a:pPr lvl="1" eaLnBrk="1" hangingPunct="1">
              <a:lnSpc>
                <a:spcPct val="50000"/>
              </a:lnSpc>
              <a:spcBef>
                <a:spcPct val="50000"/>
              </a:spcBef>
            </a:pPr>
            <a:r>
              <a:rPr lang="en-US" altLang="en-US" sz="1800" b="1" dirty="0" err="1">
                <a:latin typeface="Courier New" panose="02070609020205020404" pitchFamily="49" charset="0"/>
              </a:rPr>
              <a:t>cld</a:t>
            </a:r>
            <a:r>
              <a:rPr lang="en-US" altLang="en-US" sz="1800" b="1" dirty="0">
                <a:latin typeface="Courier New" panose="02070609020205020404" pitchFamily="49" charset="0"/>
              </a:rPr>
              <a:t> 	; direction = forward</a:t>
            </a: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esi,OFFSET</a:t>
            </a:r>
            <a:r>
              <a:rPr lang="en-US" altLang="en-US" sz="1800" b="1" dirty="0">
                <a:latin typeface="Courier New" panose="02070609020205020404" pitchFamily="49" charset="0"/>
              </a:rPr>
              <a:t> source</a:t>
            </a: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edi,OFFSET</a:t>
            </a:r>
            <a:r>
              <a:rPr lang="en-US" altLang="en-US" sz="1800" b="1" dirty="0">
                <a:latin typeface="Courier New" panose="02070609020205020404" pitchFamily="49" charset="0"/>
              </a:rPr>
              <a:t> </a:t>
            </a:r>
            <a:r>
              <a:rPr lang="en-US" altLang="en-US" sz="1800" b="1" dirty="0" err="1">
                <a:latin typeface="Courier New" panose="02070609020205020404" pitchFamily="49" charset="0"/>
              </a:rPr>
              <a:t>dest</a:t>
            </a:r>
            <a:endParaRPr lang="en-US" altLang="en-US" sz="1800" b="1" dirty="0">
              <a:latin typeface="Courier New" panose="02070609020205020404" pitchFamily="49" charset="0"/>
            </a:endParaRP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ecx,LENGTHOF</a:t>
            </a:r>
            <a:r>
              <a:rPr lang="en-US" altLang="en-US" sz="1800" b="1" dirty="0">
                <a:latin typeface="Courier New" panose="02070609020205020404" pitchFamily="49" charset="0"/>
              </a:rPr>
              <a:t> source</a:t>
            </a:r>
          </a:p>
          <a:p>
            <a:pPr lvl="1" eaLnBrk="1" hangingPunct="1">
              <a:lnSpc>
                <a:spcPct val="50000"/>
              </a:lnSpc>
              <a:spcBef>
                <a:spcPct val="50000"/>
              </a:spcBef>
            </a:pPr>
            <a:r>
              <a:rPr lang="en-US" altLang="en-US" sz="1800" b="1" dirty="0" err="1">
                <a:latin typeface="Courier New" panose="02070609020205020404" pitchFamily="49" charset="0"/>
              </a:rPr>
              <a:t>repe</a:t>
            </a:r>
            <a:r>
              <a:rPr lang="en-US" altLang="en-US" sz="1800" b="1" dirty="0">
                <a:latin typeface="Courier New" panose="02070609020205020404" pitchFamily="49" charset="0"/>
              </a:rPr>
              <a:t> </a:t>
            </a:r>
            <a:r>
              <a:rPr lang="en-US" altLang="en-US" sz="1800" b="1" dirty="0" err="1">
                <a:latin typeface="Courier New" panose="02070609020205020404" pitchFamily="49" charset="0"/>
              </a:rPr>
              <a:t>cmpsb</a:t>
            </a:r>
            <a:endParaRPr lang="en-US" altLang="en-US" sz="1800" b="1" dirty="0">
              <a:latin typeface="Courier New" panose="02070609020205020404" pitchFamily="49" charset="0"/>
            </a:endParaRPr>
          </a:p>
          <a:p>
            <a:pPr lvl="1" eaLnBrk="1" hangingPunct="1">
              <a:lnSpc>
                <a:spcPct val="50000"/>
              </a:lnSpc>
              <a:spcBef>
                <a:spcPct val="50000"/>
              </a:spcBef>
            </a:pPr>
            <a:r>
              <a:rPr lang="en-US" altLang="en-US" sz="1800" b="1" dirty="0" err="1">
                <a:latin typeface="Courier New" panose="02070609020205020404" pitchFamily="49" charset="0"/>
              </a:rPr>
              <a:t>jb</a:t>
            </a:r>
            <a:r>
              <a:rPr lang="en-US" altLang="en-US" sz="1800" b="1" dirty="0">
                <a:latin typeface="Courier New" panose="02070609020205020404" pitchFamily="49" charset="0"/>
              </a:rPr>
              <a:t>   </a:t>
            </a:r>
            <a:r>
              <a:rPr lang="en-US" altLang="en-US" sz="1800" b="1" dirty="0" err="1">
                <a:latin typeface="Courier New" panose="02070609020205020404" pitchFamily="49" charset="0"/>
              </a:rPr>
              <a:t>source_smaller</a:t>
            </a:r>
            <a:endParaRPr lang="en-US" altLang="en-US" sz="1800" b="1" dirty="0">
              <a:latin typeface="Courier New" panose="02070609020205020404" pitchFamily="49" charset="0"/>
            </a:endParaRP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edx,OFFSET</a:t>
            </a:r>
            <a:r>
              <a:rPr lang="en-US" altLang="en-US" sz="1800" b="1" dirty="0">
                <a:latin typeface="Courier New" panose="02070609020205020404" pitchFamily="49" charset="0"/>
              </a:rPr>
              <a:t> str2	; "source is not smaller"</a:t>
            </a:r>
          </a:p>
          <a:p>
            <a:pPr lvl="1" eaLnBrk="1" hangingPunct="1">
              <a:lnSpc>
                <a:spcPct val="50000"/>
              </a:lnSpc>
              <a:spcBef>
                <a:spcPct val="50000"/>
              </a:spcBef>
            </a:pPr>
            <a:r>
              <a:rPr lang="en-US" altLang="en-US" sz="1800" b="1" dirty="0" err="1">
                <a:latin typeface="Courier New" panose="02070609020205020404" pitchFamily="49" charset="0"/>
              </a:rPr>
              <a:t>jmp</a:t>
            </a:r>
            <a:r>
              <a:rPr lang="en-US" altLang="en-US" sz="1800" b="1" dirty="0">
                <a:latin typeface="Courier New" panose="02070609020205020404" pitchFamily="49" charset="0"/>
              </a:rPr>
              <a:t>  done</a:t>
            </a:r>
          </a:p>
          <a:p>
            <a:pPr eaLnBrk="1" hangingPunct="1">
              <a:lnSpc>
                <a:spcPct val="50000"/>
              </a:lnSpc>
              <a:spcBef>
                <a:spcPct val="50000"/>
              </a:spcBef>
            </a:pPr>
            <a:r>
              <a:rPr lang="en-US" altLang="en-US" sz="1800" b="1" dirty="0" err="1">
                <a:latin typeface="Courier New" panose="02070609020205020404" pitchFamily="49" charset="0"/>
              </a:rPr>
              <a:t>source_smaller</a:t>
            </a:r>
            <a:r>
              <a:rPr lang="en-US" altLang="en-US" sz="1800" b="1" dirty="0">
                <a:latin typeface="Courier New" panose="02070609020205020404" pitchFamily="49" charset="0"/>
              </a:rPr>
              <a:t>:</a:t>
            </a:r>
          </a:p>
          <a:p>
            <a:pPr lvl="1" eaLnBrk="1" hangingPunct="1">
              <a:lnSpc>
                <a:spcPct val="50000"/>
              </a:lnSpc>
              <a:spcBef>
                <a:spcPct val="50000"/>
              </a:spcBef>
            </a:pPr>
            <a:r>
              <a:rPr lang="en-US" altLang="en-US" sz="1800" b="1" dirty="0" err="1">
                <a:latin typeface="Courier New" panose="02070609020205020404" pitchFamily="49" charset="0"/>
              </a:rPr>
              <a:t>mov</a:t>
            </a:r>
            <a:r>
              <a:rPr lang="en-US" altLang="en-US" sz="1800" b="1" dirty="0">
                <a:latin typeface="Courier New" panose="02070609020205020404" pitchFamily="49" charset="0"/>
              </a:rPr>
              <a:t>  </a:t>
            </a:r>
            <a:r>
              <a:rPr lang="en-US" altLang="en-US" sz="1800" b="1" dirty="0" err="1">
                <a:latin typeface="Courier New" panose="02070609020205020404" pitchFamily="49" charset="0"/>
              </a:rPr>
              <a:t>edx,OFFSET</a:t>
            </a:r>
            <a:r>
              <a:rPr lang="en-US" altLang="en-US" sz="1800" b="1" dirty="0">
                <a:latin typeface="Courier New" panose="02070609020205020404" pitchFamily="49" charset="0"/>
              </a:rPr>
              <a:t> str1	; "source is smaller"</a:t>
            </a:r>
          </a:p>
          <a:p>
            <a:pPr eaLnBrk="1" hangingPunct="1">
              <a:lnSpc>
                <a:spcPct val="50000"/>
              </a:lnSpc>
              <a:spcBef>
                <a:spcPct val="50000"/>
              </a:spcBef>
            </a:pPr>
            <a:r>
              <a:rPr lang="en-US" altLang="en-US" sz="1800" b="1" dirty="0">
                <a:latin typeface="Courier New" panose="02070609020205020404" pitchFamily="49" charset="0"/>
              </a:rPr>
              <a:t>done:</a:t>
            </a:r>
          </a:p>
          <a:p>
            <a:pPr lvl="1" eaLnBrk="1" hangingPunct="1">
              <a:lnSpc>
                <a:spcPct val="50000"/>
              </a:lnSpc>
              <a:spcBef>
                <a:spcPct val="50000"/>
              </a:spcBef>
            </a:pPr>
            <a:r>
              <a:rPr lang="en-US" altLang="en-US" sz="1800" b="1" dirty="0">
                <a:latin typeface="Courier New" panose="02070609020205020404" pitchFamily="49" charset="0"/>
              </a:rPr>
              <a:t>call </a:t>
            </a:r>
            <a:r>
              <a:rPr lang="en-US" altLang="en-US" sz="1800" b="1" dirty="0" err="1">
                <a:latin typeface="Courier New" panose="02070609020205020404" pitchFamily="49" charset="0"/>
              </a:rPr>
              <a:t>WriteString</a:t>
            </a:r>
            <a:endParaRPr lang="en-US" altLang="en-US" sz="1800" b="1" dirty="0">
              <a:latin typeface="Courier New" panose="02070609020205020404" pitchFamily="49" charset="0"/>
            </a:endParaRPr>
          </a:p>
          <a:p>
            <a:pPr lvl="1" eaLnBrk="1" hangingPunct="1">
              <a:lnSpc>
                <a:spcPct val="50000"/>
              </a:lnSpc>
              <a:spcBef>
                <a:spcPct val="50000"/>
              </a:spcBef>
            </a:pPr>
            <a:r>
              <a:rPr lang="en-US" altLang="en-US" sz="1800" b="1" dirty="0">
                <a:latin typeface="Courier New" panose="02070609020205020404" pitchFamily="49" charset="0"/>
              </a:rPr>
              <a:t>exit</a:t>
            </a:r>
          </a:p>
          <a:p>
            <a:pPr eaLnBrk="1" hangingPunct="1">
              <a:lnSpc>
                <a:spcPct val="50000"/>
              </a:lnSpc>
              <a:spcBef>
                <a:spcPct val="50000"/>
              </a:spcBef>
            </a:pPr>
            <a:r>
              <a:rPr lang="en-US" altLang="en-US" sz="1800" b="1" dirty="0">
                <a:latin typeface="Courier New" panose="02070609020205020404" pitchFamily="49" charset="0"/>
              </a:rPr>
              <a:t>main ENDP</a:t>
            </a:r>
          </a:p>
          <a:p>
            <a:pPr eaLnBrk="1" hangingPunct="1">
              <a:lnSpc>
                <a:spcPct val="50000"/>
              </a:lnSpc>
              <a:spcBef>
                <a:spcPct val="50000"/>
              </a:spcBef>
            </a:pPr>
            <a:r>
              <a:rPr lang="en-US" altLang="en-US" sz="1800" b="1" dirty="0">
                <a:latin typeface="Courier New" panose="02070609020205020404" pitchFamily="49" charset="0"/>
              </a:rPr>
              <a:t>END main</a:t>
            </a:r>
          </a:p>
        </p:txBody>
      </p:sp>
      <p:sp>
        <p:nvSpPr>
          <p:cNvPr id="2" name="Slide Number Placeholder 1"/>
          <p:cNvSpPr>
            <a:spLocks noGrp="1"/>
          </p:cNvSpPr>
          <p:nvPr>
            <p:ph type="sldNum" sz="quarter" idx="12"/>
          </p:nvPr>
        </p:nvSpPr>
        <p:spPr/>
        <p:txBody>
          <a:bodyPr/>
          <a:lstStyle/>
          <a:p>
            <a:fld id="{F51B45BB-47DD-4FFE-AFAF-9A1D2EB112A2}" type="slidenum">
              <a:rPr lang="en-US" smtClean="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026"/>
          <p:cNvSpPr>
            <a:spLocks noGrp="1" noChangeArrowheads="1"/>
          </p:cNvSpPr>
          <p:nvPr>
            <p:ph type="title"/>
          </p:nvPr>
        </p:nvSpPr>
        <p:spPr/>
        <p:txBody>
          <a:bodyPr/>
          <a:lstStyle/>
          <a:p>
            <a:pPr eaLnBrk="1" hangingPunct="1">
              <a:defRPr/>
            </a:pPr>
            <a:r>
              <a:rPr lang="en-US" altLang="en-US"/>
              <a:t>Example: Comparing Two Strings</a:t>
            </a:r>
            <a:r>
              <a:rPr lang="en-US" altLang="en-US" sz="2400"/>
              <a:t>  (3 of 3)</a:t>
            </a:r>
          </a:p>
        </p:txBody>
      </p:sp>
      <p:sp>
        <p:nvSpPr>
          <p:cNvPr id="1030" name="Rectangle 1027"/>
          <p:cNvSpPr>
            <a:spLocks noGrp="1" noChangeArrowheads="1"/>
          </p:cNvSpPr>
          <p:nvPr>
            <p:ph type="body" idx="1"/>
          </p:nvPr>
        </p:nvSpPr>
        <p:spPr>
          <a:xfrm>
            <a:off x="2209800" y="1821617"/>
            <a:ext cx="7772400" cy="990600"/>
          </a:xfrm>
        </p:spPr>
        <p:txBody>
          <a:bodyPr>
            <a:normAutofit lnSpcReduction="10000"/>
          </a:bodyPr>
          <a:lstStyle/>
          <a:p>
            <a:pPr eaLnBrk="1" hangingPunct="1">
              <a:lnSpc>
                <a:spcPct val="110000"/>
              </a:lnSpc>
            </a:pPr>
            <a:r>
              <a:rPr lang="en-US" altLang="en-US" dirty="0"/>
              <a:t>The following diagram shows the final values of ESI and EDI after comparing the strings:</a:t>
            </a:r>
          </a:p>
        </p:txBody>
      </p:sp>
      <p:graphicFrame>
        <p:nvGraphicFramePr>
          <p:cNvPr id="1026" name="Object 1028"/>
          <p:cNvGraphicFramePr>
            <a:graphicFrameLocks noChangeAspect="1"/>
          </p:cNvGraphicFramePr>
          <p:nvPr/>
        </p:nvGraphicFramePr>
        <p:xfrm>
          <a:off x="2514600" y="3117017"/>
          <a:ext cx="7239000" cy="2241550"/>
        </p:xfrm>
        <a:graphic>
          <a:graphicData uri="http://schemas.openxmlformats.org/presentationml/2006/ole">
            <mc:AlternateContent xmlns:mc="http://schemas.openxmlformats.org/markup-compatibility/2006">
              <mc:Choice xmlns:v="urn:schemas-microsoft-com:vml" Requires="v">
                <p:oleObj name="VISIO" r:id="rId2" imgW="4582795" imgH="1417320" progId="Visio.Drawing.6">
                  <p:embed/>
                </p:oleObj>
              </mc:Choice>
              <mc:Fallback>
                <p:oleObj name="VISIO" r:id="rId2" imgW="4582795" imgH="1417320" progId="Visio.Drawing.6">
                  <p:embed/>
                  <p:pic>
                    <p:nvPicPr>
                      <p:cNvPr id="0" name="Object 1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117017"/>
                        <a:ext cx="7239000" cy="22415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F51B45BB-47DD-4FFE-AFAF-9A1D2EB112A2}" type="slidenum">
              <a:rPr lang="en-US" smtClean="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en-US" altLang="en-US" dirty="0"/>
              <a:t>Sorting Integer Arrays</a:t>
            </a:r>
          </a:p>
        </p:txBody>
      </p:sp>
      <p:sp>
        <p:nvSpPr>
          <p:cNvPr id="54277" name="Rectangle 3"/>
          <p:cNvSpPr>
            <a:spLocks noGrp="1" noChangeArrowheads="1"/>
          </p:cNvSpPr>
          <p:nvPr>
            <p:ph type="body" idx="1"/>
          </p:nvPr>
        </p:nvSpPr>
        <p:spPr>
          <a:xfrm>
            <a:off x="2362200" y="2110602"/>
            <a:ext cx="7391400" cy="3505200"/>
          </a:xfrm>
        </p:spPr>
        <p:txBody>
          <a:bodyPr/>
          <a:lstStyle/>
          <a:p>
            <a:pPr eaLnBrk="1" hangingPunct="1"/>
            <a:r>
              <a:rPr lang="en-US" altLang="en-US" dirty="0"/>
              <a:t>Bubble Sort</a:t>
            </a:r>
          </a:p>
          <a:p>
            <a:pPr lvl="1" eaLnBrk="1" hangingPunct="1"/>
            <a:r>
              <a:rPr lang="en-US" altLang="en-US" dirty="0"/>
              <a:t>A simple sorting algorithm that works well for small arrays</a:t>
            </a:r>
          </a:p>
        </p:txBody>
      </p:sp>
      <p:sp>
        <p:nvSpPr>
          <p:cNvPr id="2" name="Slide Number Placeholder 1"/>
          <p:cNvSpPr>
            <a:spLocks noGrp="1"/>
          </p:cNvSpPr>
          <p:nvPr>
            <p:ph type="sldNum" sz="quarter" idx="12"/>
          </p:nvPr>
        </p:nvSpPr>
        <p:spPr/>
        <p:txBody>
          <a:bodyPr/>
          <a:lstStyle/>
          <a:p>
            <a:fld id="{F51B45BB-47DD-4FFE-AFAF-9A1D2EB112A2}" type="slidenum">
              <a:rPr lang="en-US" smtClean="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en-US" altLang="en-US"/>
              <a:t>Bubble Sort</a:t>
            </a:r>
            <a:endParaRPr lang="en-US" altLang="en-US" sz="2400"/>
          </a:p>
        </p:txBody>
      </p:sp>
      <p:graphicFrame>
        <p:nvGraphicFramePr>
          <p:cNvPr id="4098" name="Object 4"/>
          <p:cNvGraphicFramePr>
            <a:graphicFrameLocks noChangeAspect="1"/>
          </p:cNvGraphicFramePr>
          <p:nvPr/>
        </p:nvGraphicFramePr>
        <p:xfrm>
          <a:off x="2590800" y="2435530"/>
          <a:ext cx="7239000" cy="3813175"/>
        </p:xfrm>
        <a:graphic>
          <a:graphicData uri="http://schemas.openxmlformats.org/presentationml/2006/ole">
            <mc:AlternateContent xmlns:mc="http://schemas.openxmlformats.org/markup-compatibility/2006">
              <mc:Choice xmlns:v="urn:schemas-microsoft-com:vml" Requires="v">
                <p:oleObj name="VISIO" r:id="rId2" imgW="3593465" imgH="1934210" progId="Visio.Drawing.6">
                  <p:embed/>
                </p:oleObj>
              </mc:Choice>
              <mc:Fallback>
                <p:oleObj name="VISIO" r:id="rId2" imgW="3593465" imgH="1934210"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r="-2150"/>
                      <a:stretch>
                        <a:fillRect/>
                      </a:stretch>
                    </p:blipFill>
                    <p:spPr bwMode="auto">
                      <a:xfrm>
                        <a:off x="2590800" y="2435530"/>
                        <a:ext cx="7239000" cy="38131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2" name="Text Box 5"/>
          <p:cNvSpPr txBox="1">
            <a:spLocks noChangeArrowheads="1"/>
          </p:cNvSpPr>
          <p:nvPr/>
        </p:nvSpPr>
        <p:spPr bwMode="auto">
          <a:xfrm>
            <a:off x="2057400" y="1368729"/>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dirty="0"/>
              <a:t>Each pair of adjacent values is compared, and exchanged if the values are not ordered correctly:</a:t>
            </a:r>
          </a:p>
        </p:txBody>
      </p:sp>
      <p:sp>
        <p:nvSpPr>
          <p:cNvPr id="2" name="Slide Number Placeholder 1"/>
          <p:cNvSpPr>
            <a:spLocks noGrp="1"/>
          </p:cNvSpPr>
          <p:nvPr>
            <p:ph type="sldNum" sz="quarter" idx="12"/>
          </p:nvPr>
        </p:nvSpPr>
        <p:spPr/>
        <p:txBody>
          <a:bodyPr/>
          <a:lstStyle/>
          <a:p>
            <a:fld id="{F51B45BB-47DD-4FFE-AFAF-9A1D2EB112A2}" type="slidenum">
              <a:rPr lang="en-US" smtClean="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eaLnBrk="1" hangingPunct="1">
              <a:defRPr/>
            </a:pPr>
            <a:r>
              <a:rPr lang="en-US" altLang="en-US"/>
              <a:t>Bubble Sort Pseudocode</a:t>
            </a:r>
          </a:p>
        </p:txBody>
      </p:sp>
      <p:sp>
        <p:nvSpPr>
          <p:cNvPr id="55301" name="Text Box 3"/>
          <p:cNvSpPr txBox="1">
            <a:spLocks noChangeArrowheads="1"/>
          </p:cNvSpPr>
          <p:nvPr/>
        </p:nvSpPr>
        <p:spPr bwMode="auto">
          <a:xfrm>
            <a:off x="2209800" y="1260897"/>
            <a:ext cx="7391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spcBef>
                <a:spcPct val="50000"/>
              </a:spcBef>
            </a:pPr>
            <a:r>
              <a:rPr lang="en-US" altLang="en-US"/>
              <a:t>N = array size, cx1 = outer loop counter, cx2 = inner loop counter:</a:t>
            </a:r>
          </a:p>
        </p:txBody>
      </p:sp>
      <p:sp>
        <p:nvSpPr>
          <p:cNvPr id="55302" name="Text Box 4"/>
          <p:cNvSpPr txBox="1">
            <a:spLocks noChangeArrowheads="1"/>
          </p:cNvSpPr>
          <p:nvPr/>
        </p:nvSpPr>
        <p:spPr bwMode="auto">
          <a:xfrm>
            <a:off x="2743200" y="2175298"/>
            <a:ext cx="6629400" cy="4224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defRPr sz="2100">
                <a:solidFill>
                  <a:schemeClr val="tx1"/>
                </a:solidFill>
                <a:latin typeface="Arial" panose="020B0704020202020204" pitchFamily="34" charset="0"/>
              </a:defRPr>
            </a:lvl1pPr>
            <a:lvl2pPr marL="742950" indent="-285750" eaLnBrk="0" hangingPunct="0">
              <a:defRPr sz="2100">
                <a:solidFill>
                  <a:schemeClr val="tx1"/>
                </a:solidFill>
                <a:latin typeface="Arial" panose="020B0704020202020204" pitchFamily="34" charset="0"/>
              </a:defRPr>
            </a:lvl2pPr>
            <a:lvl3pPr marL="1143000" indent="-228600" eaLnBrk="0" hangingPunct="0">
              <a:defRPr sz="2100">
                <a:solidFill>
                  <a:schemeClr val="tx1"/>
                </a:solidFill>
                <a:latin typeface="Arial" panose="020B0704020202020204" pitchFamily="34" charset="0"/>
              </a:defRPr>
            </a:lvl3pPr>
            <a:lvl4pPr marL="1600200" indent="-228600" eaLnBrk="0" hangingPunct="0">
              <a:defRPr sz="2100">
                <a:solidFill>
                  <a:schemeClr val="tx1"/>
                </a:solidFill>
                <a:latin typeface="Arial" panose="020B0704020202020204" pitchFamily="34" charset="0"/>
              </a:defRPr>
            </a:lvl4pPr>
            <a:lvl5pPr marL="2057400" indent="-228600" eaLnBrk="0" hangingPunct="0">
              <a:defRPr sz="2100">
                <a:solidFill>
                  <a:schemeClr val="tx1"/>
                </a:solidFill>
                <a:latin typeface="Arial" panose="020B0704020202020204" pitchFamily="34" charset="0"/>
              </a:defRPr>
            </a:lvl5pPr>
            <a:lvl6pPr marL="2514600" indent="-228600" eaLnBrk="0" fontAlgn="base" hangingPunct="0">
              <a:spcBef>
                <a:spcPct val="0"/>
              </a:spcBef>
              <a:spcAft>
                <a:spcPct val="0"/>
              </a:spcAft>
              <a:defRPr sz="2100">
                <a:solidFill>
                  <a:schemeClr val="tx1"/>
                </a:solidFill>
                <a:latin typeface="Arial" panose="020B0704020202020204" pitchFamily="34" charset="0"/>
              </a:defRPr>
            </a:lvl6pPr>
            <a:lvl7pPr marL="2971800" indent="-228600" eaLnBrk="0" fontAlgn="base" hangingPunct="0">
              <a:spcBef>
                <a:spcPct val="0"/>
              </a:spcBef>
              <a:spcAft>
                <a:spcPct val="0"/>
              </a:spcAft>
              <a:defRPr sz="2100">
                <a:solidFill>
                  <a:schemeClr val="tx1"/>
                </a:solidFill>
                <a:latin typeface="Arial" panose="020B0704020202020204" pitchFamily="34" charset="0"/>
              </a:defRPr>
            </a:lvl7pPr>
            <a:lvl8pPr marL="3429000" indent="-228600" eaLnBrk="0" fontAlgn="base" hangingPunct="0">
              <a:spcBef>
                <a:spcPct val="0"/>
              </a:spcBef>
              <a:spcAft>
                <a:spcPct val="0"/>
              </a:spcAft>
              <a:defRPr sz="2100">
                <a:solidFill>
                  <a:schemeClr val="tx1"/>
                </a:solidFill>
                <a:latin typeface="Arial" panose="020B0704020202020204" pitchFamily="34" charset="0"/>
              </a:defRPr>
            </a:lvl8pPr>
            <a:lvl9pPr marL="3886200" indent="-228600" eaLnBrk="0" fontAlgn="base" hangingPunct="0">
              <a:spcBef>
                <a:spcPct val="0"/>
              </a:spcBef>
              <a:spcAft>
                <a:spcPct val="0"/>
              </a:spcAf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900" b="1">
                <a:latin typeface="Courier New" panose="02070609020205020404" pitchFamily="49" charset="0"/>
              </a:rPr>
              <a:t>cx1 = N - 1</a:t>
            </a:r>
          </a:p>
          <a:p>
            <a:pPr eaLnBrk="1" hangingPunct="1">
              <a:lnSpc>
                <a:spcPct val="50000"/>
              </a:lnSpc>
              <a:spcBef>
                <a:spcPct val="50000"/>
              </a:spcBef>
            </a:pPr>
            <a:r>
              <a:rPr lang="en-US" altLang="en-US" sz="1900" b="1">
                <a:latin typeface="Courier New" panose="02070609020205020404" pitchFamily="49" charset="0"/>
              </a:rPr>
              <a:t>while( cx1 &gt; 0 )</a:t>
            </a:r>
          </a:p>
          <a:p>
            <a:pPr eaLnBrk="1" hangingPunct="1">
              <a:lnSpc>
                <a:spcPct val="50000"/>
              </a:lnSpc>
              <a:spcBef>
                <a:spcPct val="50000"/>
              </a:spcBef>
            </a:pPr>
            <a:r>
              <a:rPr lang="en-US" altLang="en-US" sz="1900" b="1">
                <a:latin typeface="Courier New" panose="02070609020205020404" pitchFamily="49" charset="0"/>
              </a:rPr>
              <a:t>{</a:t>
            </a:r>
          </a:p>
          <a:p>
            <a:pPr eaLnBrk="1" hangingPunct="1">
              <a:lnSpc>
                <a:spcPct val="50000"/>
              </a:lnSpc>
              <a:spcBef>
                <a:spcPct val="50000"/>
              </a:spcBef>
            </a:pPr>
            <a:r>
              <a:rPr lang="en-US" altLang="en-US" sz="1900" b="1">
                <a:latin typeface="Courier New" panose="02070609020205020404" pitchFamily="49" charset="0"/>
              </a:rPr>
              <a:t>  esi = addr(array)</a:t>
            </a:r>
          </a:p>
          <a:p>
            <a:pPr eaLnBrk="1" hangingPunct="1">
              <a:lnSpc>
                <a:spcPct val="50000"/>
              </a:lnSpc>
              <a:spcBef>
                <a:spcPct val="50000"/>
              </a:spcBef>
            </a:pPr>
            <a:r>
              <a:rPr lang="en-US" altLang="en-US" sz="1900" b="1">
                <a:latin typeface="Courier New" panose="02070609020205020404" pitchFamily="49" charset="0"/>
              </a:rPr>
              <a:t>  cx2 = cx1</a:t>
            </a:r>
          </a:p>
          <a:p>
            <a:pPr eaLnBrk="1" hangingPunct="1">
              <a:lnSpc>
                <a:spcPct val="50000"/>
              </a:lnSpc>
              <a:spcBef>
                <a:spcPct val="50000"/>
              </a:spcBef>
            </a:pPr>
            <a:r>
              <a:rPr lang="en-US" altLang="en-US" sz="1900" b="1">
                <a:latin typeface="Courier New" panose="02070609020205020404" pitchFamily="49" charset="0"/>
              </a:rPr>
              <a:t>  while( cx2 &gt; 0 )</a:t>
            </a:r>
          </a:p>
          <a:p>
            <a:pPr eaLnBrk="1" hangingPunct="1">
              <a:lnSpc>
                <a:spcPct val="50000"/>
              </a:lnSpc>
              <a:spcBef>
                <a:spcPct val="50000"/>
              </a:spcBef>
            </a:pPr>
            <a:r>
              <a:rPr lang="en-US" altLang="en-US" sz="1900" b="1">
                <a:latin typeface="Courier New" panose="02070609020205020404" pitchFamily="49" charset="0"/>
              </a:rPr>
              <a:t>  {</a:t>
            </a:r>
          </a:p>
          <a:p>
            <a:pPr eaLnBrk="1" hangingPunct="1">
              <a:lnSpc>
                <a:spcPct val="50000"/>
              </a:lnSpc>
              <a:spcBef>
                <a:spcPct val="50000"/>
              </a:spcBef>
            </a:pPr>
            <a:r>
              <a:rPr lang="en-US" altLang="en-US" sz="1900" b="1">
                <a:latin typeface="Courier New" panose="02070609020205020404" pitchFamily="49" charset="0"/>
              </a:rPr>
              <a:t>    if( array[esi] &lt; array[esi+4] )</a:t>
            </a:r>
          </a:p>
          <a:p>
            <a:pPr eaLnBrk="1" hangingPunct="1">
              <a:lnSpc>
                <a:spcPct val="50000"/>
              </a:lnSpc>
              <a:spcBef>
                <a:spcPct val="50000"/>
              </a:spcBef>
            </a:pPr>
            <a:r>
              <a:rPr lang="en-US" altLang="en-US" sz="1900" b="1">
                <a:latin typeface="Courier New" panose="02070609020205020404" pitchFamily="49" charset="0"/>
              </a:rPr>
              <a:t>      exchange( array[esi], array[esi+4] )</a:t>
            </a:r>
          </a:p>
          <a:p>
            <a:pPr eaLnBrk="1" hangingPunct="1">
              <a:lnSpc>
                <a:spcPct val="50000"/>
              </a:lnSpc>
              <a:spcBef>
                <a:spcPct val="50000"/>
              </a:spcBef>
            </a:pPr>
            <a:r>
              <a:rPr lang="en-US" altLang="en-US" sz="1900" b="1">
                <a:latin typeface="Courier New" panose="02070609020205020404" pitchFamily="49" charset="0"/>
              </a:rPr>
              <a:t>    add esi,4</a:t>
            </a:r>
          </a:p>
          <a:p>
            <a:pPr eaLnBrk="1" hangingPunct="1">
              <a:lnSpc>
                <a:spcPct val="50000"/>
              </a:lnSpc>
              <a:spcBef>
                <a:spcPct val="50000"/>
              </a:spcBef>
            </a:pPr>
            <a:r>
              <a:rPr lang="en-US" altLang="en-US" sz="1900" b="1">
                <a:latin typeface="Courier New" panose="02070609020205020404" pitchFamily="49" charset="0"/>
              </a:rPr>
              <a:t>    dec cx2</a:t>
            </a:r>
          </a:p>
          <a:p>
            <a:pPr eaLnBrk="1" hangingPunct="1">
              <a:lnSpc>
                <a:spcPct val="50000"/>
              </a:lnSpc>
              <a:spcBef>
                <a:spcPct val="50000"/>
              </a:spcBef>
            </a:pPr>
            <a:r>
              <a:rPr lang="en-US" altLang="en-US" sz="1900" b="1">
                <a:latin typeface="Courier New" panose="02070609020205020404" pitchFamily="49" charset="0"/>
              </a:rPr>
              <a:t>  }</a:t>
            </a:r>
          </a:p>
          <a:p>
            <a:pPr eaLnBrk="1" hangingPunct="1">
              <a:lnSpc>
                <a:spcPct val="50000"/>
              </a:lnSpc>
              <a:spcBef>
                <a:spcPct val="50000"/>
              </a:spcBef>
            </a:pPr>
            <a:r>
              <a:rPr lang="en-US" altLang="en-US" sz="1900" b="1">
                <a:latin typeface="Courier New" panose="02070609020205020404" pitchFamily="49" charset="0"/>
              </a:rPr>
              <a:t>  dec cx1</a:t>
            </a:r>
          </a:p>
          <a:p>
            <a:pPr eaLnBrk="1" hangingPunct="1">
              <a:lnSpc>
                <a:spcPct val="50000"/>
              </a:lnSpc>
              <a:spcBef>
                <a:spcPct val="50000"/>
              </a:spcBef>
            </a:pPr>
            <a:r>
              <a:rPr lang="en-US" altLang="en-US" sz="1900" b="1">
                <a:latin typeface="Courier New" panose="02070609020205020404" pitchFamily="49" charset="0"/>
              </a:rPr>
              <a:t>}</a:t>
            </a:r>
          </a:p>
        </p:txBody>
      </p:sp>
      <p:sp>
        <p:nvSpPr>
          <p:cNvPr id="2" name="Slide Number Placeholder 1"/>
          <p:cNvSpPr>
            <a:spLocks noGrp="1"/>
          </p:cNvSpPr>
          <p:nvPr>
            <p:ph type="sldNum" sz="quarter" idx="12"/>
          </p:nvPr>
        </p:nvSpPr>
        <p:spPr/>
        <p:txBody>
          <a:bodyPr/>
          <a:lstStyle/>
          <a:p>
            <a:fld id="{F51B45BB-47DD-4FFE-AFAF-9A1D2EB112A2}" type="slidenum">
              <a:rPr lang="en-US" smtClean="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eaLnBrk="1" hangingPunct="1">
              <a:defRPr/>
            </a:pPr>
            <a:r>
              <a:rPr lang="en-US" altLang="en-US"/>
              <a:t>Bubble Sort Implementation</a:t>
            </a:r>
          </a:p>
        </p:txBody>
      </p:sp>
      <p:sp>
        <p:nvSpPr>
          <p:cNvPr id="56325" name="Text Box 4"/>
          <p:cNvSpPr txBox="1">
            <a:spLocks noChangeArrowheads="1"/>
          </p:cNvSpPr>
          <p:nvPr/>
        </p:nvSpPr>
        <p:spPr bwMode="auto">
          <a:xfrm>
            <a:off x="2209800" y="1577202"/>
            <a:ext cx="7848600" cy="510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bIns="137160">
            <a:spAutoFit/>
          </a:bodyPr>
          <a:lstStyle>
            <a:lvl1pPr eaLnBrk="0" hangingPunct="0">
              <a:tabLst>
                <a:tab pos="568325" algn="l"/>
                <a:tab pos="3200400" algn="l"/>
              </a:tabLst>
              <a:defRPr sz="2100">
                <a:solidFill>
                  <a:schemeClr val="tx1"/>
                </a:solidFill>
                <a:latin typeface="Arial" panose="020B0704020202020204" pitchFamily="34" charset="0"/>
              </a:defRPr>
            </a:lvl1pPr>
            <a:lvl2pPr marL="742950" indent="-285750" eaLnBrk="0" hangingPunct="0">
              <a:tabLst>
                <a:tab pos="568325" algn="l"/>
                <a:tab pos="3200400" algn="l"/>
              </a:tabLst>
              <a:defRPr sz="2100">
                <a:solidFill>
                  <a:schemeClr val="tx1"/>
                </a:solidFill>
                <a:latin typeface="Arial" panose="020B0704020202020204" pitchFamily="34" charset="0"/>
              </a:defRPr>
            </a:lvl2pPr>
            <a:lvl3pPr marL="1143000" indent="-228600" eaLnBrk="0" hangingPunct="0">
              <a:tabLst>
                <a:tab pos="568325" algn="l"/>
                <a:tab pos="3200400" algn="l"/>
              </a:tabLst>
              <a:defRPr sz="2100">
                <a:solidFill>
                  <a:schemeClr val="tx1"/>
                </a:solidFill>
                <a:latin typeface="Arial" panose="020B0704020202020204" pitchFamily="34" charset="0"/>
              </a:defRPr>
            </a:lvl3pPr>
            <a:lvl4pPr marL="1600200" indent="-228600" eaLnBrk="0" hangingPunct="0">
              <a:tabLst>
                <a:tab pos="568325" algn="l"/>
                <a:tab pos="3200400" algn="l"/>
              </a:tabLst>
              <a:defRPr sz="2100">
                <a:solidFill>
                  <a:schemeClr val="tx1"/>
                </a:solidFill>
                <a:latin typeface="Arial" panose="020B0704020202020204" pitchFamily="34" charset="0"/>
              </a:defRPr>
            </a:lvl4pPr>
            <a:lvl5pPr marL="2057400" indent="-228600" eaLnBrk="0" hangingPunct="0">
              <a:tabLst>
                <a:tab pos="568325" algn="l"/>
                <a:tab pos="3200400" algn="l"/>
              </a:tabLst>
              <a:defRPr sz="2100">
                <a:solidFill>
                  <a:schemeClr val="tx1"/>
                </a:solidFill>
                <a:latin typeface="Arial" panose="020B0704020202020204" pitchFamily="34" charset="0"/>
              </a:defRPr>
            </a:lvl5pPr>
            <a:lvl6pPr marL="2514600" indent="-228600" eaLnBrk="0" fontAlgn="base" hangingPunct="0">
              <a:spcBef>
                <a:spcPct val="0"/>
              </a:spcBef>
              <a:spcAft>
                <a:spcPct val="0"/>
              </a:spcAft>
              <a:tabLst>
                <a:tab pos="568325" algn="l"/>
                <a:tab pos="3200400" algn="l"/>
              </a:tabLst>
              <a:defRPr sz="2100">
                <a:solidFill>
                  <a:schemeClr val="tx1"/>
                </a:solidFill>
                <a:latin typeface="Arial" panose="020B0704020202020204" pitchFamily="34" charset="0"/>
              </a:defRPr>
            </a:lvl6pPr>
            <a:lvl7pPr marL="2971800" indent="-228600" eaLnBrk="0" fontAlgn="base" hangingPunct="0">
              <a:spcBef>
                <a:spcPct val="0"/>
              </a:spcBef>
              <a:spcAft>
                <a:spcPct val="0"/>
              </a:spcAft>
              <a:tabLst>
                <a:tab pos="568325" algn="l"/>
                <a:tab pos="3200400" algn="l"/>
              </a:tabLst>
              <a:defRPr sz="2100">
                <a:solidFill>
                  <a:schemeClr val="tx1"/>
                </a:solidFill>
                <a:latin typeface="Arial" panose="020B0704020202020204" pitchFamily="34" charset="0"/>
              </a:defRPr>
            </a:lvl7pPr>
            <a:lvl8pPr marL="3429000" indent="-228600" eaLnBrk="0" fontAlgn="base" hangingPunct="0">
              <a:spcBef>
                <a:spcPct val="0"/>
              </a:spcBef>
              <a:spcAft>
                <a:spcPct val="0"/>
              </a:spcAft>
              <a:tabLst>
                <a:tab pos="568325" algn="l"/>
                <a:tab pos="3200400" algn="l"/>
              </a:tabLst>
              <a:defRPr sz="2100">
                <a:solidFill>
                  <a:schemeClr val="tx1"/>
                </a:solidFill>
                <a:latin typeface="Arial" panose="020B0704020202020204" pitchFamily="34" charset="0"/>
              </a:defRPr>
            </a:lvl8pPr>
            <a:lvl9pPr marL="3886200" indent="-228600" eaLnBrk="0" fontAlgn="base" hangingPunct="0">
              <a:spcBef>
                <a:spcPct val="0"/>
              </a:spcBef>
              <a:spcAft>
                <a:spcPct val="0"/>
              </a:spcAft>
              <a:tabLst>
                <a:tab pos="568325" algn="l"/>
                <a:tab pos="3200400" algn="l"/>
              </a:tabLst>
              <a:defRPr sz="2100">
                <a:solidFill>
                  <a:schemeClr val="tx1"/>
                </a:solidFill>
                <a:latin typeface="Arial" panose="020B0704020202020204" pitchFamily="34" charset="0"/>
              </a:defRPr>
            </a:lvl9pPr>
          </a:lstStyle>
          <a:p>
            <a:pPr eaLnBrk="1" hangingPunct="1">
              <a:lnSpc>
                <a:spcPct val="50000"/>
              </a:lnSpc>
              <a:spcBef>
                <a:spcPct val="50000"/>
              </a:spcBef>
            </a:pPr>
            <a:r>
              <a:rPr lang="en-US" altLang="en-US" sz="1900" b="1" dirty="0" err="1">
                <a:solidFill>
                  <a:schemeClr val="tx2"/>
                </a:solidFill>
                <a:latin typeface="Courier New" panose="02070609020205020404" pitchFamily="49" charset="0"/>
              </a:rPr>
              <a:t>BubbleSort</a:t>
            </a:r>
            <a:r>
              <a:rPr lang="en-US" altLang="en-US" sz="1900" b="1" dirty="0">
                <a:solidFill>
                  <a:schemeClr val="tx2"/>
                </a:solidFill>
                <a:latin typeface="Courier New" panose="02070609020205020404" pitchFamily="49" charset="0"/>
              </a:rPr>
              <a:t> PROC USES </a:t>
            </a:r>
            <a:r>
              <a:rPr lang="en-US" altLang="en-US" sz="1900" b="1" dirty="0" err="1">
                <a:solidFill>
                  <a:schemeClr val="tx2"/>
                </a:solidFill>
                <a:latin typeface="Courier New" panose="02070609020205020404" pitchFamily="49" charset="0"/>
              </a:rPr>
              <a:t>eax</a:t>
            </a:r>
            <a:r>
              <a:rPr lang="en-US" altLang="en-US" sz="1900" b="1" dirty="0">
                <a:solidFill>
                  <a:schemeClr val="tx2"/>
                </a:solidFill>
                <a:latin typeface="Courier New" panose="02070609020205020404" pitchFamily="49" charset="0"/>
              </a:rPr>
              <a:t> </a:t>
            </a:r>
            <a:r>
              <a:rPr lang="en-US" altLang="en-US" sz="1900" b="1" dirty="0" err="1">
                <a:solidFill>
                  <a:schemeClr val="tx2"/>
                </a:solidFill>
                <a:latin typeface="Courier New" panose="02070609020205020404" pitchFamily="49" charset="0"/>
              </a:rPr>
              <a:t>ecx</a:t>
            </a:r>
            <a:r>
              <a:rPr lang="en-US" altLang="en-US" sz="1900" b="1" dirty="0">
                <a:solidFill>
                  <a:schemeClr val="tx2"/>
                </a:solidFill>
                <a:latin typeface="Courier New" panose="02070609020205020404" pitchFamily="49" charset="0"/>
              </a:rPr>
              <a:t> </a:t>
            </a:r>
            <a:r>
              <a:rPr lang="en-US" altLang="en-US" sz="1900" b="1" dirty="0" err="1">
                <a:solidFill>
                  <a:schemeClr val="tx2"/>
                </a:solidFill>
                <a:latin typeface="Courier New" panose="02070609020205020404" pitchFamily="49" charset="0"/>
              </a:rPr>
              <a:t>esi</a:t>
            </a:r>
            <a:r>
              <a:rPr lang="en-US" altLang="en-US" sz="1900" b="1" dirty="0">
                <a:solidFill>
                  <a:schemeClr val="tx2"/>
                </a:solidFill>
                <a:latin typeface="Courier New" panose="02070609020205020404" pitchFamily="49" charset="0"/>
              </a:rPr>
              <a:t>,</a:t>
            </a:r>
          </a:p>
          <a:p>
            <a:pPr eaLnBrk="1" hangingPunct="1">
              <a:lnSpc>
                <a:spcPct val="50000"/>
              </a:lnSpc>
              <a:spcBef>
                <a:spcPct val="50000"/>
              </a:spcBef>
            </a:pPr>
            <a:r>
              <a:rPr lang="en-US" altLang="en-US" sz="1900" b="1" dirty="0">
                <a:solidFill>
                  <a:schemeClr val="tx2"/>
                </a:solidFill>
                <a:latin typeface="Courier New" panose="02070609020205020404" pitchFamily="49" charset="0"/>
              </a:rPr>
              <a:t>	</a:t>
            </a:r>
            <a:r>
              <a:rPr lang="en-US" altLang="en-US" sz="1900" b="1" dirty="0" err="1">
                <a:solidFill>
                  <a:schemeClr val="tx2"/>
                </a:solidFill>
                <a:latin typeface="Courier New" panose="02070609020205020404" pitchFamily="49" charset="0"/>
              </a:rPr>
              <a:t>pArray:PTR</a:t>
            </a:r>
            <a:r>
              <a:rPr lang="en-US" altLang="en-US" sz="1900" b="1" dirty="0">
                <a:solidFill>
                  <a:schemeClr val="tx2"/>
                </a:solidFill>
                <a:latin typeface="Courier New" panose="02070609020205020404" pitchFamily="49" charset="0"/>
              </a:rPr>
              <a:t> </a:t>
            </a:r>
            <a:r>
              <a:rPr lang="en-US" altLang="en-US" sz="1900" b="1" dirty="0" err="1">
                <a:solidFill>
                  <a:schemeClr val="tx2"/>
                </a:solidFill>
                <a:latin typeface="Courier New" panose="02070609020205020404" pitchFamily="49" charset="0"/>
              </a:rPr>
              <a:t>DWORD,Count:DWORD</a:t>
            </a:r>
            <a:endParaRPr lang="en-US" altLang="en-US" sz="1900" b="1" dirty="0">
              <a:solidFill>
                <a:schemeClr val="tx2"/>
              </a:solidFill>
              <a:latin typeface="Courier New" panose="02070609020205020404" pitchFamily="49" charset="0"/>
            </a:endParaRPr>
          </a:p>
          <a:p>
            <a:pPr eaLnBrk="1" hangingPunct="1">
              <a:lnSpc>
                <a:spcPct val="50000"/>
              </a:lnSpc>
              <a:spcBef>
                <a:spcPct val="50000"/>
              </a:spcBef>
            </a:pPr>
            <a:r>
              <a:rPr lang="en-US" altLang="en-US" sz="1900" b="1" dirty="0">
                <a:latin typeface="Courier New" panose="02070609020205020404" pitchFamily="49" charset="0"/>
              </a:rPr>
              <a:t>	</a:t>
            </a:r>
            <a:r>
              <a:rPr lang="en-US" altLang="en-US" sz="1900" b="1" dirty="0" err="1">
                <a:latin typeface="Courier New" panose="02070609020205020404" pitchFamily="49" charset="0"/>
              </a:rPr>
              <a:t>mov</a:t>
            </a:r>
            <a:r>
              <a:rPr lang="en-US" altLang="en-US" sz="1900" b="1" dirty="0">
                <a:latin typeface="Courier New" panose="02070609020205020404" pitchFamily="49" charset="0"/>
              </a:rPr>
              <a:t>  </a:t>
            </a:r>
            <a:r>
              <a:rPr lang="en-US" altLang="en-US" sz="1900" b="1" dirty="0" err="1">
                <a:latin typeface="Courier New" panose="02070609020205020404" pitchFamily="49" charset="0"/>
              </a:rPr>
              <a:t>ecx,Count</a:t>
            </a:r>
            <a:endParaRPr lang="en-US" altLang="en-US" sz="1900" b="1" dirty="0">
              <a:latin typeface="Courier New" panose="02070609020205020404" pitchFamily="49" charset="0"/>
            </a:endParaRPr>
          </a:p>
          <a:p>
            <a:pPr eaLnBrk="1" hangingPunct="1">
              <a:lnSpc>
                <a:spcPct val="50000"/>
              </a:lnSpc>
              <a:spcBef>
                <a:spcPct val="50000"/>
              </a:spcBef>
            </a:pPr>
            <a:r>
              <a:rPr lang="en-US" altLang="en-US" sz="1900" b="1" dirty="0">
                <a:latin typeface="Courier New" panose="02070609020205020404" pitchFamily="49" charset="0"/>
              </a:rPr>
              <a:t>	</a:t>
            </a:r>
            <a:r>
              <a:rPr lang="en-US" altLang="en-US" sz="1900" b="1" dirty="0" err="1">
                <a:latin typeface="Courier New" panose="02070609020205020404" pitchFamily="49" charset="0"/>
              </a:rPr>
              <a:t>dec</a:t>
            </a:r>
            <a:r>
              <a:rPr lang="en-US" altLang="en-US" sz="1900" b="1" dirty="0">
                <a:latin typeface="Courier New" panose="02070609020205020404" pitchFamily="49" charset="0"/>
              </a:rPr>
              <a:t>  </a:t>
            </a:r>
            <a:r>
              <a:rPr lang="en-US" altLang="en-US" sz="1900" b="1" dirty="0" err="1">
                <a:latin typeface="Courier New" panose="02070609020205020404" pitchFamily="49" charset="0"/>
              </a:rPr>
              <a:t>ecx</a:t>
            </a:r>
            <a:r>
              <a:rPr lang="en-US" altLang="en-US" sz="1900" b="1" dirty="0">
                <a:latin typeface="Courier New" panose="02070609020205020404" pitchFamily="49" charset="0"/>
              </a:rPr>
              <a:t>	; decrement count by 1</a:t>
            </a:r>
          </a:p>
          <a:p>
            <a:pPr eaLnBrk="1" hangingPunct="1">
              <a:lnSpc>
                <a:spcPct val="50000"/>
              </a:lnSpc>
              <a:spcBef>
                <a:spcPct val="50000"/>
              </a:spcBef>
            </a:pPr>
            <a:r>
              <a:rPr lang="en-US" altLang="en-US" sz="1900" b="1" dirty="0">
                <a:latin typeface="Courier New" panose="02070609020205020404" pitchFamily="49" charset="0"/>
              </a:rPr>
              <a:t>L1:	push </a:t>
            </a:r>
            <a:r>
              <a:rPr lang="en-US" altLang="en-US" sz="1900" b="1" dirty="0" err="1">
                <a:latin typeface="Courier New" panose="02070609020205020404" pitchFamily="49" charset="0"/>
              </a:rPr>
              <a:t>ecx</a:t>
            </a:r>
            <a:r>
              <a:rPr lang="en-US" altLang="en-US" sz="1900" b="1" dirty="0">
                <a:latin typeface="Courier New" panose="02070609020205020404" pitchFamily="49" charset="0"/>
              </a:rPr>
              <a:t>	; save outer loop count</a:t>
            </a:r>
          </a:p>
          <a:p>
            <a:pPr eaLnBrk="1" hangingPunct="1">
              <a:lnSpc>
                <a:spcPct val="50000"/>
              </a:lnSpc>
              <a:spcBef>
                <a:spcPct val="50000"/>
              </a:spcBef>
            </a:pPr>
            <a:r>
              <a:rPr lang="en-US" altLang="en-US" sz="1900" b="1" dirty="0">
                <a:latin typeface="Courier New" panose="02070609020205020404" pitchFamily="49" charset="0"/>
              </a:rPr>
              <a:t>	lea  </a:t>
            </a:r>
            <a:r>
              <a:rPr lang="en-US" altLang="en-US" sz="1900" b="1" dirty="0" err="1">
                <a:latin typeface="Courier New" panose="02070609020205020404" pitchFamily="49" charset="0"/>
              </a:rPr>
              <a:t>esi,pArray</a:t>
            </a:r>
            <a:r>
              <a:rPr lang="en-US" altLang="en-US" sz="1900" b="1" dirty="0">
                <a:latin typeface="Courier New" panose="02070609020205020404" pitchFamily="49" charset="0"/>
              </a:rPr>
              <a:t>	; point to first value</a:t>
            </a:r>
          </a:p>
          <a:p>
            <a:pPr eaLnBrk="1" hangingPunct="1">
              <a:lnSpc>
                <a:spcPct val="50000"/>
              </a:lnSpc>
              <a:spcBef>
                <a:spcPct val="50000"/>
              </a:spcBef>
            </a:pPr>
            <a:r>
              <a:rPr lang="en-US" altLang="en-US" sz="1900" b="1" dirty="0">
                <a:latin typeface="Courier New" panose="02070609020205020404" pitchFamily="49" charset="0"/>
              </a:rPr>
              <a:t>L2:	</a:t>
            </a:r>
            <a:r>
              <a:rPr lang="en-US" altLang="en-US" sz="1900" b="1" dirty="0" err="1">
                <a:latin typeface="Courier New" panose="02070609020205020404" pitchFamily="49" charset="0"/>
              </a:rPr>
              <a:t>mov</a:t>
            </a:r>
            <a:r>
              <a:rPr lang="en-US" altLang="en-US" sz="1900" b="1" dirty="0">
                <a:latin typeface="Courier New" panose="02070609020205020404" pitchFamily="49" charset="0"/>
              </a:rPr>
              <a:t>  </a:t>
            </a:r>
            <a:r>
              <a:rPr lang="en-US" altLang="en-US" sz="1900" b="1" dirty="0" err="1">
                <a:latin typeface="Courier New" panose="02070609020205020404" pitchFamily="49" charset="0"/>
              </a:rPr>
              <a:t>eax</a:t>
            </a:r>
            <a:r>
              <a:rPr lang="en-US" altLang="en-US" sz="1900" b="1" dirty="0">
                <a:latin typeface="Courier New" panose="02070609020205020404" pitchFamily="49" charset="0"/>
              </a:rPr>
              <a:t>,[</a:t>
            </a:r>
            <a:r>
              <a:rPr lang="en-US" altLang="en-US" sz="1900" b="1" dirty="0" err="1">
                <a:latin typeface="Courier New" panose="02070609020205020404" pitchFamily="49" charset="0"/>
              </a:rPr>
              <a:t>esi</a:t>
            </a:r>
            <a:r>
              <a:rPr lang="en-US" altLang="en-US" sz="1900" b="1" dirty="0">
                <a:latin typeface="Courier New" panose="02070609020205020404" pitchFamily="49" charset="0"/>
              </a:rPr>
              <a:t>]	; get array value</a:t>
            </a:r>
          </a:p>
          <a:p>
            <a:pPr eaLnBrk="1" hangingPunct="1">
              <a:lnSpc>
                <a:spcPct val="50000"/>
              </a:lnSpc>
              <a:spcBef>
                <a:spcPct val="50000"/>
              </a:spcBef>
            </a:pPr>
            <a:r>
              <a:rPr lang="en-US" altLang="en-US" sz="1900" b="1" dirty="0">
                <a:latin typeface="Courier New" panose="02070609020205020404" pitchFamily="49" charset="0"/>
              </a:rPr>
              <a:t>	</a:t>
            </a:r>
            <a:r>
              <a:rPr lang="en-US" altLang="en-US" sz="1900" b="1" dirty="0" err="1">
                <a:latin typeface="Courier New" panose="02070609020205020404" pitchFamily="49" charset="0"/>
              </a:rPr>
              <a:t>cmp</a:t>
            </a:r>
            <a:r>
              <a:rPr lang="en-US" altLang="en-US" sz="1900" b="1" dirty="0">
                <a:latin typeface="Courier New" panose="02070609020205020404" pitchFamily="49" charset="0"/>
              </a:rPr>
              <a:t>  [esi+4],</a:t>
            </a:r>
            <a:r>
              <a:rPr lang="en-US" altLang="en-US" sz="1900" b="1" dirty="0" err="1">
                <a:latin typeface="Courier New" panose="02070609020205020404" pitchFamily="49" charset="0"/>
              </a:rPr>
              <a:t>eax</a:t>
            </a:r>
            <a:r>
              <a:rPr lang="en-US" altLang="en-US" sz="1900" b="1" dirty="0">
                <a:latin typeface="Courier New" panose="02070609020205020404" pitchFamily="49" charset="0"/>
              </a:rPr>
              <a:t>	; compare a pair of values</a:t>
            </a:r>
          </a:p>
          <a:p>
            <a:pPr eaLnBrk="1" hangingPunct="1">
              <a:lnSpc>
                <a:spcPct val="50000"/>
              </a:lnSpc>
              <a:spcBef>
                <a:spcPct val="50000"/>
              </a:spcBef>
            </a:pPr>
            <a:r>
              <a:rPr lang="en-US" altLang="en-US" sz="1900" b="1" dirty="0">
                <a:latin typeface="Courier New" panose="02070609020205020404" pitchFamily="49" charset="0"/>
              </a:rPr>
              <a:t>	</a:t>
            </a:r>
            <a:r>
              <a:rPr lang="en-US" altLang="en-US" sz="1900" b="1" dirty="0" err="1">
                <a:latin typeface="Courier New" panose="02070609020205020404" pitchFamily="49" charset="0"/>
              </a:rPr>
              <a:t>jge</a:t>
            </a:r>
            <a:r>
              <a:rPr lang="en-US" altLang="en-US" sz="1900" b="1" dirty="0">
                <a:latin typeface="Courier New" panose="02070609020205020404" pitchFamily="49" charset="0"/>
              </a:rPr>
              <a:t>  L3	; if [</a:t>
            </a:r>
            <a:r>
              <a:rPr lang="en-US" altLang="en-US" sz="1900" b="1" dirty="0" err="1">
                <a:latin typeface="Courier New" panose="02070609020205020404" pitchFamily="49" charset="0"/>
              </a:rPr>
              <a:t>esi</a:t>
            </a:r>
            <a:r>
              <a:rPr lang="en-US" altLang="en-US" sz="1900" b="1" dirty="0">
                <a:latin typeface="Courier New" panose="02070609020205020404" pitchFamily="49" charset="0"/>
              </a:rPr>
              <a:t>] &lt;= [</a:t>
            </a:r>
            <a:r>
              <a:rPr lang="en-US" altLang="en-US" sz="1900" b="1" dirty="0" err="1">
                <a:latin typeface="Courier New" panose="02070609020205020404" pitchFamily="49" charset="0"/>
              </a:rPr>
              <a:t>edi</a:t>
            </a:r>
            <a:r>
              <a:rPr lang="en-US" altLang="en-US" sz="1900" b="1" dirty="0">
                <a:latin typeface="Courier New" panose="02070609020205020404" pitchFamily="49" charset="0"/>
              </a:rPr>
              <a:t>], skip</a:t>
            </a:r>
          </a:p>
          <a:p>
            <a:pPr eaLnBrk="1" hangingPunct="1">
              <a:lnSpc>
                <a:spcPct val="50000"/>
              </a:lnSpc>
              <a:spcBef>
                <a:spcPct val="50000"/>
              </a:spcBef>
            </a:pPr>
            <a:r>
              <a:rPr lang="en-US" altLang="en-US" sz="1900" b="1" dirty="0">
                <a:latin typeface="Courier New" panose="02070609020205020404" pitchFamily="49" charset="0"/>
              </a:rPr>
              <a:t>	</a:t>
            </a:r>
            <a:r>
              <a:rPr lang="en-US" altLang="en-US" sz="1900" b="1" dirty="0" err="1">
                <a:latin typeface="Courier New" panose="02070609020205020404" pitchFamily="49" charset="0"/>
              </a:rPr>
              <a:t>xchg</a:t>
            </a:r>
            <a:r>
              <a:rPr lang="en-US" altLang="en-US" sz="1900" b="1" dirty="0">
                <a:latin typeface="Courier New" panose="02070609020205020404" pitchFamily="49" charset="0"/>
              </a:rPr>
              <a:t> </a:t>
            </a:r>
            <a:r>
              <a:rPr lang="en-US" altLang="en-US" sz="1900" b="1" dirty="0" err="1">
                <a:latin typeface="Courier New" panose="02070609020205020404" pitchFamily="49" charset="0"/>
              </a:rPr>
              <a:t>eax</a:t>
            </a:r>
            <a:r>
              <a:rPr lang="en-US" altLang="en-US" sz="1900" b="1" dirty="0">
                <a:latin typeface="Courier New" panose="02070609020205020404" pitchFamily="49" charset="0"/>
              </a:rPr>
              <a:t>,[esi+4]	; else exchange the pair</a:t>
            </a:r>
          </a:p>
          <a:p>
            <a:pPr eaLnBrk="1" hangingPunct="1">
              <a:lnSpc>
                <a:spcPct val="50000"/>
              </a:lnSpc>
              <a:spcBef>
                <a:spcPct val="50000"/>
              </a:spcBef>
            </a:pPr>
            <a:r>
              <a:rPr lang="en-US" altLang="en-US" sz="1900" b="1" dirty="0">
                <a:latin typeface="Courier New" panose="02070609020205020404" pitchFamily="49" charset="0"/>
              </a:rPr>
              <a:t>	</a:t>
            </a:r>
            <a:r>
              <a:rPr lang="en-US" altLang="en-US" sz="1900" b="1" dirty="0" err="1">
                <a:latin typeface="Courier New" panose="02070609020205020404" pitchFamily="49" charset="0"/>
              </a:rPr>
              <a:t>mov</a:t>
            </a:r>
            <a:r>
              <a:rPr lang="en-US" altLang="en-US" sz="1900" b="1" dirty="0">
                <a:latin typeface="Courier New" panose="02070609020205020404" pitchFamily="49" charset="0"/>
              </a:rPr>
              <a:t>  [</a:t>
            </a:r>
            <a:r>
              <a:rPr lang="en-US" altLang="en-US" sz="1900" b="1" dirty="0" err="1">
                <a:latin typeface="Courier New" panose="02070609020205020404" pitchFamily="49" charset="0"/>
              </a:rPr>
              <a:t>esi</a:t>
            </a:r>
            <a:r>
              <a:rPr lang="en-US" altLang="en-US" sz="1900" b="1" dirty="0">
                <a:latin typeface="Courier New" panose="02070609020205020404" pitchFamily="49" charset="0"/>
              </a:rPr>
              <a:t>],</a:t>
            </a:r>
            <a:r>
              <a:rPr lang="en-US" altLang="en-US" sz="1900" b="1" dirty="0" err="1">
                <a:latin typeface="Courier New" panose="02070609020205020404" pitchFamily="49" charset="0"/>
              </a:rPr>
              <a:t>eax</a:t>
            </a:r>
            <a:endParaRPr lang="en-US" altLang="en-US" sz="1900" b="1" dirty="0">
              <a:latin typeface="Courier New" panose="02070609020205020404" pitchFamily="49" charset="0"/>
            </a:endParaRPr>
          </a:p>
          <a:p>
            <a:pPr eaLnBrk="1" hangingPunct="1">
              <a:lnSpc>
                <a:spcPct val="50000"/>
              </a:lnSpc>
              <a:spcBef>
                <a:spcPct val="50000"/>
              </a:spcBef>
            </a:pPr>
            <a:r>
              <a:rPr lang="en-US" altLang="en-US" sz="1900" b="1" dirty="0">
                <a:latin typeface="Courier New" panose="02070609020205020404" pitchFamily="49" charset="0"/>
              </a:rPr>
              <a:t>L3:	add  esi,4	; move both pointers forward</a:t>
            </a:r>
          </a:p>
          <a:p>
            <a:pPr eaLnBrk="1" hangingPunct="1">
              <a:lnSpc>
                <a:spcPct val="50000"/>
              </a:lnSpc>
              <a:spcBef>
                <a:spcPct val="50000"/>
              </a:spcBef>
            </a:pPr>
            <a:r>
              <a:rPr lang="en-US" altLang="en-US" sz="1900" b="1" dirty="0">
                <a:latin typeface="Courier New" panose="02070609020205020404" pitchFamily="49" charset="0"/>
              </a:rPr>
              <a:t>	loop L2	; inner loop</a:t>
            </a:r>
          </a:p>
          <a:p>
            <a:pPr eaLnBrk="1" hangingPunct="1">
              <a:lnSpc>
                <a:spcPct val="50000"/>
              </a:lnSpc>
              <a:spcBef>
                <a:spcPct val="50000"/>
              </a:spcBef>
            </a:pPr>
            <a:r>
              <a:rPr lang="en-US" altLang="en-US" sz="1900" b="1" dirty="0">
                <a:latin typeface="Courier New" panose="02070609020205020404" pitchFamily="49" charset="0"/>
              </a:rPr>
              <a:t>	pop  </a:t>
            </a:r>
            <a:r>
              <a:rPr lang="en-US" altLang="en-US" sz="1900" b="1" dirty="0" err="1">
                <a:latin typeface="Courier New" panose="02070609020205020404" pitchFamily="49" charset="0"/>
              </a:rPr>
              <a:t>ecx</a:t>
            </a:r>
            <a:r>
              <a:rPr lang="en-US" altLang="en-US" sz="1900" b="1" dirty="0">
                <a:latin typeface="Courier New" panose="02070609020205020404" pitchFamily="49" charset="0"/>
              </a:rPr>
              <a:t>	; retrieve outer loop count</a:t>
            </a:r>
          </a:p>
          <a:p>
            <a:pPr eaLnBrk="1" hangingPunct="1">
              <a:lnSpc>
                <a:spcPct val="50000"/>
              </a:lnSpc>
              <a:spcBef>
                <a:spcPct val="50000"/>
              </a:spcBef>
            </a:pPr>
            <a:r>
              <a:rPr lang="en-US" altLang="en-US" sz="1900" b="1" dirty="0">
                <a:latin typeface="Courier New" panose="02070609020205020404" pitchFamily="49" charset="0"/>
              </a:rPr>
              <a:t>	loop L1	; else repeat outer loop</a:t>
            </a:r>
          </a:p>
          <a:p>
            <a:pPr eaLnBrk="1" hangingPunct="1">
              <a:lnSpc>
                <a:spcPct val="50000"/>
              </a:lnSpc>
              <a:spcBef>
                <a:spcPct val="50000"/>
              </a:spcBef>
            </a:pPr>
            <a:r>
              <a:rPr lang="en-US" altLang="en-US" sz="1900" b="1" dirty="0">
                <a:latin typeface="Courier New" panose="02070609020205020404" pitchFamily="49" charset="0"/>
              </a:rPr>
              <a:t>L4:	ret</a:t>
            </a:r>
          </a:p>
          <a:p>
            <a:pPr eaLnBrk="1" hangingPunct="1">
              <a:lnSpc>
                <a:spcPct val="50000"/>
              </a:lnSpc>
              <a:spcBef>
                <a:spcPct val="50000"/>
              </a:spcBef>
            </a:pPr>
            <a:r>
              <a:rPr lang="en-US" altLang="en-US" sz="1900" b="1" dirty="0" err="1">
                <a:latin typeface="Courier New" panose="02070609020205020404" pitchFamily="49" charset="0"/>
              </a:rPr>
              <a:t>BubbleSort</a:t>
            </a:r>
            <a:r>
              <a:rPr lang="en-US" altLang="en-US" sz="1900" b="1" dirty="0">
                <a:latin typeface="Courier New" panose="02070609020205020404" pitchFamily="49" charset="0"/>
              </a:rPr>
              <a:t> ENDP</a:t>
            </a:r>
          </a:p>
        </p:txBody>
      </p:sp>
      <p:sp>
        <p:nvSpPr>
          <p:cNvPr id="2" name="Slide Number Placeholder 1"/>
          <p:cNvSpPr>
            <a:spLocks noGrp="1"/>
          </p:cNvSpPr>
          <p:nvPr>
            <p:ph type="sldNum" sz="quarter" idx="12"/>
          </p:nvPr>
        </p:nvSpPr>
        <p:spPr/>
        <p:txBody>
          <a:bodyPr/>
          <a:lstStyle/>
          <a:p>
            <a:fld id="{F51B45BB-47DD-4FFE-AFAF-9A1D2EB112A2}" type="slidenum">
              <a:rPr lang="en-US" smtClean="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51B45BB-47DD-4FFE-AFAF-9A1D2EB112A2}" type="slidenum">
              <a:rPr lang="en-US" smtClean="0"/>
              <a:t>82</a:t>
            </a:fld>
            <a:endParaRPr lang="en-US"/>
          </a:p>
        </p:txBody>
      </p:sp>
      <p:sp>
        <p:nvSpPr>
          <p:cNvPr id="4" name="Title 3"/>
          <p:cNvSpPr>
            <a:spLocks noGrp="1"/>
          </p:cNvSpPr>
          <p:nvPr>
            <p:ph type="title"/>
          </p:nvPr>
        </p:nvSpPr>
        <p:spPr>
          <a:xfrm>
            <a:off x="889958" y="2688506"/>
            <a:ext cx="10515600" cy="1325563"/>
          </a:xfrm>
        </p:spPr>
        <p:txBody>
          <a:bodyPr/>
          <a:lstStyle/>
          <a:p>
            <a:pPr algn="ctr"/>
            <a:r>
              <a:rPr lang="en-US" dirty="0"/>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4868</Words>
  <Application>Microsoft Office PowerPoint</Application>
  <PresentationFormat>Widescreen</PresentationFormat>
  <Paragraphs>818</Paragraphs>
  <Slides>82</Slides>
  <Notes>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82</vt:i4>
      </vt:variant>
    </vt:vector>
  </HeadingPairs>
  <TitlesOfParts>
    <vt:vector size="90" baseType="lpstr">
      <vt:lpstr>Courier</vt:lpstr>
      <vt:lpstr>Arial</vt:lpstr>
      <vt:lpstr>Calibri</vt:lpstr>
      <vt:lpstr>Calibri Light</vt:lpstr>
      <vt:lpstr>Courier New</vt:lpstr>
      <vt:lpstr>Symbol</vt:lpstr>
      <vt:lpstr>Office Theme</vt:lpstr>
      <vt:lpstr>VISIO</vt:lpstr>
      <vt:lpstr>PowerPoint Presentation</vt:lpstr>
      <vt:lpstr>Translating Languages</vt:lpstr>
      <vt:lpstr>General-Purpose Registers</vt:lpstr>
      <vt:lpstr>Accessing Parts of Registers</vt:lpstr>
      <vt:lpstr>Index and Base Registers</vt:lpstr>
      <vt:lpstr>Some Specialized Register Uses (1 of 2)</vt:lpstr>
      <vt:lpstr>Some Specialized Register Uses (2 of 2)</vt:lpstr>
      <vt:lpstr>Instructions</vt:lpstr>
      <vt:lpstr>Labels</vt:lpstr>
      <vt:lpstr>Mnemonics and Operands</vt:lpstr>
      <vt:lpstr>Comments</vt:lpstr>
      <vt:lpstr>Instruction Format Examples</vt:lpstr>
      <vt:lpstr>MOV Instruction</vt:lpstr>
      <vt:lpstr>Your turn . . .</vt:lpstr>
      <vt:lpstr>Zero Extension</vt:lpstr>
      <vt:lpstr>Sign Extension</vt:lpstr>
      <vt:lpstr>XCHG Instruction</vt:lpstr>
      <vt:lpstr>INC and DEC Instructions</vt:lpstr>
      <vt:lpstr>INC and DEC Examples</vt:lpstr>
      <vt:lpstr>Your turn...</vt:lpstr>
      <vt:lpstr>ADD and SUB Instructions</vt:lpstr>
      <vt:lpstr>ADD and SUB Examples</vt:lpstr>
      <vt:lpstr>NEG (negate) Instruction</vt:lpstr>
      <vt:lpstr>NEG Instruction and the Flags</vt:lpstr>
      <vt:lpstr>Implementing Arithmetic Expressions</vt:lpstr>
      <vt:lpstr>Flags Affected by Arithmetic</vt:lpstr>
      <vt:lpstr>Concept Map</vt:lpstr>
      <vt:lpstr>Zero Flag (ZF)</vt:lpstr>
      <vt:lpstr>Sign Flag (SF)</vt:lpstr>
      <vt:lpstr>OFFSET Operator</vt:lpstr>
      <vt:lpstr>OFFSET Examples</vt:lpstr>
      <vt:lpstr>Relating to C/C++</vt:lpstr>
      <vt:lpstr>TYPE Operator</vt:lpstr>
      <vt:lpstr>LENGTHOF Operator</vt:lpstr>
      <vt:lpstr>SIZEOF Operator</vt:lpstr>
      <vt:lpstr>Spanning Multiple Lines (1 of 2)</vt:lpstr>
      <vt:lpstr>Spanning Multiple Lines (2 of 2)</vt:lpstr>
      <vt:lpstr>LABEL Directive</vt:lpstr>
      <vt:lpstr>JMP Instruction</vt:lpstr>
      <vt:lpstr>LOOP Instruction</vt:lpstr>
      <vt:lpstr>LOOP Example</vt:lpstr>
      <vt:lpstr>Nested Loop</vt:lpstr>
      <vt:lpstr>Summing an Integer Array</vt:lpstr>
      <vt:lpstr>Copying a String</vt:lpstr>
      <vt:lpstr>Stack Operations</vt:lpstr>
      <vt:lpstr>Runtime Stack</vt:lpstr>
      <vt:lpstr>Runtime Stack</vt:lpstr>
      <vt:lpstr>PUSH Operation (1 of 2)</vt:lpstr>
      <vt:lpstr>PUSH Operation (2 of 2)</vt:lpstr>
      <vt:lpstr>POP Operation</vt:lpstr>
      <vt:lpstr>PUSH and POP Instructions</vt:lpstr>
      <vt:lpstr>Using PUSH and POP</vt:lpstr>
      <vt:lpstr>Example: Nested Loop</vt:lpstr>
      <vt:lpstr>TEST Instruction</vt:lpstr>
      <vt:lpstr>CMP Instruction  (1 of 3)</vt:lpstr>
      <vt:lpstr>CMP Instruction  (2 of 3)</vt:lpstr>
      <vt:lpstr>CMP Instruction  (3 of 3)</vt:lpstr>
      <vt:lpstr>Conditional Jumps</vt:lpstr>
      <vt:lpstr>Jcond Instruction</vt:lpstr>
      <vt:lpstr>Jcond Ranges</vt:lpstr>
      <vt:lpstr>Jumps Based on Specific Flags</vt:lpstr>
      <vt:lpstr>Jumps Based on Equality</vt:lpstr>
      <vt:lpstr>Jumps Based on Unsigned Comparisons</vt:lpstr>
      <vt:lpstr>Jumps Based on Signed Comparisons</vt:lpstr>
      <vt:lpstr>Applications  (1 of 5)</vt:lpstr>
      <vt:lpstr>Applications  (2 of 5)</vt:lpstr>
      <vt:lpstr>Applications  (3 of 5)</vt:lpstr>
      <vt:lpstr>Applications  (4 of 5)</vt:lpstr>
      <vt:lpstr>Applications  (5 of 5)</vt:lpstr>
      <vt:lpstr>Conditional Loop Instructions</vt:lpstr>
      <vt:lpstr>LOOPZ and LOOPE</vt:lpstr>
      <vt:lpstr>LOOPNZ and LOOPNE</vt:lpstr>
      <vt:lpstr>LOOPNZ Example</vt:lpstr>
      <vt:lpstr>Comparing Arrays</vt:lpstr>
      <vt:lpstr>Example: Comparing Two Strings  (1 of 3)</vt:lpstr>
      <vt:lpstr>Example: Comparing Two Strings  (2 of 3)</vt:lpstr>
      <vt:lpstr>Example: Comparing Two Strings  (3 of 3)</vt:lpstr>
      <vt:lpstr>Sorting Integer Arrays</vt:lpstr>
      <vt:lpstr>Bubble Sort</vt:lpstr>
      <vt:lpstr>Bubble Sort Pseudocode</vt:lpstr>
      <vt:lpstr>Bubble Sort Implementation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Assembly Language</dc:title>
  <dc:creator>Kok Hoe WONG</dc:creator>
  <cp:lastModifiedBy>Kok Hoe WONG</cp:lastModifiedBy>
  <cp:revision>10</cp:revision>
  <dcterms:created xsi:type="dcterms:W3CDTF">2024-09-19T16:30:45Z</dcterms:created>
  <dcterms:modified xsi:type="dcterms:W3CDTF">2025-08-25T08:35:56Z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1033-3.2.0.6370</vt:lpwstr>
  </property>
</Properties>
</file>